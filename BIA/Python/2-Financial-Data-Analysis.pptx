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35"/>
  </p:notesMasterIdLst>
  <p:sldIdLst>
    <p:sldId id="256" r:id="rId2"/>
    <p:sldId id="589" r:id="rId3"/>
    <p:sldId id="566" r:id="rId4"/>
    <p:sldId id="693" r:id="rId5"/>
    <p:sldId id="692" r:id="rId6"/>
    <p:sldId id="708" r:id="rId7"/>
    <p:sldId id="707" r:id="rId8"/>
    <p:sldId id="702" r:id="rId9"/>
    <p:sldId id="686" r:id="rId10"/>
    <p:sldId id="696" r:id="rId11"/>
    <p:sldId id="698" r:id="rId12"/>
    <p:sldId id="713" r:id="rId13"/>
    <p:sldId id="714" r:id="rId14"/>
    <p:sldId id="700" r:id="rId15"/>
    <p:sldId id="701" r:id="rId16"/>
    <p:sldId id="716" r:id="rId17"/>
    <p:sldId id="722" r:id="rId18"/>
    <p:sldId id="728" r:id="rId19"/>
    <p:sldId id="718" r:id="rId20"/>
    <p:sldId id="723" r:id="rId21"/>
    <p:sldId id="736" r:id="rId22"/>
    <p:sldId id="699" r:id="rId23"/>
    <p:sldId id="724" r:id="rId24"/>
    <p:sldId id="730" r:id="rId25"/>
    <p:sldId id="717" r:id="rId26"/>
    <p:sldId id="725" r:id="rId27"/>
    <p:sldId id="719" r:id="rId28"/>
    <p:sldId id="726" r:id="rId29"/>
    <p:sldId id="721" r:id="rId30"/>
    <p:sldId id="727" r:id="rId31"/>
    <p:sldId id="734" r:id="rId32"/>
    <p:sldId id="735" r:id="rId33"/>
    <p:sldId id="303"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422"/>
    <a:srgbClr val="5B9BD5"/>
    <a:srgbClr val="333F50"/>
    <a:srgbClr val="9DC3E6"/>
    <a:srgbClr val="161A3E"/>
    <a:srgbClr val="1A161A"/>
    <a:srgbClr val="1C1A55"/>
    <a:srgbClr val="1A163E"/>
    <a:srgbClr val="1C1A56"/>
    <a:srgbClr val="1D1B5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60EBE3-BF48-95B1-4602-462F51B3D3E6}" v="1" dt="2024-08-25T02:07:49.8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23-07-2025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3</a:t>
            </a:fld>
            <a:endParaRPr lang="en-IN"/>
          </a:p>
        </p:txBody>
      </p:sp>
    </p:spTree>
    <p:extLst>
      <p:ext uri="{BB962C8B-B14F-4D97-AF65-F5344CB8AC3E}">
        <p14:creationId xmlns:p14="http://schemas.microsoft.com/office/powerpoint/2010/main" val="1366514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Question 1: for loop with strings</a:t>
            </a:r>
          </a:p>
          <a:p>
            <a:r>
              <a:rPr lang="en-US" dirty="0"/>
              <a:t>input_string = "Python is awesome!"</a:t>
            </a:r>
          </a:p>
          <a:p>
            <a:r>
              <a:rPr lang="en-US" dirty="0"/>
              <a:t>reversed_string = ""</a:t>
            </a:r>
          </a:p>
          <a:p>
            <a:endParaRPr lang="en-US" dirty="0"/>
          </a:p>
          <a:p>
            <a:r>
              <a:rPr lang="en-US" dirty="0"/>
              <a:t>for char in input_string:</a:t>
            </a:r>
          </a:p>
          <a:p>
            <a:r>
              <a:rPr lang="en-US" dirty="0"/>
              <a:t>    reversed_string = char + reversed_string</a:t>
            </a:r>
          </a:p>
          <a:p>
            <a:endParaRPr lang="en-US" dirty="0"/>
          </a:p>
          <a:p>
            <a:r>
              <a:rPr lang="en-US" dirty="0"/>
              <a:t>print("Reversed string:", reversed_string)</a:t>
            </a:r>
          </a:p>
          <a:p>
            <a:endParaRPr lang="en-US" dirty="0"/>
          </a:p>
          <a:p>
            <a:r>
              <a:rPr lang="en-US" b="1" dirty="0"/>
              <a:t># Question 2: nested for loops - pattern</a:t>
            </a:r>
          </a:p>
          <a:p>
            <a:r>
              <a:rPr lang="en-US" dirty="0"/>
              <a:t>n = 5</a:t>
            </a:r>
          </a:p>
          <a:p>
            <a:r>
              <a:rPr lang="en-US" dirty="0"/>
              <a:t>for i in range(1, n + 1):</a:t>
            </a:r>
          </a:p>
          <a:p>
            <a:r>
              <a:rPr lang="en-US" dirty="0"/>
              <a:t>    for j in range(n - i):</a:t>
            </a:r>
          </a:p>
          <a:p>
            <a:r>
              <a:rPr lang="en-US" dirty="0"/>
              <a:t>        print(" ", end="")</a:t>
            </a:r>
          </a:p>
          <a:p>
            <a:r>
              <a:rPr lang="en-US" dirty="0"/>
              <a:t>    for k in range(2 * i - 1):</a:t>
            </a:r>
          </a:p>
          <a:p>
            <a:r>
              <a:rPr lang="en-US" dirty="0"/>
              <a:t>        print("*", end="")</a:t>
            </a:r>
          </a:p>
          <a:p>
            <a:r>
              <a:rPr lang="en-US" dirty="0"/>
              <a:t>    print()</a:t>
            </a:r>
          </a:p>
          <a:p>
            <a:r>
              <a:rPr lang="en-US" dirty="0"/>
              <a:t>for i in range(n - 1, 0, -1):</a:t>
            </a:r>
          </a:p>
          <a:p>
            <a:r>
              <a:rPr lang="en-US" dirty="0"/>
              <a:t>    for j in range(n - i):</a:t>
            </a:r>
          </a:p>
          <a:p>
            <a:r>
              <a:rPr lang="en-US" dirty="0"/>
              <a:t>        print(" ", end="")</a:t>
            </a:r>
          </a:p>
          <a:p>
            <a:r>
              <a:rPr lang="en-US" dirty="0"/>
              <a:t>    for k in range(2 * i - 1):</a:t>
            </a:r>
          </a:p>
          <a:p>
            <a:r>
              <a:rPr lang="en-US" dirty="0"/>
              <a:t>        print("*", end="")</a:t>
            </a:r>
          </a:p>
          <a:p>
            <a:r>
              <a:rPr lang="en-US" dirty="0"/>
              <a:t>    print()</a:t>
            </a:r>
          </a:p>
          <a:p>
            <a:endParaRPr lang="en-US" dirty="0"/>
          </a:p>
          <a:p>
            <a:r>
              <a:rPr lang="en-US" b="1" dirty="0"/>
              <a:t># Question 3: while loop with file handling</a:t>
            </a:r>
          </a:p>
          <a:p>
            <a:r>
              <a:rPr lang="en-US" dirty="0"/>
              <a:t>search_word = "Python"</a:t>
            </a:r>
          </a:p>
          <a:p>
            <a:r>
              <a:rPr lang="en-US" dirty="0"/>
              <a:t>count = 0</a:t>
            </a:r>
          </a:p>
          <a:p>
            <a:endParaRPr lang="en-US" dirty="0"/>
          </a:p>
          <a:p>
            <a:r>
              <a:rPr lang="en-US" dirty="0"/>
              <a:t>with open("sample.txt", "r") as file:</a:t>
            </a:r>
          </a:p>
          <a:p>
            <a:r>
              <a:rPr lang="en-US" dirty="0"/>
              <a:t>    line = file.readline()</a:t>
            </a:r>
          </a:p>
          <a:p>
            <a:r>
              <a:rPr lang="en-US" dirty="0"/>
              <a:t>    while line:</a:t>
            </a:r>
          </a:p>
          <a:p>
            <a:r>
              <a:rPr lang="en-US" dirty="0"/>
              <a:t>        if search_word in line:</a:t>
            </a:r>
          </a:p>
          <a:p>
            <a:r>
              <a:rPr lang="en-US" dirty="0"/>
              <a:t>            count += 1</a:t>
            </a:r>
          </a:p>
          <a:p>
            <a:r>
              <a:rPr lang="en-US" dirty="0"/>
              <a:t>        line = file.readline()</a:t>
            </a:r>
          </a:p>
          <a:p>
            <a:endParaRPr lang="en-US" dirty="0"/>
          </a:p>
          <a:p>
            <a:r>
              <a:rPr lang="en-US" dirty="0"/>
              <a:t>print(f"Number of lines containing '{search_word}': {count}")</a:t>
            </a:r>
          </a:p>
          <a:p>
            <a:endParaRPr lang="en-US" dirty="0"/>
          </a:p>
          <a:p>
            <a:r>
              <a:rPr lang="en-US" b="1" dirty="0"/>
              <a:t># Question 4: nested while loops - matrix</a:t>
            </a:r>
          </a:p>
          <a:p>
            <a:r>
              <a:rPr lang="en-US" dirty="0"/>
              <a:t>row = 1</a:t>
            </a:r>
          </a:p>
          <a:p>
            <a:r>
              <a:rPr lang="en-US" dirty="0"/>
              <a:t>while row &lt;= 10:</a:t>
            </a:r>
          </a:p>
          <a:p>
            <a:r>
              <a:rPr lang="en-US" dirty="0"/>
              <a:t>    col = 1</a:t>
            </a:r>
          </a:p>
          <a:p>
            <a:r>
              <a:rPr lang="en-US" dirty="0"/>
              <a:t>    while col &lt;= 10:</a:t>
            </a:r>
          </a:p>
          <a:p>
            <a:r>
              <a:rPr lang="en-US" dirty="0"/>
              <a:t>        product = row * col</a:t>
            </a:r>
          </a:p>
          <a:p>
            <a:r>
              <a:rPr lang="en-US" dirty="0"/>
              <a:t>        print(f"{row} * {col} = {product}\t", end="")</a:t>
            </a:r>
          </a:p>
          <a:p>
            <a:r>
              <a:rPr lang="en-US" dirty="0"/>
              <a:t>        col += 1</a:t>
            </a:r>
          </a:p>
          <a:p>
            <a:r>
              <a:rPr lang="en-US" dirty="0"/>
              <a:t>    print()</a:t>
            </a:r>
          </a:p>
          <a:p>
            <a:r>
              <a:rPr lang="en-US" dirty="0"/>
              <a:t>    row += 1</a:t>
            </a:r>
          </a:p>
          <a:p>
            <a:endParaRPr lang="en-US" dirty="0"/>
          </a:p>
          <a:p>
            <a:r>
              <a:rPr lang="en-US" b="1" dirty="0"/>
              <a:t># Question 5: for loop with dictionary</a:t>
            </a:r>
            <a:endParaRPr lang="en-US" b="1" dirty="0">
              <a:ea typeface="Calibri"/>
              <a:cs typeface="Calibri"/>
            </a:endParaRPr>
          </a:p>
          <a:p>
            <a:r>
              <a:rPr lang="en-US" dirty="0"/>
              <a:t>student_scores = {"Alice": [85, 90, 88], "Bob": [92, 88, 94], "Charlie": [78, 85, 80]}</a:t>
            </a:r>
          </a:p>
          <a:p>
            <a:r>
              <a:rPr lang="en-US" dirty="0"/>
              <a:t>average_scores = {}</a:t>
            </a:r>
          </a:p>
          <a:p>
            <a:endParaRPr lang="en-US" dirty="0"/>
          </a:p>
          <a:p>
            <a:r>
              <a:rPr lang="en-US" dirty="0"/>
              <a:t>for student, scores in student_scores.items():</a:t>
            </a:r>
          </a:p>
          <a:p>
            <a:r>
              <a:rPr lang="en-US" dirty="0"/>
              <a:t>    average = sum(scores) / len(scores)</a:t>
            </a:r>
          </a:p>
          <a:p>
            <a:r>
              <a:rPr lang="en-US" dirty="0"/>
              <a:t>    average_scores[student] = average</a:t>
            </a:r>
          </a:p>
          <a:p>
            <a:endParaRPr lang="en-US" dirty="0"/>
          </a:p>
          <a:p>
            <a:r>
              <a:rPr lang="en-US" dirty="0"/>
              <a:t>print("Average Scores:")</a:t>
            </a:r>
          </a:p>
          <a:p>
            <a:r>
              <a:rPr lang="en-US" dirty="0"/>
              <a:t>for student, average in average_scores.items():</a:t>
            </a:r>
          </a:p>
          <a:p>
            <a:r>
              <a:rPr lang="en-US" dirty="0"/>
              <a:t>    print(f"{student}: {average:.2f}")</a:t>
            </a:r>
          </a:p>
          <a:p>
            <a:endParaRPr lang="en-US" dirty="0"/>
          </a:p>
          <a:p>
            <a:endParaRPr lang="en-US" dirty="0"/>
          </a:p>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6</a:t>
            </a:fld>
            <a:endParaRPr lang="en-IN" dirty="0"/>
          </a:p>
        </p:txBody>
      </p:sp>
    </p:spTree>
    <p:extLst>
      <p:ext uri="{BB962C8B-B14F-4D97-AF65-F5344CB8AC3E}">
        <p14:creationId xmlns:p14="http://schemas.microsoft.com/office/powerpoint/2010/main" val="9727452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8</a:t>
            </a:fld>
            <a:endParaRPr lang="en-IN" dirty="0"/>
          </a:p>
        </p:txBody>
      </p:sp>
    </p:spTree>
    <p:extLst>
      <p:ext uri="{BB962C8B-B14F-4D97-AF65-F5344CB8AC3E}">
        <p14:creationId xmlns:p14="http://schemas.microsoft.com/office/powerpoint/2010/main" val="36793080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9</a:t>
            </a:fld>
            <a:endParaRPr lang="en-IN"/>
          </a:p>
        </p:txBody>
      </p:sp>
    </p:spTree>
    <p:extLst>
      <p:ext uri="{BB962C8B-B14F-4D97-AF65-F5344CB8AC3E}">
        <p14:creationId xmlns:p14="http://schemas.microsoft.com/office/powerpoint/2010/main" val="1160920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10</a:t>
            </a:fld>
            <a:endParaRPr lang="en-IN"/>
          </a:p>
        </p:txBody>
      </p:sp>
    </p:spTree>
    <p:extLst>
      <p:ext uri="{BB962C8B-B14F-4D97-AF65-F5344CB8AC3E}">
        <p14:creationId xmlns:p14="http://schemas.microsoft.com/office/powerpoint/2010/main" val="29639950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11</a:t>
            </a:fld>
            <a:endParaRPr lang="en-IN"/>
          </a:p>
        </p:txBody>
      </p:sp>
    </p:spTree>
    <p:extLst>
      <p:ext uri="{BB962C8B-B14F-4D97-AF65-F5344CB8AC3E}">
        <p14:creationId xmlns:p14="http://schemas.microsoft.com/office/powerpoint/2010/main" val="30383939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12</a:t>
            </a:fld>
            <a:endParaRPr lang="en-IN"/>
          </a:p>
        </p:txBody>
      </p:sp>
    </p:spTree>
    <p:extLst>
      <p:ext uri="{BB962C8B-B14F-4D97-AF65-F5344CB8AC3E}">
        <p14:creationId xmlns:p14="http://schemas.microsoft.com/office/powerpoint/2010/main" val="18880961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13</a:t>
            </a:fld>
            <a:endParaRPr lang="en-IN"/>
          </a:p>
        </p:txBody>
      </p:sp>
    </p:spTree>
    <p:extLst>
      <p:ext uri="{BB962C8B-B14F-4D97-AF65-F5344CB8AC3E}">
        <p14:creationId xmlns:p14="http://schemas.microsoft.com/office/powerpoint/2010/main" val="23373600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14</a:t>
            </a:fld>
            <a:endParaRPr lang="en-IN"/>
          </a:p>
        </p:txBody>
      </p:sp>
    </p:spTree>
    <p:extLst>
      <p:ext uri="{BB962C8B-B14F-4D97-AF65-F5344CB8AC3E}">
        <p14:creationId xmlns:p14="http://schemas.microsoft.com/office/powerpoint/2010/main" val="38668500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15</a:t>
            </a:fld>
            <a:endParaRPr lang="en-IN"/>
          </a:p>
        </p:txBody>
      </p:sp>
    </p:spTree>
    <p:extLst>
      <p:ext uri="{BB962C8B-B14F-4D97-AF65-F5344CB8AC3E}">
        <p14:creationId xmlns:p14="http://schemas.microsoft.com/office/powerpoint/2010/main" val="16043016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16</a:t>
            </a:fld>
            <a:endParaRPr lang="en-IN"/>
          </a:p>
        </p:txBody>
      </p:sp>
    </p:spTree>
    <p:extLst>
      <p:ext uri="{BB962C8B-B14F-4D97-AF65-F5344CB8AC3E}">
        <p14:creationId xmlns:p14="http://schemas.microsoft.com/office/powerpoint/2010/main" val="40247560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17</a:t>
            </a:fld>
            <a:endParaRPr lang="en-IN"/>
          </a:p>
        </p:txBody>
      </p:sp>
    </p:spTree>
    <p:extLst>
      <p:ext uri="{BB962C8B-B14F-4D97-AF65-F5344CB8AC3E}">
        <p14:creationId xmlns:p14="http://schemas.microsoft.com/office/powerpoint/2010/main" val="37353084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18</a:t>
            </a:fld>
            <a:endParaRPr lang="en-IN"/>
          </a:p>
        </p:txBody>
      </p:sp>
    </p:spTree>
    <p:extLst>
      <p:ext uri="{BB962C8B-B14F-4D97-AF65-F5344CB8AC3E}">
        <p14:creationId xmlns:p14="http://schemas.microsoft.com/office/powerpoint/2010/main" val="8889874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19</a:t>
            </a:fld>
            <a:endParaRPr lang="en-IN"/>
          </a:p>
        </p:txBody>
      </p:sp>
    </p:spTree>
    <p:extLst>
      <p:ext uri="{BB962C8B-B14F-4D97-AF65-F5344CB8AC3E}">
        <p14:creationId xmlns:p14="http://schemas.microsoft.com/office/powerpoint/2010/main" val="25318362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20</a:t>
            </a:fld>
            <a:endParaRPr lang="en-IN"/>
          </a:p>
        </p:txBody>
      </p:sp>
    </p:spTree>
    <p:extLst>
      <p:ext uri="{BB962C8B-B14F-4D97-AF65-F5344CB8AC3E}">
        <p14:creationId xmlns:p14="http://schemas.microsoft.com/office/powerpoint/2010/main" val="20264672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22</a:t>
            </a:fld>
            <a:endParaRPr lang="en-IN"/>
          </a:p>
        </p:txBody>
      </p:sp>
    </p:spTree>
    <p:extLst>
      <p:ext uri="{BB962C8B-B14F-4D97-AF65-F5344CB8AC3E}">
        <p14:creationId xmlns:p14="http://schemas.microsoft.com/office/powerpoint/2010/main" val="3518113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23</a:t>
            </a:fld>
            <a:endParaRPr lang="en-IN"/>
          </a:p>
        </p:txBody>
      </p:sp>
    </p:spTree>
    <p:extLst>
      <p:ext uri="{BB962C8B-B14F-4D97-AF65-F5344CB8AC3E}">
        <p14:creationId xmlns:p14="http://schemas.microsoft.com/office/powerpoint/2010/main" val="9002996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24</a:t>
            </a:fld>
            <a:endParaRPr lang="en-IN"/>
          </a:p>
        </p:txBody>
      </p:sp>
    </p:spTree>
    <p:extLst>
      <p:ext uri="{BB962C8B-B14F-4D97-AF65-F5344CB8AC3E}">
        <p14:creationId xmlns:p14="http://schemas.microsoft.com/office/powerpoint/2010/main" val="18415141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25</a:t>
            </a:fld>
            <a:endParaRPr lang="en-IN"/>
          </a:p>
        </p:txBody>
      </p:sp>
    </p:spTree>
    <p:extLst>
      <p:ext uri="{BB962C8B-B14F-4D97-AF65-F5344CB8AC3E}">
        <p14:creationId xmlns:p14="http://schemas.microsoft.com/office/powerpoint/2010/main" val="12946506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26</a:t>
            </a:fld>
            <a:endParaRPr lang="en-IN"/>
          </a:p>
        </p:txBody>
      </p:sp>
    </p:spTree>
    <p:extLst>
      <p:ext uri="{BB962C8B-B14F-4D97-AF65-F5344CB8AC3E}">
        <p14:creationId xmlns:p14="http://schemas.microsoft.com/office/powerpoint/2010/main" val="877105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27</a:t>
            </a:fld>
            <a:endParaRPr lang="en-IN"/>
          </a:p>
        </p:txBody>
      </p:sp>
    </p:spTree>
    <p:extLst>
      <p:ext uri="{BB962C8B-B14F-4D97-AF65-F5344CB8AC3E}">
        <p14:creationId xmlns:p14="http://schemas.microsoft.com/office/powerpoint/2010/main" val="22889992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28</a:t>
            </a:fld>
            <a:endParaRPr lang="en-IN"/>
          </a:p>
        </p:txBody>
      </p:sp>
    </p:spTree>
    <p:extLst>
      <p:ext uri="{BB962C8B-B14F-4D97-AF65-F5344CB8AC3E}">
        <p14:creationId xmlns:p14="http://schemas.microsoft.com/office/powerpoint/2010/main" val="15801249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29</a:t>
            </a:fld>
            <a:endParaRPr lang="en-IN"/>
          </a:p>
        </p:txBody>
      </p:sp>
    </p:spTree>
    <p:extLst>
      <p:ext uri="{BB962C8B-B14F-4D97-AF65-F5344CB8AC3E}">
        <p14:creationId xmlns:p14="http://schemas.microsoft.com/office/powerpoint/2010/main" val="40687698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30</a:t>
            </a:fld>
            <a:endParaRPr lang="en-IN"/>
          </a:p>
        </p:txBody>
      </p:sp>
    </p:spTree>
    <p:extLst>
      <p:ext uri="{BB962C8B-B14F-4D97-AF65-F5344CB8AC3E}">
        <p14:creationId xmlns:p14="http://schemas.microsoft.com/office/powerpoint/2010/main" val="14630746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31</a:t>
            </a:fld>
            <a:endParaRPr lang="en-IN"/>
          </a:p>
        </p:txBody>
      </p:sp>
    </p:spTree>
    <p:extLst>
      <p:ext uri="{BB962C8B-B14F-4D97-AF65-F5344CB8AC3E}">
        <p14:creationId xmlns:p14="http://schemas.microsoft.com/office/powerpoint/2010/main" val="41768919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32</a:t>
            </a:fld>
            <a:endParaRPr lang="en-IN"/>
          </a:p>
        </p:txBody>
      </p:sp>
    </p:spTree>
    <p:extLst>
      <p:ext uri="{BB962C8B-B14F-4D97-AF65-F5344CB8AC3E}">
        <p14:creationId xmlns:p14="http://schemas.microsoft.com/office/powerpoint/2010/main" val="189729697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
        <p:nvSpPr>
          <p:cNvPr id="3" name="Content Placeholder 2"/>
          <p:cNvSpPr>
            <a:spLocks noGrp="1"/>
          </p:cNvSpPr>
          <p:nvPr>
            <p:ph idx="1"/>
          </p:nvPr>
        </p:nvSpPr>
        <p:spPr>
          <a:xfrm>
            <a:off x="678884" y="165983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C676A48E-2766-2ED8-C890-6F9A1FE70868}"/>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a:solidFill>
                  <a:schemeClr val="bg2">
                    <a:lumMod val="75000"/>
                  </a:schemeClr>
                </a:solidFill>
              </a:rPr>
              <a:t>CONFIDENTIAL</a:t>
            </a:r>
            <a:r>
              <a:rPr lang="en-US" sz="110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0" y="2867242"/>
            <a:ext cx="12192000" cy="1257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6000">
                <a:ea typeface="Calibri"/>
                <a:cs typeface="Calibri"/>
              </a:rPr>
              <a:t>Financial Data Analysis and Business Recommendations</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E2F6A-E89F-45D0-4C37-F8D123D863FF}"/>
              </a:ext>
            </a:extLst>
          </p:cNvPr>
          <p:cNvSpPr>
            <a:spLocks noGrp="1"/>
          </p:cNvSpPr>
          <p:nvPr>
            <p:ph type="title"/>
          </p:nvPr>
        </p:nvSpPr>
        <p:spPr/>
        <p:txBody>
          <a:bodyPr>
            <a:normAutofit/>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r>
              <a:rPr lang="en-US" sz="2800" dirty="0">
                <a:latin typeface="Calibri"/>
                <a:cs typeface="Calibri"/>
              </a:rPr>
              <a:t>Trainer Guidelines for Conducting Class</a:t>
            </a:r>
            <a:endParaRPr lang="en-US" sz="2800">
              <a:cs typeface="Calibri"/>
            </a:endParaRPr>
          </a:p>
        </p:txBody>
      </p:sp>
      <p:sp>
        <p:nvSpPr>
          <p:cNvPr id="3" name="Content Placeholder 2">
            <a:extLst>
              <a:ext uri="{FF2B5EF4-FFF2-40B4-BE49-F238E27FC236}">
                <a16:creationId xmlns:a16="http://schemas.microsoft.com/office/drawing/2014/main" id="{9CA356E4-99F9-93BD-8697-B5FE13DDA948}"/>
              </a:ext>
            </a:extLst>
          </p:cNvPr>
          <p:cNvSpPr>
            <a:spLocks noGrp="1"/>
          </p:cNvSpPr>
          <p:nvPr>
            <p:ph idx="1"/>
          </p:nvPr>
        </p:nvSpPr>
        <p:spPr/>
        <p:txBody>
          <a:bodyPr vert="horz" lIns="91440" tIns="45720" rIns="91440" bIns="45720" rtlCol="0" anchor="t">
            <a:normAutofit/>
          </a:bodyPr>
          <a:lst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a:lstStyle>
          <a:p>
            <a:pPr marL="285750" indent="-285750"/>
            <a:r>
              <a:rPr lang="en-US" sz="1800" dirty="0">
                <a:latin typeface="Calibri"/>
                <a:cs typeface="Calibri"/>
              </a:rPr>
              <a:t>Solve questions live by creating </a:t>
            </a:r>
            <a:r>
              <a:rPr lang="en-US" sz="1800" b="1" dirty="0">
                <a:latin typeface="Calibri"/>
                <a:cs typeface="Calibri"/>
              </a:rPr>
              <a:t>new blank files</a:t>
            </a:r>
            <a:r>
              <a:rPr lang="en-US" sz="1800" dirty="0">
                <a:latin typeface="Calibri"/>
                <a:cs typeface="Calibri"/>
              </a:rPr>
              <a:t> (Excel, Python, </a:t>
            </a:r>
            <a:r>
              <a:rPr lang="en-US" sz="1800" dirty="0" err="1">
                <a:latin typeface="Calibri"/>
                <a:cs typeface="Calibri"/>
              </a:rPr>
              <a:t>Jupyter</a:t>
            </a:r>
            <a:r>
              <a:rPr lang="en-US" sz="1800" dirty="0">
                <a:latin typeface="Calibri"/>
                <a:cs typeface="Calibri"/>
              </a:rPr>
              <a:t> notebook, Dashboard) during the session, rather than sharing completed solutions.</a:t>
            </a:r>
            <a:endParaRPr lang="en-US"/>
          </a:p>
          <a:p>
            <a:pPr marL="285750" indent="-285750"/>
            <a:endParaRPr lang="en-US" sz="1800" dirty="0">
              <a:latin typeface="Calibri"/>
              <a:cs typeface="Calibri"/>
            </a:endParaRPr>
          </a:p>
          <a:p>
            <a:pPr marL="285750" indent="-285750"/>
            <a:r>
              <a:rPr lang="en-US" sz="1800" dirty="0">
                <a:latin typeface="Calibri"/>
                <a:cs typeface="Calibri"/>
              </a:rPr>
              <a:t>Review teaching materials and solutions beforehand, and prepare additional examples to reinforce learning.</a:t>
            </a:r>
          </a:p>
          <a:p>
            <a:pPr marL="285750" indent="-285750"/>
            <a:endParaRPr lang="en-US" sz="1800" dirty="0">
              <a:latin typeface="Calibri"/>
              <a:cs typeface="Calibri"/>
            </a:endParaRPr>
          </a:p>
          <a:p>
            <a:pPr marL="285750" indent="-285750"/>
            <a:r>
              <a:rPr lang="en-US" sz="1800" dirty="0">
                <a:latin typeface="Calibri"/>
                <a:cs typeface="Calibri"/>
              </a:rPr>
              <a:t>Ensure online students can hear you and see the screen clearly at all times.</a:t>
            </a:r>
          </a:p>
          <a:p>
            <a:pPr marL="285750" indent="-285750"/>
            <a:endParaRPr lang="en-US" sz="1800" dirty="0">
              <a:latin typeface="Calibri"/>
              <a:cs typeface="Calibri"/>
            </a:endParaRPr>
          </a:p>
          <a:p>
            <a:pPr marL="285750" indent="-285750"/>
            <a:r>
              <a:rPr lang="en-US" sz="1800" dirty="0">
                <a:latin typeface="Calibri"/>
                <a:cs typeface="Calibri"/>
              </a:rPr>
              <a:t>Test your computer and necessary software before class begins.</a:t>
            </a:r>
          </a:p>
          <a:p>
            <a:pPr marL="285750" indent="-285750"/>
            <a:endParaRPr lang="en-US" sz="1800" dirty="0">
              <a:latin typeface="Calibri"/>
              <a:cs typeface="Calibri"/>
            </a:endParaRPr>
          </a:p>
          <a:p>
            <a:pPr marL="285750" indent="-285750"/>
            <a:r>
              <a:rPr lang="en-US" sz="1800" dirty="0">
                <a:latin typeface="Calibri"/>
                <a:cs typeface="Calibri"/>
              </a:rPr>
              <a:t>Check with online students every 15-20 minutes to see if they understand the material and have any questions.</a:t>
            </a:r>
            <a:endParaRPr lang="en-US" sz="1800">
              <a:latin typeface="Calibri"/>
              <a:cs typeface="Calibri"/>
            </a:endParaRPr>
          </a:p>
        </p:txBody>
      </p:sp>
    </p:spTree>
    <p:extLst>
      <p:ext uri="{BB962C8B-B14F-4D97-AF65-F5344CB8AC3E}">
        <p14:creationId xmlns:p14="http://schemas.microsoft.com/office/powerpoint/2010/main" val="2172329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a:xfrm>
            <a:off x="678884" y="603666"/>
            <a:ext cx="10834234" cy="612775"/>
          </a:xfrm>
        </p:spPr>
        <p:txBody>
          <a:bodyPr>
            <a:normAutofit/>
          </a:bodyPr>
          <a:lstStyle/>
          <a:p>
            <a:r>
              <a:rPr lang="en-US" dirty="0">
                <a:effectLst/>
                <a:latin typeface="Calibri"/>
                <a:ea typeface="Calibri"/>
                <a:cs typeface="Calibri"/>
              </a:rPr>
              <a:t>Overview of </a:t>
            </a:r>
            <a:r>
              <a:rPr lang="en-US" dirty="0">
                <a:latin typeface="Calibri"/>
                <a:ea typeface="Calibri"/>
                <a:cs typeface="Calibri"/>
              </a:rPr>
              <a:t>Data Visualization</a:t>
            </a:r>
            <a:endParaRPr lang="en-US" dirty="0"/>
          </a:p>
        </p:txBody>
      </p:sp>
      <p:sp>
        <p:nvSpPr>
          <p:cNvPr id="2" name="TextBox 1">
            <a:extLst>
              <a:ext uri="{FF2B5EF4-FFF2-40B4-BE49-F238E27FC236}">
                <a16:creationId xmlns:a16="http://schemas.microsoft.com/office/drawing/2014/main" id="{5F0C87D2-1F61-3AD4-C081-BD99B98D5700}"/>
              </a:ext>
            </a:extLst>
          </p:cNvPr>
          <p:cNvSpPr txBox="1"/>
          <p:nvPr/>
        </p:nvSpPr>
        <p:spPr>
          <a:xfrm>
            <a:off x="756633" y="1529366"/>
            <a:ext cx="10834352" cy="38882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ts val="400"/>
              </a:spcBef>
              <a:spcAft>
                <a:spcPts val="400"/>
              </a:spcAft>
            </a:pPr>
            <a:r>
              <a:rPr lang="en-US" sz="2200" b="1" dirty="0">
                <a:latin typeface="Calibri"/>
                <a:cs typeface="Calibri"/>
              </a:rPr>
              <a:t>Importance of Data Visualization in Financial Analytics</a:t>
            </a:r>
            <a:endParaRPr lang="en-US" sz="2200" dirty="0">
              <a:latin typeface="Calibri"/>
              <a:cs typeface="Calibri"/>
            </a:endParaRPr>
          </a:p>
          <a:p>
            <a:pPr>
              <a:spcBef>
                <a:spcPts val="400"/>
              </a:spcBef>
              <a:spcAft>
                <a:spcPts val="400"/>
              </a:spcAft>
            </a:pPr>
            <a:endParaRPr lang="en-US" sz="2200" dirty="0">
              <a:solidFill>
                <a:srgbClr val="181717"/>
              </a:solidFill>
              <a:latin typeface="Calibri"/>
              <a:cs typeface="Calibri"/>
            </a:endParaRPr>
          </a:p>
          <a:p>
            <a:pPr marL="342900" indent="-342900">
              <a:spcBef>
                <a:spcPts val="400"/>
              </a:spcBef>
              <a:spcAft>
                <a:spcPts val="400"/>
              </a:spcAft>
              <a:buFont typeface="Arial"/>
              <a:buChar char="•"/>
            </a:pPr>
            <a:r>
              <a:rPr lang="en-US" sz="2200" b="1" dirty="0">
                <a:solidFill>
                  <a:srgbClr val="181717"/>
                </a:solidFill>
                <a:latin typeface="Calibri"/>
                <a:cs typeface="Calibri"/>
              </a:rPr>
              <a:t>Complex Data Simplification:</a:t>
            </a:r>
            <a:r>
              <a:rPr lang="en-US" sz="2200" dirty="0">
                <a:solidFill>
                  <a:srgbClr val="181717"/>
                </a:solidFill>
                <a:latin typeface="Calibri"/>
                <a:cs typeface="Calibri"/>
              </a:rPr>
              <a:t> Financial data is often intricate and multilayered. Visualization simplifies complex datasets, making it easier for analysts and decision-makers to comprehend information quickly.</a:t>
            </a:r>
          </a:p>
          <a:p>
            <a:pPr marL="342900" indent="-342900">
              <a:spcBef>
                <a:spcPts val="400"/>
              </a:spcBef>
              <a:spcAft>
                <a:spcPts val="400"/>
              </a:spcAft>
              <a:buFont typeface="Arial"/>
              <a:buChar char="•"/>
            </a:pPr>
            <a:r>
              <a:rPr lang="en-US" sz="2200" b="1" dirty="0">
                <a:solidFill>
                  <a:srgbClr val="181717"/>
                </a:solidFill>
                <a:latin typeface="Calibri"/>
                <a:cs typeface="Calibri"/>
              </a:rPr>
              <a:t>Visual Pattern Recognition: </a:t>
            </a:r>
            <a:r>
              <a:rPr lang="en-US" sz="2200" dirty="0">
                <a:solidFill>
                  <a:srgbClr val="181717"/>
                </a:solidFill>
                <a:latin typeface="Calibri"/>
                <a:cs typeface="Calibri"/>
              </a:rPr>
              <a:t>Visualization tools enable the identification of trends, patterns, and outliers in financial data that may not be apparent in raw numbers. This is essential for making informed strategic decisions.</a:t>
            </a:r>
          </a:p>
          <a:p>
            <a:pPr marL="342900" indent="-342900">
              <a:spcBef>
                <a:spcPts val="400"/>
              </a:spcBef>
              <a:spcAft>
                <a:spcPts val="400"/>
              </a:spcAft>
              <a:buFont typeface="Arial"/>
              <a:buChar char="•"/>
            </a:pPr>
            <a:r>
              <a:rPr lang="en-US" sz="2200" b="1" dirty="0">
                <a:solidFill>
                  <a:srgbClr val="181717"/>
                </a:solidFill>
                <a:latin typeface="Calibri"/>
                <a:cs typeface="Calibri"/>
              </a:rPr>
              <a:t>Visual Decision Support: </a:t>
            </a:r>
            <a:r>
              <a:rPr lang="en-US" sz="2200" dirty="0">
                <a:solidFill>
                  <a:srgbClr val="181717"/>
                </a:solidFill>
                <a:latin typeface="Calibri"/>
                <a:cs typeface="Calibri"/>
              </a:rPr>
              <a:t>Visualizations enhances the decision-making process by presenting complex information in an intuitive manner.</a:t>
            </a:r>
          </a:p>
        </p:txBody>
      </p:sp>
    </p:spTree>
    <p:extLst>
      <p:ext uri="{BB962C8B-B14F-4D97-AF65-F5344CB8AC3E}">
        <p14:creationId xmlns:p14="http://schemas.microsoft.com/office/powerpoint/2010/main" val="337097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 Pandas Introduction</a:t>
            </a:r>
          </a:p>
        </p:txBody>
      </p:sp>
      <p:sp>
        <p:nvSpPr>
          <p:cNvPr id="5" name="Content Placeholder 4">
            <a:extLst>
              <a:ext uri="{FF2B5EF4-FFF2-40B4-BE49-F238E27FC236}">
                <a16:creationId xmlns:a16="http://schemas.microsoft.com/office/drawing/2014/main" id="{1663E8B9-98B1-B274-0D06-1D72AC43D29F}"/>
              </a:ext>
            </a:extLst>
          </p:cNvPr>
          <p:cNvSpPr>
            <a:spLocks noGrp="1"/>
          </p:cNvSpPr>
          <p:nvPr>
            <p:ph idx="1"/>
          </p:nvPr>
        </p:nvSpPr>
        <p:spPr>
          <a:xfrm>
            <a:off x="678884" y="1675075"/>
            <a:ext cx="6347558" cy="3955704"/>
          </a:xfrm>
        </p:spPr>
        <p:txBody>
          <a:bodyPr lIns="0" tIns="0" rIns="0" bIns="0" numCol="1">
            <a:noAutofit/>
          </a:bodyPr>
          <a:lstStyle/>
          <a:p>
            <a:pPr>
              <a:lnSpc>
                <a:spcPct val="100000"/>
              </a:lnSpc>
              <a:spcBef>
                <a:spcPts val="600"/>
              </a:spcBef>
              <a:spcAft>
                <a:spcPts val="600"/>
              </a:spcAft>
            </a:pPr>
            <a:r>
              <a:rPr lang="en-US" sz="2200" b="1" dirty="0">
                <a:solidFill>
                  <a:schemeClr val="tx1"/>
                </a:solidFill>
              </a:rPr>
              <a:t>Pandas</a:t>
            </a:r>
            <a:r>
              <a:rPr lang="en-US" sz="2200" dirty="0"/>
              <a:t> is a </a:t>
            </a:r>
            <a:r>
              <a:rPr lang="en-US" sz="2200" b="1" dirty="0">
                <a:solidFill>
                  <a:schemeClr val="tx1"/>
                </a:solidFill>
              </a:rPr>
              <a:t>Python library </a:t>
            </a:r>
            <a:r>
              <a:rPr lang="en-US" sz="2200" dirty="0"/>
              <a:t>designed for </a:t>
            </a:r>
            <a:r>
              <a:rPr lang="en-US" sz="2200" b="1" dirty="0">
                <a:solidFill>
                  <a:schemeClr val="tx1"/>
                </a:solidFill>
              </a:rPr>
              <a:t>data manipulation and analysis</a:t>
            </a:r>
            <a:r>
              <a:rPr lang="en-US" sz="2200" dirty="0"/>
              <a:t>.</a:t>
            </a:r>
          </a:p>
          <a:p>
            <a:pPr>
              <a:lnSpc>
                <a:spcPct val="100000"/>
              </a:lnSpc>
              <a:spcBef>
                <a:spcPts val="600"/>
              </a:spcBef>
              <a:spcAft>
                <a:spcPts val="600"/>
              </a:spcAft>
            </a:pPr>
            <a:r>
              <a:rPr lang="en-US" sz="2200" dirty="0"/>
              <a:t>It offers powerful </a:t>
            </a:r>
            <a:r>
              <a:rPr lang="en-US" sz="2200" b="1" dirty="0">
                <a:solidFill>
                  <a:schemeClr val="tx1"/>
                </a:solidFill>
              </a:rPr>
              <a:t>DataFrame </a:t>
            </a:r>
            <a:r>
              <a:rPr lang="en-US" sz="2200" dirty="0"/>
              <a:t>and </a:t>
            </a:r>
            <a:r>
              <a:rPr lang="en-US" sz="2200" b="1" dirty="0">
                <a:solidFill>
                  <a:schemeClr val="tx1"/>
                </a:solidFill>
              </a:rPr>
              <a:t>Series</a:t>
            </a:r>
            <a:r>
              <a:rPr lang="en-US" sz="2200" dirty="0"/>
              <a:t> data structures.</a:t>
            </a:r>
          </a:p>
          <a:p>
            <a:pPr>
              <a:lnSpc>
                <a:spcPct val="100000"/>
              </a:lnSpc>
              <a:spcBef>
                <a:spcPts val="600"/>
              </a:spcBef>
              <a:spcAft>
                <a:spcPts val="600"/>
              </a:spcAft>
            </a:pPr>
            <a:r>
              <a:rPr lang="en-US" sz="2200" dirty="0"/>
              <a:t>Pandas simplifies data tasks, from reading and cleaning data to analysis and visualization.</a:t>
            </a:r>
          </a:p>
          <a:p>
            <a:pPr>
              <a:lnSpc>
                <a:spcPct val="100000"/>
              </a:lnSpc>
              <a:spcBef>
                <a:spcPts val="600"/>
              </a:spcBef>
              <a:spcAft>
                <a:spcPts val="600"/>
              </a:spcAft>
            </a:pPr>
            <a:r>
              <a:rPr lang="en-US" sz="2200" dirty="0"/>
              <a:t>Throughout this presentation, we'll explore how Pandas revolutionizes data work</a:t>
            </a:r>
          </a:p>
        </p:txBody>
      </p:sp>
      <p:pic>
        <p:nvPicPr>
          <p:cNvPr id="2" name="Picture 1" descr="A blue text on a black background&#10;&#10;Description automatically generated">
            <a:extLst>
              <a:ext uri="{FF2B5EF4-FFF2-40B4-BE49-F238E27FC236}">
                <a16:creationId xmlns:a16="http://schemas.microsoft.com/office/drawing/2014/main" id="{2BE71D3C-1D74-057F-F31D-E177178730EA}"/>
              </a:ext>
            </a:extLst>
          </p:cNvPr>
          <p:cNvPicPr>
            <a:picLocks noChangeAspect="1"/>
          </p:cNvPicPr>
          <p:nvPr/>
        </p:nvPicPr>
        <p:blipFill rotWithShape="1">
          <a:blip r:embed="rId2"/>
          <a:srcRect t="23660" b="17780"/>
          <a:stretch/>
        </p:blipFill>
        <p:spPr>
          <a:xfrm>
            <a:off x="6574356" y="1675075"/>
            <a:ext cx="4130565" cy="1275347"/>
          </a:xfrm>
          <a:prstGeom prst="rect">
            <a:avLst/>
          </a:prstGeom>
        </p:spPr>
      </p:pic>
    </p:spTree>
    <p:extLst>
      <p:ext uri="{BB962C8B-B14F-4D97-AF65-F5344CB8AC3E}">
        <p14:creationId xmlns:p14="http://schemas.microsoft.com/office/powerpoint/2010/main" val="1826977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 Data Structure in Pandas</a:t>
            </a:r>
          </a:p>
        </p:txBody>
      </p:sp>
      <p:sp>
        <p:nvSpPr>
          <p:cNvPr id="5" name="Content Placeholder 4">
            <a:extLst>
              <a:ext uri="{FF2B5EF4-FFF2-40B4-BE49-F238E27FC236}">
                <a16:creationId xmlns:a16="http://schemas.microsoft.com/office/drawing/2014/main" id="{1663E8B9-98B1-B274-0D06-1D72AC43D29F}"/>
              </a:ext>
            </a:extLst>
          </p:cNvPr>
          <p:cNvSpPr>
            <a:spLocks noGrp="1"/>
          </p:cNvSpPr>
          <p:nvPr>
            <p:ph idx="1"/>
          </p:nvPr>
        </p:nvSpPr>
        <p:spPr>
          <a:xfrm>
            <a:off x="678884" y="1675073"/>
            <a:ext cx="6672411" cy="4039927"/>
          </a:xfrm>
        </p:spPr>
        <p:txBody>
          <a:bodyPr lIns="0" tIns="0" rIns="0" bIns="0" numCol="1">
            <a:noAutofit/>
          </a:bodyPr>
          <a:lstStyle/>
          <a:p>
            <a:pPr marL="0" indent="0">
              <a:lnSpc>
                <a:spcPct val="100000"/>
              </a:lnSpc>
              <a:spcBef>
                <a:spcPts val="600"/>
              </a:spcBef>
              <a:spcAft>
                <a:spcPts val="600"/>
              </a:spcAft>
              <a:buNone/>
            </a:pPr>
            <a:r>
              <a:rPr lang="en-US" sz="2400" b="1" dirty="0">
                <a:solidFill>
                  <a:schemeClr val="tx1"/>
                </a:solidFill>
              </a:rPr>
              <a:t>Panda Series</a:t>
            </a:r>
            <a:endParaRPr lang="en-US" sz="2200" dirty="0"/>
          </a:p>
          <a:p>
            <a:pPr>
              <a:lnSpc>
                <a:spcPct val="100000"/>
              </a:lnSpc>
              <a:spcBef>
                <a:spcPts val="600"/>
              </a:spcBef>
              <a:spcAft>
                <a:spcPts val="600"/>
              </a:spcAft>
            </a:pPr>
            <a:r>
              <a:rPr lang="en-US" sz="2200" dirty="0"/>
              <a:t>A Pandas Series is a </a:t>
            </a:r>
            <a:r>
              <a:rPr lang="en-US" sz="2200" b="1" dirty="0">
                <a:solidFill>
                  <a:schemeClr val="tx1"/>
                </a:solidFill>
              </a:rPr>
              <a:t>one-dimensional array-like data structure </a:t>
            </a:r>
            <a:r>
              <a:rPr lang="en-US" sz="2200" dirty="0"/>
              <a:t>that can hold data of various types, including integers, floats, strings, and more.</a:t>
            </a:r>
          </a:p>
          <a:p>
            <a:pPr>
              <a:lnSpc>
                <a:spcPct val="100000"/>
              </a:lnSpc>
              <a:spcBef>
                <a:spcPts val="600"/>
              </a:spcBef>
              <a:spcAft>
                <a:spcPts val="600"/>
              </a:spcAft>
            </a:pPr>
            <a:r>
              <a:rPr lang="en-US" sz="2200" dirty="0"/>
              <a:t>It's essentially a labeled array where each element has an associated index or label. This label allows for easy data access and manipulation.</a:t>
            </a:r>
          </a:p>
        </p:txBody>
      </p:sp>
      <p:pic>
        <p:nvPicPr>
          <p:cNvPr id="2" name="Picture 1" descr="A white sheet with red arrows pointing at a number&#10;&#10;Description automatically generated">
            <a:extLst>
              <a:ext uri="{FF2B5EF4-FFF2-40B4-BE49-F238E27FC236}">
                <a16:creationId xmlns:a16="http://schemas.microsoft.com/office/drawing/2014/main" id="{132785A8-4F22-AFDF-4C00-00423FA0F193}"/>
              </a:ext>
            </a:extLst>
          </p:cNvPr>
          <p:cNvPicPr>
            <a:picLocks noChangeAspect="1"/>
          </p:cNvPicPr>
          <p:nvPr/>
        </p:nvPicPr>
        <p:blipFill rotWithShape="1">
          <a:blip r:embed="rId2"/>
          <a:srcRect t="6682"/>
          <a:stretch/>
        </p:blipFill>
        <p:spPr>
          <a:xfrm>
            <a:off x="7636619" y="1720515"/>
            <a:ext cx="3876497" cy="3175229"/>
          </a:xfrm>
          <a:prstGeom prst="rect">
            <a:avLst/>
          </a:prstGeom>
        </p:spPr>
      </p:pic>
    </p:spTree>
    <p:extLst>
      <p:ext uri="{BB962C8B-B14F-4D97-AF65-F5344CB8AC3E}">
        <p14:creationId xmlns:p14="http://schemas.microsoft.com/office/powerpoint/2010/main" val="1055164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Matplotlib Library</a:t>
            </a:r>
          </a:p>
        </p:txBody>
      </p:sp>
      <p:sp>
        <p:nvSpPr>
          <p:cNvPr id="6" name="Content Placeholder 5">
            <a:extLst>
              <a:ext uri="{FF2B5EF4-FFF2-40B4-BE49-F238E27FC236}">
                <a16:creationId xmlns:a16="http://schemas.microsoft.com/office/drawing/2014/main" id="{BBB92D8C-D4E1-0582-7BA9-0969218AB5F2}"/>
              </a:ext>
            </a:extLst>
          </p:cNvPr>
          <p:cNvSpPr>
            <a:spLocks noGrp="1"/>
          </p:cNvSpPr>
          <p:nvPr>
            <p:ph idx="1"/>
          </p:nvPr>
        </p:nvSpPr>
        <p:spPr/>
        <p:txBody>
          <a:bodyPr vert="horz" lIns="0" tIns="0" rIns="0" bIns="0" numCol="2" spcCol="216000" rtlCol="0" anchor="t">
            <a:noAutofit/>
          </a:bodyPr>
          <a:lstStyle/>
          <a:p>
            <a:pPr marL="0" lvl="1" indent="0">
              <a:lnSpc>
                <a:spcPct val="100000"/>
              </a:lnSpc>
              <a:spcBef>
                <a:spcPts val="600"/>
              </a:spcBef>
              <a:spcAft>
                <a:spcPts val="600"/>
              </a:spcAft>
              <a:buNone/>
            </a:pPr>
            <a:r>
              <a:rPr lang="en-US" b="1" dirty="0">
                <a:solidFill>
                  <a:schemeClr val="tx1"/>
                </a:solidFill>
              </a:rPr>
              <a:t>Python Visualization Library: </a:t>
            </a:r>
            <a:r>
              <a:rPr lang="en-US" sz="2200" dirty="0"/>
              <a:t>Matplotlib is a Python library.</a:t>
            </a:r>
          </a:p>
          <a:p>
            <a:pPr marL="0" lvl="1" indent="0">
              <a:lnSpc>
                <a:spcPct val="100000"/>
              </a:lnSpc>
              <a:spcBef>
                <a:spcPts val="600"/>
              </a:spcBef>
              <a:spcAft>
                <a:spcPts val="600"/>
              </a:spcAft>
              <a:buNone/>
            </a:pPr>
            <a:r>
              <a:rPr lang="en-US" b="1" dirty="0">
                <a:solidFill>
                  <a:schemeClr val="tx1"/>
                </a:solidFill>
              </a:rPr>
              <a:t>Wide Usage: </a:t>
            </a:r>
            <a:r>
              <a:rPr lang="en-US" sz="2200" dirty="0"/>
              <a:t>It's used for creating 2D and 3D visualizations.</a:t>
            </a:r>
          </a:p>
          <a:p>
            <a:pPr marL="0" lvl="1" indent="0">
              <a:lnSpc>
                <a:spcPct val="100000"/>
              </a:lnSpc>
              <a:spcBef>
                <a:spcPts val="600"/>
              </a:spcBef>
              <a:spcAft>
                <a:spcPts val="600"/>
              </a:spcAft>
              <a:buNone/>
            </a:pPr>
            <a:r>
              <a:rPr lang="en-US" b="1" dirty="0">
                <a:solidFill>
                  <a:schemeClr val="tx1"/>
                </a:solidFill>
              </a:rPr>
              <a:t>Ease of Use: </a:t>
            </a:r>
            <a:r>
              <a:rPr lang="en-US" sz="2200" dirty="0"/>
              <a:t>Provides a user-friendly interface.</a:t>
            </a:r>
          </a:p>
          <a:p>
            <a:pPr marL="0" lvl="1" indent="0">
              <a:lnSpc>
                <a:spcPct val="100000"/>
              </a:lnSpc>
              <a:spcBef>
                <a:spcPts val="600"/>
              </a:spcBef>
              <a:spcAft>
                <a:spcPts val="600"/>
              </a:spcAft>
              <a:buNone/>
            </a:pPr>
            <a:r>
              <a:rPr lang="en-US" b="1" dirty="0">
                <a:solidFill>
                  <a:schemeClr val="tx1"/>
                </a:solidFill>
              </a:rPr>
              <a:t>Flexibility: </a:t>
            </a:r>
            <a:r>
              <a:rPr lang="en-US" sz="2200" dirty="0"/>
              <a:t>Offers extensive customization options.</a:t>
            </a:r>
          </a:p>
          <a:p>
            <a:pPr marL="0" lvl="1" indent="0">
              <a:lnSpc>
                <a:spcPct val="100000"/>
              </a:lnSpc>
              <a:spcBef>
                <a:spcPts val="600"/>
              </a:spcBef>
              <a:spcAft>
                <a:spcPts val="600"/>
              </a:spcAft>
              <a:buNone/>
            </a:pPr>
            <a:r>
              <a:rPr lang="en-US" b="1" dirty="0">
                <a:solidFill>
                  <a:schemeClr val="tx1"/>
                </a:solidFill>
              </a:rPr>
              <a:t>Various Plot Types: </a:t>
            </a:r>
            <a:r>
              <a:rPr lang="en-US" sz="2200" dirty="0"/>
              <a:t>Supports diverse plot types.</a:t>
            </a:r>
          </a:p>
          <a:p>
            <a:pPr marL="0" lvl="1" indent="0">
              <a:lnSpc>
                <a:spcPct val="100000"/>
              </a:lnSpc>
              <a:spcBef>
                <a:spcPts val="600"/>
              </a:spcBef>
              <a:spcAft>
                <a:spcPts val="600"/>
              </a:spcAft>
              <a:buNone/>
            </a:pPr>
            <a:r>
              <a:rPr lang="en-US" b="1" dirty="0">
                <a:solidFill>
                  <a:schemeClr val="tx1"/>
                </a:solidFill>
              </a:rPr>
              <a:t>Integration: </a:t>
            </a:r>
            <a:r>
              <a:rPr lang="en-US" sz="2200" dirty="0"/>
              <a:t>Easily integrates with other Python libraries.</a:t>
            </a:r>
          </a:p>
          <a:p>
            <a:pPr marL="0" lvl="1" indent="0">
              <a:lnSpc>
                <a:spcPct val="100000"/>
              </a:lnSpc>
              <a:spcBef>
                <a:spcPts val="600"/>
              </a:spcBef>
              <a:spcAft>
                <a:spcPts val="600"/>
              </a:spcAft>
              <a:buNone/>
            </a:pPr>
            <a:r>
              <a:rPr lang="en-US" b="1" dirty="0">
                <a:solidFill>
                  <a:schemeClr val="tx1"/>
                </a:solidFill>
              </a:rPr>
              <a:t>Community: </a:t>
            </a:r>
            <a:r>
              <a:rPr lang="en-US" sz="2200" dirty="0"/>
              <a:t>Active user community with extensive resources.</a:t>
            </a:r>
          </a:p>
          <a:p>
            <a:pPr marL="0" lvl="1" indent="0">
              <a:lnSpc>
                <a:spcPct val="100000"/>
              </a:lnSpc>
              <a:spcBef>
                <a:spcPts val="600"/>
              </a:spcBef>
              <a:spcAft>
                <a:spcPts val="600"/>
              </a:spcAft>
              <a:buNone/>
            </a:pPr>
            <a:r>
              <a:rPr lang="en-US" b="1" dirty="0">
                <a:solidFill>
                  <a:schemeClr val="tx1"/>
                </a:solidFill>
              </a:rPr>
              <a:t>Publication Quality: </a:t>
            </a:r>
            <a:r>
              <a:rPr lang="en-US" sz="2200" dirty="0"/>
              <a:t>Suitable for creating high-quality plots</a:t>
            </a:r>
          </a:p>
          <a:p>
            <a:pPr marL="0" lvl="1" indent="0">
              <a:lnSpc>
                <a:spcPct val="100000"/>
              </a:lnSpc>
              <a:spcBef>
                <a:spcPts val="600"/>
              </a:spcBef>
              <a:spcAft>
                <a:spcPts val="600"/>
              </a:spcAft>
              <a:buNone/>
            </a:pPr>
            <a:endParaRPr lang="en-US" sz="500" dirty="0"/>
          </a:p>
          <a:p>
            <a:pPr marL="0" lvl="1" indent="0">
              <a:lnSpc>
                <a:spcPct val="100000"/>
              </a:lnSpc>
              <a:spcBef>
                <a:spcPts val="600"/>
              </a:spcBef>
              <a:spcAft>
                <a:spcPts val="600"/>
              </a:spcAft>
              <a:buNone/>
            </a:pPr>
            <a:r>
              <a:rPr lang="en-US" b="1" dirty="0">
                <a:solidFill>
                  <a:schemeClr val="tx1"/>
                </a:solidFill>
              </a:rPr>
              <a:t>To import:</a:t>
            </a:r>
          </a:p>
          <a:p>
            <a:pPr marL="457200" lvl="2" indent="0">
              <a:lnSpc>
                <a:spcPct val="100000"/>
              </a:lnSpc>
              <a:spcBef>
                <a:spcPts val="600"/>
              </a:spcBef>
              <a:spcAft>
                <a:spcPts val="600"/>
              </a:spcAft>
              <a:buNone/>
            </a:pPr>
            <a:r>
              <a:rPr lang="en-US" sz="2200" b="1" dirty="0">
                <a:solidFill>
                  <a:srgbClr val="FF0000"/>
                </a:solidFill>
                <a:latin typeface="Calibri"/>
                <a:cs typeface="Calibri"/>
              </a:rPr>
              <a:t>Import matplotlib.pyplot as plt </a:t>
            </a:r>
          </a:p>
        </p:txBody>
      </p:sp>
      <p:pic>
        <p:nvPicPr>
          <p:cNvPr id="2" name="Picture 1" descr="A close-up of a logo&#10;&#10;Description automatically generated">
            <a:extLst>
              <a:ext uri="{FF2B5EF4-FFF2-40B4-BE49-F238E27FC236}">
                <a16:creationId xmlns:a16="http://schemas.microsoft.com/office/drawing/2014/main" id="{A4D3568F-DE58-2B56-C97A-A31B248EC1D1}"/>
              </a:ext>
            </a:extLst>
          </p:cNvPr>
          <p:cNvPicPr>
            <a:picLocks noChangeAspect="1"/>
          </p:cNvPicPr>
          <p:nvPr/>
        </p:nvPicPr>
        <p:blipFill rotWithShape="1">
          <a:blip r:embed="rId3"/>
          <a:srcRect l="8880" t="15356" r="6844" b="13779"/>
          <a:stretch/>
        </p:blipFill>
        <p:spPr>
          <a:xfrm>
            <a:off x="4100541" y="543090"/>
            <a:ext cx="2781300" cy="782053"/>
          </a:xfrm>
          <a:prstGeom prst="rect">
            <a:avLst/>
          </a:prstGeom>
        </p:spPr>
      </p:pic>
    </p:spTree>
    <p:extLst>
      <p:ext uri="{BB962C8B-B14F-4D97-AF65-F5344CB8AC3E}">
        <p14:creationId xmlns:p14="http://schemas.microsoft.com/office/powerpoint/2010/main" val="1179448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Creating Basic Plot</a:t>
            </a:r>
          </a:p>
        </p:txBody>
      </p:sp>
      <p:sp>
        <p:nvSpPr>
          <p:cNvPr id="2" name="Content Placeholder 1">
            <a:extLst>
              <a:ext uri="{FF2B5EF4-FFF2-40B4-BE49-F238E27FC236}">
                <a16:creationId xmlns:a16="http://schemas.microsoft.com/office/drawing/2014/main" id="{E8628247-6155-9FEE-E4EA-73ACC9D0680F}"/>
              </a:ext>
            </a:extLst>
          </p:cNvPr>
          <p:cNvSpPr>
            <a:spLocks noGrp="1"/>
          </p:cNvSpPr>
          <p:nvPr>
            <p:ph idx="1"/>
          </p:nvPr>
        </p:nvSpPr>
        <p:spPr>
          <a:xfrm>
            <a:off x="705715" y="2313651"/>
            <a:ext cx="10803435" cy="3284762"/>
          </a:xfrm>
        </p:spPr>
        <p:txBody>
          <a:bodyPr vert="horz" lIns="0" tIns="0" rIns="0" bIns="0" numCol="2" rtlCol="0" anchor="t">
            <a:normAutofit/>
          </a:bodyPr>
          <a:lstStyle/>
          <a:p>
            <a:pPr marL="0" indent="0">
              <a:buNone/>
            </a:pPr>
            <a:r>
              <a:rPr lang="en-IN" sz="2400" b="1" dirty="0">
                <a:solidFill>
                  <a:schemeClr val="tx1"/>
                </a:solidFill>
              </a:rPr>
              <a:t>Line Plot</a:t>
            </a:r>
          </a:p>
          <a:p>
            <a:pPr marL="0" indent="0">
              <a:buNone/>
            </a:pPr>
            <a:endParaRPr lang="en-IN" sz="2400" b="1" dirty="0">
              <a:solidFill>
                <a:schemeClr val="tx1"/>
              </a:solidFill>
              <a:latin typeface="Calibri"/>
              <a:cs typeface="Calibri"/>
            </a:endParaRPr>
          </a:p>
          <a:p>
            <a:pPr marL="0" indent="0">
              <a:buNone/>
            </a:pPr>
            <a:endParaRPr lang="en-IN" sz="2400" b="1" dirty="0">
              <a:solidFill>
                <a:schemeClr val="tx1"/>
              </a:solidFill>
              <a:latin typeface="Calibri"/>
              <a:cs typeface="Calibri"/>
            </a:endParaRPr>
          </a:p>
          <a:p>
            <a:pPr marL="0" indent="0">
              <a:buNone/>
            </a:pPr>
            <a:endParaRPr lang="en-IN" sz="2400" b="1" dirty="0">
              <a:solidFill>
                <a:schemeClr val="tx1"/>
              </a:solidFill>
              <a:latin typeface="Calibri"/>
              <a:cs typeface="Calibri"/>
            </a:endParaRPr>
          </a:p>
          <a:p>
            <a:pPr marL="0" indent="0">
              <a:buNone/>
            </a:pPr>
            <a:r>
              <a:rPr lang="en-IN" sz="2400" b="1" dirty="0">
                <a:solidFill>
                  <a:schemeClr val="tx1"/>
                </a:solidFill>
                <a:latin typeface="Calibri"/>
                <a:cs typeface="Calibri"/>
              </a:rPr>
              <a:t>Scatter Plot</a:t>
            </a:r>
          </a:p>
          <a:p>
            <a:pPr marL="0" indent="0">
              <a:buNone/>
            </a:pPr>
            <a:endParaRPr lang="en-IN" sz="2400" b="1" dirty="0">
              <a:solidFill>
                <a:schemeClr val="tx1"/>
              </a:solidFill>
              <a:latin typeface="Calibri"/>
              <a:cs typeface="Calibri"/>
            </a:endParaRPr>
          </a:p>
          <a:p>
            <a:pPr marL="0" indent="0">
              <a:buNone/>
            </a:pPr>
            <a:endParaRPr lang="en-IN" sz="2400" b="1" dirty="0">
              <a:solidFill>
                <a:schemeClr val="tx1"/>
              </a:solidFill>
              <a:latin typeface="Calibri"/>
              <a:cs typeface="Calibri"/>
            </a:endParaRPr>
          </a:p>
          <a:p>
            <a:pPr marL="0" indent="0">
              <a:buNone/>
            </a:pPr>
            <a:r>
              <a:rPr lang="en-IN" sz="2400" b="1" dirty="0">
                <a:solidFill>
                  <a:schemeClr val="tx1"/>
                </a:solidFill>
                <a:latin typeface="Calibri"/>
                <a:cs typeface="Calibri"/>
              </a:rPr>
              <a:t>Bar Chart</a:t>
            </a:r>
            <a:endParaRPr lang="en-IN" dirty="0">
              <a:solidFill>
                <a:schemeClr val="tx1"/>
              </a:solidFill>
            </a:endParaRPr>
          </a:p>
          <a:p>
            <a:pPr marL="0" indent="0">
              <a:buNone/>
            </a:pPr>
            <a:endParaRPr lang="en-IN" sz="2200" dirty="0">
              <a:latin typeface="Calibri"/>
              <a:cs typeface="Calibri"/>
            </a:endParaRPr>
          </a:p>
        </p:txBody>
      </p:sp>
      <p:pic>
        <p:nvPicPr>
          <p:cNvPr id="9" name="Picture 8" descr="A graph with blue lines and points&#10;&#10;Description automatically generated">
            <a:extLst>
              <a:ext uri="{FF2B5EF4-FFF2-40B4-BE49-F238E27FC236}">
                <a16:creationId xmlns:a16="http://schemas.microsoft.com/office/drawing/2014/main" id="{CA1CA66C-F8ED-D3C9-2EF7-2737BA89E7BB}"/>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619266" y="1436765"/>
            <a:ext cx="2354882" cy="1758522"/>
          </a:xfrm>
          <a:prstGeom prst="rect">
            <a:avLst/>
          </a:prstGeom>
        </p:spPr>
      </p:pic>
      <p:pic>
        <p:nvPicPr>
          <p:cNvPr id="3" name="Picture 2" descr="A graph with red dots&#10;&#10;Description automatically generated">
            <a:extLst>
              <a:ext uri="{FF2B5EF4-FFF2-40B4-BE49-F238E27FC236}">
                <a16:creationId xmlns:a16="http://schemas.microsoft.com/office/drawing/2014/main" id="{4C2F0DD8-67A3-E326-EA14-EC703E1B8CE2}"/>
              </a:ext>
            </a:extLst>
          </p:cNvPr>
          <p:cNvPicPr>
            <a:picLocks noChangeAspect="1"/>
          </p:cNvPicPr>
          <p:nvPr/>
        </p:nvPicPr>
        <p:blipFill>
          <a:blip r:embed="rId3"/>
          <a:stretch>
            <a:fillRect/>
          </a:stretch>
        </p:blipFill>
        <p:spPr>
          <a:xfrm>
            <a:off x="2579479" y="3476293"/>
            <a:ext cx="2434913" cy="1830947"/>
          </a:xfrm>
          <a:prstGeom prst="rect">
            <a:avLst/>
          </a:prstGeom>
        </p:spPr>
      </p:pic>
      <p:pic>
        <p:nvPicPr>
          <p:cNvPr id="5" name="Picture 4" descr="A bar chart with green bars&#10;&#10;Description automatically generated">
            <a:extLst>
              <a:ext uri="{FF2B5EF4-FFF2-40B4-BE49-F238E27FC236}">
                <a16:creationId xmlns:a16="http://schemas.microsoft.com/office/drawing/2014/main" id="{B8BD51EE-C4AD-D843-58A5-A7621705AF14}"/>
              </a:ext>
            </a:extLst>
          </p:cNvPr>
          <p:cNvPicPr>
            <a:picLocks noChangeAspect="1"/>
          </p:cNvPicPr>
          <p:nvPr/>
        </p:nvPicPr>
        <p:blipFill>
          <a:blip r:embed="rId4"/>
          <a:stretch>
            <a:fillRect/>
          </a:stretch>
        </p:blipFill>
        <p:spPr>
          <a:xfrm>
            <a:off x="8056540" y="1434251"/>
            <a:ext cx="2432498" cy="2052301"/>
          </a:xfrm>
          <a:prstGeom prst="rect">
            <a:avLst/>
          </a:prstGeom>
        </p:spPr>
      </p:pic>
    </p:spTree>
    <p:extLst>
      <p:ext uri="{BB962C8B-B14F-4D97-AF65-F5344CB8AC3E}">
        <p14:creationId xmlns:p14="http://schemas.microsoft.com/office/powerpoint/2010/main" val="33587597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Introducing Seaborn</a:t>
            </a:r>
          </a:p>
        </p:txBody>
      </p:sp>
      <p:sp>
        <p:nvSpPr>
          <p:cNvPr id="2" name="Content Placeholder 1">
            <a:extLst>
              <a:ext uri="{FF2B5EF4-FFF2-40B4-BE49-F238E27FC236}">
                <a16:creationId xmlns:a16="http://schemas.microsoft.com/office/drawing/2014/main" id="{EAFB82EB-B893-2A77-0E96-E42364D9C797}"/>
              </a:ext>
            </a:extLst>
          </p:cNvPr>
          <p:cNvSpPr>
            <a:spLocks noGrp="1"/>
          </p:cNvSpPr>
          <p:nvPr>
            <p:ph idx="1"/>
          </p:nvPr>
        </p:nvSpPr>
        <p:spPr/>
        <p:txBody>
          <a:bodyPr vert="horz" lIns="0" tIns="0" rIns="0" bIns="0" rtlCol="0" anchor="t">
            <a:noAutofit/>
          </a:bodyPr>
          <a:lstStyle/>
          <a:p>
            <a:pPr marL="342900" lvl="1" indent="-342900">
              <a:lnSpc>
                <a:spcPct val="100000"/>
              </a:lnSpc>
              <a:spcBef>
                <a:spcPts val="300"/>
              </a:spcBef>
              <a:spcAft>
                <a:spcPts val="300"/>
              </a:spcAft>
              <a:buFont typeface="Arial"/>
              <a:buChar char="•"/>
            </a:pPr>
            <a:r>
              <a:rPr lang="en-US" sz="2200" dirty="0"/>
              <a:t>Seaborn is a data visualization library.</a:t>
            </a:r>
            <a:endParaRPr lang="en-US">
              <a:cs typeface="Calibri" panose="020F0502020204030204" pitchFamily="34" charset="0"/>
            </a:endParaRPr>
          </a:p>
          <a:p>
            <a:pPr marL="342900" lvl="1" indent="-342900">
              <a:lnSpc>
                <a:spcPct val="100000"/>
              </a:lnSpc>
              <a:spcBef>
                <a:spcPts val="300"/>
              </a:spcBef>
              <a:spcAft>
                <a:spcPts val="300"/>
              </a:spcAft>
              <a:buFont typeface="Arial"/>
              <a:buChar char="•"/>
            </a:pPr>
            <a:r>
              <a:rPr lang="en-US" sz="2200" dirty="0"/>
              <a:t>Built on top of Matplotlib.</a:t>
            </a:r>
            <a:endParaRPr lang="en-US" sz="2200" dirty="0">
              <a:cs typeface="Calibri" panose="020F0502020204030204" pitchFamily="34" charset="0"/>
            </a:endParaRPr>
          </a:p>
          <a:p>
            <a:pPr marL="342900" lvl="1" indent="-342900">
              <a:lnSpc>
                <a:spcPct val="100000"/>
              </a:lnSpc>
              <a:spcBef>
                <a:spcPts val="300"/>
              </a:spcBef>
              <a:spcAft>
                <a:spcPts val="300"/>
              </a:spcAft>
              <a:buFont typeface="Arial"/>
              <a:buChar char="•"/>
            </a:pPr>
            <a:r>
              <a:rPr lang="en-US" sz="2200" dirty="0"/>
              <a:t>Designed for creating beautiful and informative statistical plots.</a:t>
            </a:r>
            <a:endParaRPr lang="en-US" sz="2200" dirty="0">
              <a:cs typeface="Calibri" panose="020F0502020204030204" pitchFamily="34" charset="0"/>
            </a:endParaRPr>
          </a:p>
          <a:p>
            <a:pPr marL="0" lvl="1" indent="0">
              <a:lnSpc>
                <a:spcPct val="100000"/>
              </a:lnSpc>
              <a:spcBef>
                <a:spcPts val="300"/>
              </a:spcBef>
              <a:spcAft>
                <a:spcPts val="300"/>
              </a:spcAft>
              <a:buNone/>
            </a:pPr>
            <a:r>
              <a:rPr lang="en-IN" b="1" dirty="0">
                <a:solidFill>
                  <a:srgbClr val="FF0000"/>
                </a:solidFill>
                <a:latin typeface="Calibri"/>
                <a:cs typeface="Calibri"/>
              </a:rPr>
              <a:t>import seaborn as </a:t>
            </a:r>
            <a:r>
              <a:rPr lang="en-IN" b="1" dirty="0" err="1">
                <a:solidFill>
                  <a:srgbClr val="FF0000"/>
                </a:solidFill>
                <a:latin typeface="Calibri"/>
                <a:cs typeface="Calibri"/>
              </a:rPr>
              <a:t>sns</a:t>
            </a:r>
            <a:endParaRPr lang="en-US" b="1" dirty="0">
              <a:solidFill>
                <a:srgbClr val="FF0000"/>
              </a:solidFill>
              <a:latin typeface="Calibri"/>
              <a:cs typeface="Calibri"/>
            </a:endParaRPr>
          </a:p>
          <a:p>
            <a:pPr marL="342900" lvl="1" indent="-342900">
              <a:lnSpc>
                <a:spcPct val="100000"/>
              </a:lnSpc>
              <a:spcBef>
                <a:spcPts val="300"/>
              </a:spcBef>
              <a:spcAft>
                <a:spcPts val="300"/>
              </a:spcAft>
            </a:pPr>
            <a:endParaRPr lang="en-US" sz="2200" dirty="0">
              <a:cs typeface="Calibri"/>
            </a:endParaRPr>
          </a:p>
          <a:p>
            <a:pPr marL="0" lvl="1" indent="0">
              <a:lnSpc>
                <a:spcPct val="100000"/>
              </a:lnSpc>
              <a:spcBef>
                <a:spcPts val="300"/>
              </a:spcBef>
              <a:spcAft>
                <a:spcPts val="300"/>
              </a:spcAft>
              <a:buNone/>
            </a:pPr>
            <a:r>
              <a:rPr lang="en-US" sz="2200" dirty="0">
                <a:latin typeface="Calibri"/>
                <a:cs typeface="Calibri"/>
              </a:rPr>
              <a:t>Statistical Plot:</a:t>
            </a:r>
            <a:endParaRPr lang="en-US" sz="2200" dirty="0">
              <a:cs typeface="Calibri"/>
            </a:endParaRPr>
          </a:p>
          <a:p>
            <a:pPr marL="800100" lvl="2" indent="-342900">
              <a:lnSpc>
                <a:spcPct val="100000"/>
              </a:lnSpc>
              <a:spcBef>
                <a:spcPts val="300"/>
              </a:spcBef>
              <a:spcAft>
                <a:spcPts val="300"/>
              </a:spcAft>
              <a:buAutoNum type="arabicPeriod"/>
            </a:pPr>
            <a:r>
              <a:rPr lang="en-US" sz="2200" dirty="0">
                <a:latin typeface="Calibri"/>
                <a:cs typeface="Calibri"/>
              </a:rPr>
              <a:t>Histogram</a:t>
            </a:r>
          </a:p>
          <a:p>
            <a:pPr marL="800100" lvl="2" indent="-342900">
              <a:lnSpc>
                <a:spcPct val="100000"/>
              </a:lnSpc>
              <a:spcBef>
                <a:spcPts val="300"/>
              </a:spcBef>
              <a:spcAft>
                <a:spcPts val="300"/>
              </a:spcAft>
              <a:buAutoNum type="arabicPeriod"/>
            </a:pPr>
            <a:r>
              <a:rPr lang="en-US" sz="2200" dirty="0">
                <a:latin typeface="Calibri"/>
                <a:cs typeface="Calibri"/>
              </a:rPr>
              <a:t>Box Plot</a:t>
            </a:r>
          </a:p>
          <a:p>
            <a:pPr marL="800100" lvl="2" indent="-342900">
              <a:lnSpc>
                <a:spcPct val="100000"/>
              </a:lnSpc>
              <a:spcBef>
                <a:spcPts val="300"/>
              </a:spcBef>
              <a:spcAft>
                <a:spcPts val="300"/>
              </a:spcAft>
              <a:buAutoNum type="arabicPeriod"/>
            </a:pPr>
            <a:r>
              <a:rPr lang="en-US" sz="2200" dirty="0">
                <a:latin typeface="Calibri"/>
                <a:cs typeface="Calibri"/>
              </a:rPr>
              <a:t>Violin Plot</a:t>
            </a:r>
          </a:p>
          <a:p>
            <a:pPr marL="800100" lvl="2" indent="-342900">
              <a:lnSpc>
                <a:spcPct val="100000"/>
              </a:lnSpc>
              <a:spcBef>
                <a:spcPts val="300"/>
              </a:spcBef>
              <a:spcAft>
                <a:spcPts val="300"/>
              </a:spcAft>
              <a:buAutoNum type="arabicPeriod"/>
            </a:pPr>
            <a:r>
              <a:rPr lang="en-US" sz="2200" dirty="0">
                <a:latin typeface="Calibri"/>
                <a:cs typeface="Calibri"/>
              </a:rPr>
              <a:t>Pair Plot</a:t>
            </a:r>
          </a:p>
          <a:p>
            <a:pPr marL="800100" lvl="2" indent="-342900">
              <a:lnSpc>
                <a:spcPct val="100000"/>
              </a:lnSpc>
              <a:spcBef>
                <a:spcPts val="300"/>
              </a:spcBef>
              <a:spcAft>
                <a:spcPts val="300"/>
              </a:spcAft>
              <a:buAutoNum type="arabicPeriod"/>
            </a:pPr>
            <a:r>
              <a:rPr lang="en-US" sz="2200" dirty="0">
                <a:latin typeface="Calibri"/>
                <a:cs typeface="Calibri"/>
              </a:rPr>
              <a:t>Heatmap</a:t>
            </a:r>
          </a:p>
        </p:txBody>
      </p:sp>
      <p:pic>
        <p:nvPicPr>
          <p:cNvPr id="3" name="Picture 2" descr="A blue and black logo&#10;&#10;Description automatically generated">
            <a:extLst>
              <a:ext uri="{FF2B5EF4-FFF2-40B4-BE49-F238E27FC236}">
                <a16:creationId xmlns:a16="http://schemas.microsoft.com/office/drawing/2014/main" id="{00692B99-AE55-E3D7-9138-6FA4BAB89DFC}"/>
              </a:ext>
            </a:extLst>
          </p:cNvPr>
          <p:cNvPicPr>
            <a:picLocks noChangeAspect="1"/>
          </p:cNvPicPr>
          <p:nvPr/>
        </p:nvPicPr>
        <p:blipFill>
          <a:blip r:embed="rId3"/>
          <a:stretch>
            <a:fillRect/>
          </a:stretch>
        </p:blipFill>
        <p:spPr>
          <a:xfrm>
            <a:off x="8132530" y="477071"/>
            <a:ext cx="3064755" cy="876676"/>
          </a:xfrm>
          <a:prstGeom prst="rect">
            <a:avLst/>
          </a:prstGeom>
        </p:spPr>
      </p:pic>
    </p:spTree>
    <p:extLst>
      <p:ext uri="{BB962C8B-B14F-4D97-AF65-F5344CB8AC3E}">
        <p14:creationId xmlns:p14="http://schemas.microsoft.com/office/powerpoint/2010/main" val="2152113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a:xfrm>
            <a:off x="678884" y="603666"/>
            <a:ext cx="10834234" cy="612775"/>
          </a:xfrm>
        </p:spPr>
        <p:txBody>
          <a:bodyPr>
            <a:normAutofit/>
          </a:bodyPr>
          <a:lstStyle/>
          <a:p>
            <a:r>
              <a:rPr lang="en-US" b="0">
                <a:latin typeface="Calibri"/>
                <a:cs typeface="Calibri"/>
              </a:rPr>
              <a:t>Introduction to Working on Financial Data for Analysis</a:t>
            </a:r>
            <a:endParaRPr lang="en-US"/>
          </a:p>
        </p:txBody>
      </p:sp>
      <p:sp>
        <p:nvSpPr>
          <p:cNvPr id="3" name="Content Placeholder 2">
            <a:extLst>
              <a:ext uri="{FF2B5EF4-FFF2-40B4-BE49-F238E27FC236}">
                <a16:creationId xmlns:a16="http://schemas.microsoft.com/office/drawing/2014/main" id="{166BA39F-134A-96D4-0537-B579872499B0}"/>
              </a:ext>
            </a:extLst>
          </p:cNvPr>
          <p:cNvSpPr txBox="1">
            <a:spLocks/>
          </p:cNvSpPr>
          <p:nvPr/>
        </p:nvSpPr>
        <p:spPr>
          <a:xfrm>
            <a:off x="490452" y="1518049"/>
            <a:ext cx="10834234" cy="876039"/>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spcAft>
                <a:spcPts val="400"/>
              </a:spcAft>
              <a:buNone/>
            </a:pPr>
            <a:r>
              <a:rPr lang="en-US" sz="2200">
                <a:latin typeface="Nunito"/>
                <a:cs typeface="Segoe UI"/>
              </a:rPr>
              <a:t>Analyzing financial data involves a series of steps, from retrieving data to uncovering meaningful insights that can guide strategic choices.</a:t>
            </a:r>
            <a:endParaRPr lang="en-US">
              <a:latin typeface="Nunito"/>
            </a:endParaRPr>
          </a:p>
          <a:p>
            <a:pPr marL="0" indent="0">
              <a:lnSpc>
                <a:spcPct val="100000"/>
              </a:lnSpc>
              <a:spcBef>
                <a:spcPts val="400"/>
              </a:spcBef>
              <a:spcAft>
                <a:spcPts val="400"/>
              </a:spcAft>
              <a:buNone/>
            </a:pPr>
            <a:endParaRPr lang="en-US" sz="2200">
              <a:latin typeface="Nunito"/>
              <a:cs typeface="Segoe UI"/>
            </a:endParaRPr>
          </a:p>
          <a:p>
            <a:pPr marL="0" indent="0">
              <a:lnSpc>
                <a:spcPct val="100000"/>
              </a:lnSpc>
              <a:spcBef>
                <a:spcPts val="400"/>
              </a:spcBef>
              <a:spcAft>
                <a:spcPts val="400"/>
              </a:spcAft>
              <a:buNone/>
            </a:pPr>
            <a:r>
              <a:rPr lang="en-US" sz="2200">
                <a:latin typeface="Nunito"/>
                <a:cs typeface="Segoe UI"/>
              </a:rPr>
              <a:t>key stages in working with financial data are as </a:t>
            </a:r>
            <a:endParaRPr lang="en-US">
              <a:cs typeface="Segoe UI"/>
            </a:endParaRPr>
          </a:p>
          <a:p>
            <a:pPr marL="0" indent="0">
              <a:lnSpc>
                <a:spcPct val="100000"/>
              </a:lnSpc>
              <a:spcBef>
                <a:spcPts val="400"/>
              </a:spcBef>
              <a:spcAft>
                <a:spcPts val="400"/>
              </a:spcAft>
              <a:buNone/>
            </a:pPr>
            <a:endParaRPr lang="en-US" sz="2200">
              <a:ea typeface="Calibri" panose="020F0502020204030204"/>
              <a:cs typeface="Segoe UI"/>
            </a:endParaRPr>
          </a:p>
          <a:p>
            <a:pPr marL="0" indent="0">
              <a:lnSpc>
                <a:spcPct val="100000"/>
              </a:lnSpc>
              <a:spcBef>
                <a:spcPts val="400"/>
              </a:spcBef>
              <a:spcAft>
                <a:spcPts val="400"/>
              </a:spcAft>
              <a:buNone/>
            </a:pPr>
            <a:endParaRPr lang="en-US" sz="2200">
              <a:latin typeface="Nunito"/>
              <a:ea typeface="Calibri" panose="020F0502020204030204"/>
              <a:cs typeface="Segoe UI"/>
            </a:endParaRPr>
          </a:p>
          <a:p>
            <a:pPr marL="0" indent="0">
              <a:lnSpc>
                <a:spcPct val="100000"/>
              </a:lnSpc>
              <a:spcBef>
                <a:spcPts val="400"/>
              </a:spcBef>
              <a:spcAft>
                <a:spcPts val="400"/>
              </a:spcAft>
              <a:buNone/>
            </a:pPr>
            <a:endParaRPr lang="en-US" sz="2200">
              <a:latin typeface="Calibri"/>
              <a:cs typeface="Calibri"/>
            </a:endParaRPr>
          </a:p>
          <a:p>
            <a:pPr>
              <a:lnSpc>
                <a:spcPct val="100000"/>
              </a:lnSpc>
              <a:spcBef>
                <a:spcPts val="400"/>
              </a:spcBef>
              <a:spcAft>
                <a:spcPts val="400"/>
              </a:spcAft>
              <a:buFont typeface="Wingdings" panose="05000000000000000000" pitchFamily="2" charset="2"/>
              <a:buChar char="Ø"/>
            </a:pPr>
            <a:endParaRPr lang="en-US" sz="2200">
              <a:latin typeface="+mn-lt"/>
              <a:ea typeface="Calibri" panose="020F0502020204030204"/>
              <a:cs typeface="Calibri" panose="020F0502020204030204"/>
            </a:endParaRPr>
          </a:p>
        </p:txBody>
      </p:sp>
      <p:sp>
        <p:nvSpPr>
          <p:cNvPr id="6" name="Content Placeholder 2">
            <a:extLst>
              <a:ext uri="{FF2B5EF4-FFF2-40B4-BE49-F238E27FC236}">
                <a16:creationId xmlns:a16="http://schemas.microsoft.com/office/drawing/2014/main" id="{E34A05A6-8EBD-F106-C366-95B65E603910}"/>
              </a:ext>
            </a:extLst>
          </p:cNvPr>
          <p:cNvSpPr txBox="1">
            <a:spLocks/>
          </p:cNvSpPr>
          <p:nvPr/>
        </p:nvSpPr>
        <p:spPr>
          <a:xfrm>
            <a:off x="490452" y="3185614"/>
            <a:ext cx="10834234" cy="2534509"/>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400"/>
              </a:spcBef>
              <a:spcAft>
                <a:spcPts val="400"/>
              </a:spcAft>
              <a:buFont typeface="Wingdings" panose="05000000000000000000" pitchFamily="2" charset="2"/>
              <a:buChar char="Ø"/>
            </a:pPr>
            <a:r>
              <a:rPr lang="en-US" sz="2200">
                <a:latin typeface="Nunito"/>
              </a:rPr>
              <a:t>emphasizing data cleaning</a:t>
            </a:r>
            <a:endParaRPr lang="en-US" sz="2200"/>
          </a:p>
          <a:p>
            <a:pPr>
              <a:lnSpc>
                <a:spcPct val="100000"/>
              </a:lnSpc>
              <a:spcBef>
                <a:spcPts val="400"/>
              </a:spcBef>
              <a:spcAft>
                <a:spcPts val="400"/>
              </a:spcAft>
              <a:buFont typeface="Wingdings" panose="05000000000000000000" pitchFamily="2" charset="2"/>
              <a:buChar char="Ø"/>
            </a:pPr>
            <a:r>
              <a:rPr lang="en-US" sz="2200">
                <a:latin typeface="Nunito"/>
                <a:ea typeface="Calibri" panose="020F0502020204030204"/>
                <a:cs typeface="Calibri" panose="020F0502020204030204"/>
              </a:rPr>
              <a:t>Visualization </a:t>
            </a:r>
          </a:p>
          <a:p>
            <a:pPr>
              <a:lnSpc>
                <a:spcPct val="100000"/>
              </a:lnSpc>
              <a:spcBef>
                <a:spcPts val="400"/>
              </a:spcBef>
              <a:spcAft>
                <a:spcPts val="400"/>
              </a:spcAft>
              <a:buFont typeface="Wingdings" panose="05000000000000000000" pitchFamily="2" charset="2"/>
              <a:buChar char="Ø"/>
            </a:pPr>
            <a:r>
              <a:rPr lang="en-US" sz="2200">
                <a:latin typeface="Nunito"/>
                <a:ea typeface="Calibri" panose="020F0502020204030204"/>
                <a:cs typeface="Calibri" panose="020F0502020204030204"/>
              </a:rPr>
              <a:t>exploratory data analysis (EDA)</a:t>
            </a:r>
          </a:p>
          <a:p>
            <a:pPr>
              <a:lnSpc>
                <a:spcPct val="100000"/>
              </a:lnSpc>
              <a:spcBef>
                <a:spcPts val="400"/>
              </a:spcBef>
              <a:spcAft>
                <a:spcPts val="400"/>
              </a:spcAft>
              <a:buFont typeface="Wingdings" panose="05000000000000000000" pitchFamily="2" charset="2"/>
              <a:buChar char="Ø"/>
            </a:pPr>
            <a:r>
              <a:rPr lang="en-US" sz="2200">
                <a:latin typeface="Nunito"/>
                <a:ea typeface="Calibri" panose="020F0502020204030204"/>
                <a:cs typeface="Calibri" panose="020F0502020204030204"/>
              </a:rPr>
              <a:t>pattern recognition</a:t>
            </a:r>
          </a:p>
          <a:p>
            <a:pPr>
              <a:lnSpc>
                <a:spcPct val="100000"/>
              </a:lnSpc>
              <a:spcBef>
                <a:spcPts val="400"/>
              </a:spcBef>
              <a:spcAft>
                <a:spcPts val="400"/>
              </a:spcAft>
              <a:buFont typeface="Wingdings" panose="05000000000000000000" pitchFamily="2" charset="2"/>
              <a:buChar char="Ø"/>
            </a:pPr>
            <a:r>
              <a:rPr lang="en-US" sz="2200">
                <a:latin typeface="Nunito"/>
                <a:ea typeface="Calibri" panose="020F0502020204030204"/>
                <a:cs typeface="Calibri" panose="020F0502020204030204"/>
              </a:rPr>
              <a:t>deriving actionable business recommendations</a:t>
            </a:r>
          </a:p>
          <a:p>
            <a:pPr marL="0" indent="0">
              <a:lnSpc>
                <a:spcPct val="100000"/>
              </a:lnSpc>
              <a:spcBef>
                <a:spcPts val="400"/>
              </a:spcBef>
              <a:spcAft>
                <a:spcPts val="400"/>
              </a:spcAft>
              <a:buNone/>
            </a:pPr>
            <a:endParaRPr lang="en-US" sz="2200">
              <a:latin typeface="+mn-lt"/>
              <a:ea typeface="Calibri" panose="020F0502020204030204"/>
              <a:cs typeface="Calibri" panose="020F0502020204030204"/>
            </a:endParaRPr>
          </a:p>
          <a:p>
            <a:pPr>
              <a:lnSpc>
                <a:spcPct val="100000"/>
              </a:lnSpc>
              <a:spcBef>
                <a:spcPts val="400"/>
              </a:spcBef>
              <a:spcAft>
                <a:spcPts val="400"/>
              </a:spcAft>
              <a:buFont typeface="Wingdings" panose="05000000000000000000" pitchFamily="2" charset="2"/>
              <a:buChar char="Ø"/>
            </a:pPr>
            <a:endParaRPr lang="en-US" sz="2200">
              <a:latin typeface="+mn-lt"/>
              <a:ea typeface="Calibri" panose="020F0502020204030204"/>
              <a:cs typeface="Calibri" panose="020F0502020204030204"/>
            </a:endParaRPr>
          </a:p>
        </p:txBody>
      </p:sp>
    </p:spTree>
    <p:extLst>
      <p:ext uri="{BB962C8B-B14F-4D97-AF65-F5344CB8AC3E}">
        <p14:creationId xmlns:p14="http://schemas.microsoft.com/office/powerpoint/2010/main" val="1490935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a:xfrm>
            <a:off x="678884" y="603666"/>
            <a:ext cx="10834234" cy="612775"/>
          </a:xfrm>
        </p:spPr>
        <p:txBody>
          <a:bodyPr>
            <a:normAutofit/>
          </a:bodyPr>
          <a:lstStyle/>
          <a:p>
            <a:r>
              <a:rPr lang="en-US" b="0">
                <a:latin typeface="Calibri"/>
                <a:cs typeface="Calibri"/>
              </a:rPr>
              <a:t>Business Problem</a:t>
            </a:r>
            <a:endParaRPr lang="en-US"/>
          </a:p>
        </p:txBody>
      </p:sp>
      <p:sp>
        <p:nvSpPr>
          <p:cNvPr id="3" name="Content Placeholder 2">
            <a:extLst>
              <a:ext uri="{FF2B5EF4-FFF2-40B4-BE49-F238E27FC236}">
                <a16:creationId xmlns:a16="http://schemas.microsoft.com/office/drawing/2014/main" id="{166BA39F-134A-96D4-0537-B579872499B0}"/>
              </a:ext>
            </a:extLst>
          </p:cNvPr>
          <p:cNvSpPr txBox="1">
            <a:spLocks/>
          </p:cNvSpPr>
          <p:nvPr/>
        </p:nvSpPr>
        <p:spPr>
          <a:xfrm>
            <a:off x="490452" y="1518049"/>
            <a:ext cx="10834234" cy="4495539"/>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sz="2200" dirty="0">
                <a:latin typeface="Nunito"/>
                <a:cs typeface="Segoe UI"/>
              </a:rPr>
              <a:t>The bank is facing challenges in retaining customers, leading to increased churn rates.</a:t>
            </a:r>
            <a:endParaRPr lang="en-US" dirty="0">
              <a:cs typeface="Segoe UI"/>
            </a:endParaRPr>
          </a:p>
          <a:p>
            <a:pPr marL="0" indent="0">
              <a:buNone/>
            </a:pPr>
            <a:r>
              <a:rPr lang="en-US" sz="2200" dirty="0">
                <a:latin typeface="Nunito"/>
                <a:cs typeface="Segoe UI"/>
              </a:rPr>
              <a:t>Understanding the key drivers of churn is crucial for implementing targeted retention strategies. The bank aims to identify patterns and insights in its customer data to proactively address issues contributing to churn.</a:t>
            </a:r>
            <a:endParaRPr lang="en-US"/>
          </a:p>
          <a:p>
            <a:pPr marL="0" indent="0">
              <a:lnSpc>
                <a:spcPct val="100000"/>
              </a:lnSpc>
              <a:spcBef>
                <a:spcPts val="400"/>
              </a:spcBef>
              <a:spcAft>
                <a:spcPts val="400"/>
              </a:spcAft>
              <a:buNone/>
            </a:pPr>
            <a:endParaRPr lang="en-US" sz="2200">
              <a:ea typeface="Calibri" panose="020F0502020204030204"/>
              <a:cs typeface="Segoe UI"/>
            </a:endParaRPr>
          </a:p>
          <a:p>
            <a:pPr marL="0" indent="0">
              <a:lnSpc>
                <a:spcPct val="100000"/>
              </a:lnSpc>
              <a:spcBef>
                <a:spcPts val="400"/>
              </a:spcBef>
              <a:spcAft>
                <a:spcPts val="400"/>
              </a:spcAft>
              <a:buNone/>
            </a:pPr>
            <a:endParaRPr lang="en-US" sz="2200">
              <a:latin typeface="Nunito"/>
              <a:ea typeface="Calibri" panose="020F0502020204030204"/>
              <a:cs typeface="Segoe UI"/>
            </a:endParaRPr>
          </a:p>
          <a:p>
            <a:pPr marL="0" indent="0">
              <a:lnSpc>
                <a:spcPct val="100000"/>
              </a:lnSpc>
              <a:spcBef>
                <a:spcPts val="400"/>
              </a:spcBef>
              <a:spcAft>
                <a:spcPts val="400"/>
              </a:spcAft>
              <a:buNone/>
            </a:pPr>
            <a:endParaRPr lang="en-US" sz="2200">
              <a:latin typeface="Calibri"/>
              <a:cs typeface="Calibri"/>
            </a:endParaRPr>
          </a:p>
          <a:p>
            <a:pPr>
              <a:lnSpc>
                <a:spcPct val="100000"/>
              </a:lnSpc>
              <a:spcBef>
                <a:spcPts val="400"/>
              </a:spcBef>
              <a:spcAft>
                <a:spcPts val="400"/>
              </a:spcAft>
              <a:buFont typeface="Arial" panose="05000000000000000000" pitchFamily="2" charset="2"/>
              <a:buChar char="•"/>
            </a:pPr>
            <a:endParaRPr lang="en-US" sz="2200">
              <a:latin typeface="+mn-lt"/>
              <a:ea typeface="Calibri" panose="020F0502020204030204"/>
              <a:cs typeface="Calibri" panose="020F0502020204030204"/>
            </a:endParaRPr>
          </a:p>
        </p:txBody>
      </p:sp>
    </p:spTree>
    <p:extLst>
      <p:ext uri="{BB962C8B-B14F-4D97-AF65-F5344CB8AC3E}">
        <p14:creationId xmlns:p14="http://schemas.microsoft.com/office/powerpoint/2010/main" val="24570532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a:xfrm>
            <a:off x="678884" y="603666"/>
            <a:ext cx="10834234" cy="612775"/>
          </a:xfrm>
        </p:spPr>
        <p:txBody>
          <a:bodyPr>
            <a:normAutofit/>
          </a:bodyPr>
          <a:lstStyle/>
          <a:p>
            <a:r>
              <a:rPr lang="en-US" b="0">
                <a:latin typeface="Calibri"/>
                <a:cs typeface="Calibri"/>
              </a:rPr>
              <a:t>Objectives:</a:t>
            </a:r>
            <a:endParaRPr lang="en-US"/>
          </a:p>
        </p:txBody>
      </p:sp>
      <p:sp>
        <p:nvSpPr>
          <p:cNvPr id="3" name="Content Placeholder 2">
            <a:extLst>
              <a:ext uri="{FF2B5EF4-FFF2-40B4-BE49-F238E27FC236}">
                <a16:creationId xmlns:a16="http://schemas.microsoft.com/office/drawing/2014/main" id="{166BA39F-134A-96D4-0537-B579872499B0}"/>
              </a:ext>
            </a:extLst>
          </p:cNvPr>
          <p:cNvSpPr txBox="1">
            <a:spLocks/>
          </p:cNvSpPr>
          <p:nvPr/>
        </p:nvSpPr>
        <p:spPr>
          <a:xfrm>
            <a:off x="490452" y="1518049"/>
            <a:ext cx="10834234" cy="4495539"/>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0" b="1" dirty="0">
                <a:latin typeface="Nunito"/>
                <a:cs typeface="Segoe UI"/>
              </a:rPr>
              <a:t>Identify Churn Drivers: </a:t>
            </a:r>
            <a:r>
              <a:rPr lang="en-US" sz="2200" dirty="0">
                <a:latin typeface="Nunito"/>
                <a:cs typeface="Segoe UI"/>
              </a:rPr>
              <a:t>Determine the factors that contribute most to customer churn, such as low credit scores, account balance, or dissatisfaction with services.</a:t>
            </a:r>
            <a:endParaRPr lang="en-US" dirty="0"/>
          </a:p>
          <a:p>
            <a:pPr>
              <a:buNone/>
            </a:pPr>
            <a:r>
              <a:rPr lang="en-US" sz="2200" dirty="0">
                <a:latin typeface="Nunito"/>
              </a:rPr>
              <a:t>  </a:t>
            </a:r>
            <a:endParaRPr lang="en-US" dirty="0">
              <a:latin typeface="Nunito"/>
            </a:endParaRPr>
          </a:p>
          <a:p>
            <a:pPr marL="0" indent="0">
              <a:buNone/>
            </a:pPr>
            <a:r>
              <a:rPr lang="en-US" sz="2200" b="1" dirty="0">
                <a:latin typeface="Nunito"/>
              </a:rPr>
              <a:t>Enhance Customer Engagement:</a:t>
            </a:r>
            <a:r>
              <a:rPr lang="en-US" sz="2200" dirty="0">
                <a:latin typeface="Nunito"/>
              </a:rPr>
              <a:t> Identify patterns in customer behavior and interactions to enhance personalized engagement and communication.</a:t>
            </a:r>
            <a:endParaRPr lang="en-US" dirty="0">
              <a:latin typeface="Nunito"/>
            </a:endParaRPr>
          </a:p>
          <a:p>
            <a:pPr>
              <a:buNone/>
            </a:pPr>
            <a:endParaRPr lang="en-US"/>
          </a:p>
          <a:p>
            <a:pPr marL="0" indent="0">
              <a:buNone/>
            </a:pPr>
            <a:r>
              <a:rPr lang="en-US" sz="2200" b="1" dirty="0">
                <a:latin typeface="Nunito"/>
                <a:cs typeface="Segoe UI"/>
              </a:rPr>
              <a:t>Optimize Products and Services: </a:t>
            </a:r>
            <a:r>
              <a:rPr lang="en-US" sz="2200" dirty="0">
                <a:latin typeface="Nunito"/>
                <a:cs typeface="Segoe UI"/>
              </a:rPr>
              <a:t>Analyze the influence of the number of products, credit cards, and active memberships on churn, and optimize offerings accordingly.</a:t>
            </a:r>
            <a:endParaRPr lang="en-US" dirty="0"/>
          </a:p>
          <a:p>
            <a:pPr marL="0" indent="0">
              <a:lnSpc>
                <a:spcPct val="100000"/>
              </a:lnSpc>
              <a:spcBef>
                <a:spcPts val="400"/>
              </a:spcBef>
              <a:spcAft>
                <a:spcPts val="400"/>
              </a:spcAft>
              <a:buNone/>
            </a:pPr>
            <a:endParaRPr lang="en-US" sz="2200">
              <a:ea typeface="Calibri" panose="020F0502020204030204"/>
              <a:cs typeface="Segoe UI"/>
            </a:endParaRPr>
          </a:p>
          <a:p>
            <a:pPr marL="0" indent="0">
              <a:lnSpc>
                <a:spcPct val="100000"/>
              </a:lnSpc>
              <a:spcBef>
                <a:spcPts val="400"/>
              </a:spcBef>
              <a:spcAft>
                <a:spcPts val="400"/>
              </a:spcAft>
              <a:buNone/>
            </a:pPr>
            <a:endParaRPr lang="en-US" sz="2200">
              <a:latin typeface="Nunito"/>
              <a:ea typeface="Calibri" panose="020F0502020204030204"/>
              <a:cs typeface="Segoe UI"/>
            </a:endParaRPr>
          </a:p>
          <a:p>
            <a:pPr marL="0" indent="0">
              <a:lnSpc>
                <a:spcPct val="100000"/>
              </a:lnSpc>
              <a:spcBef>
                <a:spcPts val="400"/>
              </a:spcBef>
              <a:spcAft>
                <a:spcPts val="400"/>
              </a:spcAft>
              <a:buNone/>
            </a:pPr>
            <a:endParaRPr lang="en-US" sz="2200">
              <a:latin typeface="Calibri"/>
              <a:cs typeface="Calibri"/>
            </a:endParaRPr>
          </a:p>
          <a:p>
            <a:pPr>
              <a:lnSpc>
                <a:spcPct val="100000"/>
              </a:lnSpc>
              <a:spcBef>
                <a:spcPts val="400"/>
              </a:spcBef>
              <a:spcAft>
                <a:spcPts val="400"/>
              </a:spcAft>
              <a:buFont typeface="Arial" panose="05000000000000000000" pitchFamily="2" charset="2"/>
              <a:buChar char="•"/>
            </a:pPr>
            <a:endParaRPr lang="en-US" sz="2200">
              <a:latin typeface="+mn-lt"/>
              <a:ea typeface="Calibri" panose="020F0502020204030204"/>
              <a:cs typeface="Calibri" panose="020F0502020204030204"/>
            </a:endParaRPr>
          </a:p>
        </p:txBody>
      </p:sp>
    </p:spTree>
    <p:extLst>
      <p:ext uri="{BB962C8B-B14F-4D97-AF65-F5344CB8AC3E}">
        <p14:creationId xmlns:p14="http://schemas.microsoft.com/office/powerpoint/2010/main" val="1906031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a:xfrm>
            <a:off x="678884" y="603666"/>
            <a:ext cx="10834234" cy="612775"/>
          </a:xfrm>
        </p:spPr>
        <p:txBody>
          <a:bodyPr>
            <a:normAutofit/>
          </a:bodyPr>
          <a:lstStyle/>
          <a:p>
            <a:r>
              <a:rPr lang="en-US" b="0">
                <a:latin typeface="Calibri"/>
                <a:cs typeface="Calibri"/>
              </a:rPr>
              <a:t>Dataset features</a:t>
            </a:r>
            <a:endParaRPr lang="en-US"/>
          </a:p>
        </p:txBody>
      </p:sp>
      <p:sp>
        <p:nvSpPr>
          <p:cNvPr id="3" name="Content Placeholder 2">
            <a:extLst>
              <a:ext uri="{FF2B5EF4-FFF2-40B4-BE49-F238E27FC236}">
                <a16:creationId xmlns:a16="http://schemas.microsoft.com/office/drawing/2014/main" id="{166BA39F-134A-96D4-0537-B579872499B0}"/>
              </a:ext>
            </a:extLst>
          </p:cNvPr>
          <p:cNvSpPr txBox="1">
            <a:spLocks/>
          </p:cNvSpPr>
          <p:nvPr/>
        </p:nvSpPr>
        <p:spPr>
          <a:xfrm>
            <a:off x="490452" y="1217764"/>
            <a:ext cx="10834234" cy="4802567"/>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b="1" err="1">
                <a:latin typeface="Nunito"/>
                <a:cs typeface="Segoe UI"/>
              </a:rPr>
              <a:t>CreditScore</a:t>
            </a:r>
            <a:r>
              <a:rPr lang="en-US" sz="2200" b="1" dirty="0">
                <a:latin typeface="Nunito"/>
                <a:cs typeface="Segoe UI"/>
              </a:rPr>
              <a:t>:</a:t>
            </a:r>
            <a:r>
              <a:rPr lang="en-US" sz="2200" dirty="0">
                <a:latin typeface="Nunito"/>
                <a:cs typeface="Segoe UI"/>
              </a:rPr>
              <a:t> Numerical value representing the credit score of the customer.</a:t>
            </a:r>
            <a:endParaRPr lang="en-US"/>
          </a:p>
          <a:p>
            <a:r>
              <a:rPr lang="en-US" sz="2200" b="1" dirty="0">
                <a:latin typeface="Nunito"/>
                <a:cs typeface="Segoe UI"/>
              </a:rPr>
              <a:t>Geography:</a:t>
            </a:r>
            <a:r>
              <a:rPr lang="en-US" sz="2200" dirty="0">
                <a:latin typeface="Nunito"/>
                <a:cs typeface="Segoe UI"/>
              </a:rPr>
              <a:t> Categorical variable indicating the geographical location of the customer (e.g., France, Germany, Spain).</a:t>
            </a:r>
            <a:endParaRPr lang="en-US"/>
          </a:p>
          <a:p>
            <a:r>
              <a:rPr lang="en-US" sz="2200" b="1" dirty="0">
                <a:latin typeface="Nunito"/>
                <a:cs typeface="Segoe UI"/>
              </a:rPr>
              <a:t>Gender:</a:t>
            </a:r>
            <a:r>
              <a:rPr lang="en-US" sz="2200" dirty="0">
                <a:latin typeface="Nunito"/>
                <a:cs typeface="Segoe UI"/>
              </a:rPr>
              <a:t> Categorical variable specifying the gender of the customer (e.g., Male, Female).</a:t>
            </a:r>
            <a:endParaRPr lang="en-US" dirty="0"/>
          </a:p>
          <a:p>
            <a:r>
              <a:rPr lang="en-US" sz="2200" b="1" dirty="0">
                <a:latin typeface="Nunito"/>
                <a:cs typeface="Segoe UI"/>
              </a:rPr>
              <a:t>Age:</a:t>
            </a:r>
            <a:r>
              <a:rPr lang="en-US" sz="2200" dirty="0">
                <a:latin typeface="Nunito"/>
                <a:cs typeface="Segoe UI"/>
              </a:rPr>
              <a:t> Numerical value representing the age of the customer.</a:t>
            </a:r>
            <a:endParaRPr lang="en-US" dirty="0"/>
          </a:p>
          <a:p>
            <a:r>
              <a:rPr lang="en-US" sz="2200" b="1" dirty="0">
                <a:latin typeface="Nunito"/>
              </a:rPr>
              <a:t>Tenure:</a:t>
            </a:r>
            <a:r>
              <a:rPr lang="en-US" sz="2200" dirty="0">
                <a:latin typeface="Nunito"/>
              </a:rPr>
              <a:t> Numerical value indicating the number of years the customer has been with the bank.</a:t>
            </a:r>
            <a:endParaRPr lang="en-US" dirty="0"/>
          </a:p>
          <a:p>
            <a:r>
              <a:rPr lang="en-US" sz="2200" b="1" dirty="0">
                <a:latin typeface="Nunito"/>
              </a:rPr>
              <a:t>Balance</a:t>
            </a:r>
            <a:r>
              <a:rPr lang="en-US" sz="2200" b="1" dirty="0">
                <a:latin typeface="Nunito"/>
                <a:cs typeface="Segoe UI"/>
              </a:rPr>
              <a:t>:</a:t>
            </a:r>
            <a:r>
              <a:rPr lang="en-US" sz="2200" dirty="0">
                <a:latin typeface="Nunito"/>
                <a:cs typeface="Segoe UI"/>
              </a:rPr>
              <a:t> Numerical value representing the account balance of the customer.</a:t>
            </a:r>
            <a:endParaRPr lang="en-US" dirty="0"/>
          </a:p>
          <a:p>
            <a:r>
              <a:rPr lang="en-US" sz="2200" b="1" err="1">
                <a:latin typeface="Nunito"/>
                <a:cs typeface="Segoe UI"/>
              </a:rPr>
              <a:t>NumOfProducts</a:t>
            </a:r>
            <a:r>
              <a:rPr lang="en-US" sz="2200" b="1" dirty="0">
                <a:latin typeface="Nunito"/>
                <a:cs typeface="Segoe UI"/>
              </a:rPr>
              <a:t>:</a:t>
            </a:r>
            <a:r>
              <a:rPr lang="en-US" sz="2200" dirty="0">
                <a:latin typeface="Nunito"/>
                <a:cs typeface="Segoe UI"/>
              </a:rPr>
              <a:t> Numerical value indicating the number of bank products the customer uses.</a:t>
            </a:r>
            <a:endParaRPr lang="en-US" dirty="0"/>
          </a:p>
          <a:p>
            <a:endParaRPr lang="en-US" sz="2200">
              <a:cs typeface="Segoe UI"/>
            </a:endParaRPr>
          </a:p>
          <a:p>
            <a:pPr>
              <a:lnSpc>
                <a:spcPct val="100000"/>
              </a:lnSpc>
              <a:spcBef>
                <a:spcPts val="400"/>
              </a:spcBef>
              <a:spcAft>
                <a:spcPts val="400"/>
              </a:spcAft>
            </a:pPr>
            <a:endParaRPr lang="en-US" sz="2200">
              <a:ea typeface="Calibri" panose="020F0502020204030204"/>
              <a:cs typeface="Segoe UI"/>
            </a:endParaRPr>
          </a:p>
          <a:p>
            <a:pPr>
              <a:lnSpc>
                <a:spcPct val="100000"/>
              </a:lnSpc>
              <a:spcBef>
                <a:spcPts val="400"/>
              </a:spcBef>
              <a:spcAft>
                <a:spcPts val="400"/>
              </a:spcAft>
            </a:pPr>
            <a:endParaRPr lang="en-US" sz="2200">
              <a:latin typeface="Nunito"/>
              <a:ea typeface="Calibri" panose="020F0502020204030204"/>
              <a:cs typeface="Segoe UI"/>
            </a:endParaRPr>
          </a:p>
          <a:p>
            <a:pPr>
              <a:lnSpc>
                <a:spcPct val="100000"/>
              </a:lnSpc>
              <a:spcBef>
                <a:spcPts val="400"/>
              </a:spcBef>
              <a:spcAft>
                <a:spcPts val="400"/>
              </a:spcAft>
            </a:pPr>
            <a:endParaRPr lang="en-US" sz="2200">
              <a:latin typeface="Calibri"/>
              <a:ea typeface="Calibri"/>
              <a:cs typeface="Calibri"/>
            </a:endParaRPr>
          </a:p>
          <a:p>
            <a:pPr>
              <a:lnSpc>
                <a:spcPct val="100000"/>
              </a:lnSpc>
              <a:spcBef>
                <a:spcPts val="400"/>
              </a:spcBef>
              <a:spcAft>
                <a:spcPts val="400"/>
              </a:spcAft>
              <a:buFont typeface="Arial" panose="05000000000000000000" pitchFamily="2" charset="2"/>
              <a:buChar char="•"/>
            </a:pPr>
            <a:endParaRPr lang="en-US" sz="2200">
              <a:latin typeface="+mn-lt"/>
              <a:ea typeface="Calibri" panose="020F0502020204030204"/>
              <a:cs typeface="Calibri" panose="020F0502020204030204"/>
            </a:endParaRPr>
          </a:p>
        </p:txBody>
      </p:sp>
    </p:spTree>
    <p:extLst>
      <p:ext uri="{BB962C8B-B14F-4D97-AF65-F5344CB8AC3E}">
        <p14:creationId xmlns:p14="http://schemas.microsoft.com/office/powerpoint/2010/main" val="19418963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a:xfrm>
            <a:off x="678884" y="603666"/>
            <a:ext cx="10834234" cy="612775"/>
          </a:xfrm>
        </p:spPr>
        <p:txBody>
          <a:bodyPr>
            <a:normAutofit/>
          </a:bodyPr>
          <a:lstStyle/>
          <a:p>
            <a:r>
              <a:rPr lang="en-US" b="0">
                <a:latin typeface="Calibri"/>
                <a:cs typeface="Calibri"/>
              </a:rPr>
              <a:t>Cont...</a:t>
            </a:r>
            <a:endParaRPr lang="en-US"/>
          </a:p>
        </p:txBody>
      </p:sp>
      <p:sp>
        <p:nvSpPr>
          <p:cNvPr id="3" name="Content Placeholder 2">
            <a:extLst>
              <a:ext uri="{FF2B5EF4-FFF2-40B4-BE49-F238E27FC236}">
                <a16:creationId xmlns:a16="http://schemas.microsoft.com/office/drawing/2014/main" id="{166BA39F-134A-96D4-0537-B579872499B0}"/>
              </a:ext>
            </a:extLst>
          </p:cNvPr>
          <p:cNvSpPr txBox="1">
            <a:spLocks/>
          </p:cNvSpPr>
          <p:nvPr/>
        </p:nvSpPr>
        <p:spPr>
          <a:xfrm>
            <a:off x="490452" y="1217764"/>
            <a:ext cx="10834234" cy="4795824"/>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b="1" err="1">
                <a:latin typeface="Nunito"/>
                <a:cs typeface="Segoe UI"/>
              </a:rPr>
              <a:t>HasCrCard</a:t>
            </a:r>
            <a:r>
              <a:rPr lang="en-US" sz="2200" b="1" dirty="0">
                <a:latin typeface="Nunito"/>
                <a:cs typeface="Segoe UI"/>
              </a:rPr>
              <a:t>:</a:t>
            </a:r>
            <a:r>
              <a:rPr lang="en-US" sz="2200" dirty="0">
                <a:latin typeface="Nunito"/>
                <a:cs typeface="Segoe UI"/>
              </a:rPr>
              <a:t> Binary variable indicating whether the customer has a credit card (1 for Yes, 0 for No). </a:t>
            </a:r>
            <a:endParaRPr lang="en-US" dirty="0"/>
          </a:p>
          <a:p>
            <a:endParaRPr lang="en-US"/>
          </a:p>
          <a:p>
            <a:r>
              <a:rPr lang="en-US" sz="2200" b="1" err="1">
                <a:latin typeface="Nunito"/>
                <a:cs typeface="Segoe UI"/>
              </a:rPr>
              <a:t>IsActiveMember</a:t>
            </a:r>
            <a:r>
              <a:rPr lang="en-US" sz="2200" b="1" dirty="0">
                <a:latin typeface="Nunito"/>
                <a:cs typeface="Segoe UI"/>
              </a:rPr>
              <a:t>:</a:t>
            </a:r>
            <a:r>
              <a:rPr lang="en-US" sz="2200" dirty="0">
                <a:latin typeface="Nunito"/>
                <a:cs typeface="Segoe UI"/>
              </a:rPr>
              <a:t> Binary variable indicating whether the customer is an active member (1 for Yes, 0 for No). </a:t>
            </a:r>
            <a:endParaRPr lang="en-US" dirty="0"/>
          </a:p>
          <a:p>
            <a:endParaRPr lang="en-US"/>
          </a:p>
          <a:p>
            <a:r>
              <a:rPr lang="en-US" sz="2200" b="1" err="1">
                <a:latin typeface="Nunito"/>
                <a:cs typeface="Segoe UI"/>
              </a:rPr>
              <a:t>EstimatedSalary</a:t>
            </a:r>
            <a:r>
              <a:rPr lang="en-US" sz="2200" b="1" dirty="0">
                <a:latin typeface="Nunito"/>
                <a:cs typeface="Segoe UI"/>
              </a:rPr>
              <a:t>:</a:t>
            </a:r>
            <a:r>
              <a:rPr lang="en-US" sz="2200" dirty="0">
                <a:latin typeface="Nunito"/>
                <a:cs typeface="Segoe UI"/>
              </a:rPr>
              <a:t> Numerical value representing the estimated salary of the customer. </a:t>
            </a:r>
            <a:endParaRPr lang="en-US" dirty="0"/>
          </a:p>
          <a:p>
            <a:endParaRPr lang="en-US"/>
          </a:p>
          <a:p>
            <a:r>
              <a:rPr lang="en-US" sz="2200" b="1" dirty="0">
                <a:latin typeface="Nunito"/>
                <a:cs typeface="Segoe UI"/>
              </a:rPr>
              <a:t>Exited:</a:t>
            </a:r>
            <a:r>
              <a:rPr lang="en-US" sz="2200" dirty="0">
                <a:latin typeface="Nunito"/>
                <a:cs typeface="Segoe UI"/>
              </a:rPr>
              <a:t> Binary variable indicating whether the customer exited (churned) or not (1 for Yes, 0 for No).</a:t>
            </a:r>
            <a:endParaRPr lang="en-US"/>
          </a:p>
          <a:p>
            <a:endParaRPr lang="en-US" sz="2200">
              <a:cs typeface="Segoe UI"/>
            </a:endParaRPr>
          </a:p>
          <a:p>
            <a:pPr>
              <a:lnSpc>
                <a:spcPct val="100000"/>
              </a:lnSpc>
              <a:spcBef>
                <a:spcPts val="400"/>
              </a:spcBef>
              <a:spcAft>
                <a:spcPts val="400"/>
              </a:spcAft>
            </a:pPr>
            <a:endParaRPr lang="en-US" sz="2200">
              <a:ea typeface="Calibri" panose="020F0502020204030204"/>
              <a:cs typeface="Segoe UI"/>
            </a:endParaRPr>
          </a:p>
          <a:p>
            <a:pPr>
              <a:lnSpc>
                <a:spcPct val="100000"/>
              </a:lnSpc>
              <a:spcBef>
                <a:spcPts val="400"/>
              </a:spcBef>
              <a:spcAft>
                <a:spcPts val="400"/>
              </a:spcAft>
            </a:pPr>
            <a:endParaRPr lang="en-US" sz="2200">
              <a:latin typeface="Nunito"/>
              <a:ea typeface="Calibri" panose="020F0502020204030204"/>
              <a:cs typeface="Segoe UI"/>
            </a:endParaRPr>
          </a:p>
          <a:p>
            <a:pPr>
              <a:lnSpc>
                <a:spcPct val="100000"/>
              </a:lnSpc>
              <a:spcBef>
                <a:spcPts val="400"/>
              </a:spcBef>
              <a:spcAft>
                <a:spcPts val="400"/>
              </a:spcAft>
            </a:pPr>
            <a:endParaRPr lang="en-US" sz="2200">
              <a:latin typeface="Calibri"/>
              <a:ea typeface="Calibri"/>
              <a:cs typeface="Calibri"/>
            </a:endParaRPr>
          </a:p>
          <a:p>
            <a:pPr>
              <a:lnSpc>
                <a:spcPct val="100000"/>
              </a:lnSpc>
              <a:spcBef>
                <a:spcPts val="400"/>
              </a:spcBef>
              <a:spcAft>
                <a:spcPts val="400"/>
              </a:spcAft>
              <a:buFont typeface="Arial" panose="05000000000000000000" pitchFamily="2" charset="2"/>
              <a:buChar char="•"/>
            </a:pPr>
            <a:endParaRPr lang="en-US" sz="2200">
              <a:latin typeface="+mn-lt"/>
              <a:ea typeface="Calibri" panose="020F0502020204030204"/>
              <a:cs typeface="Calibri" panose="020F0502020204030204"/>
            </a:endParaRPr>
          </a:p>
        </p:txBody>
      </p:sp>
    </p:spTree>
    <p:extLst>
      <p:ext uri="{BB962C8B-B14F-4D97-AF65-F5344CB8AC3E}">
        <p14:creationId xmlns:p14="http://schemas.microsoft.com/office/powerpoint/2010/main" val="19147551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a:xfrm>
            <a:off x="678884" y="603666"/>
            <a:ext cx="10834234" cy="612775"/>
          </a:xfrm>
        </p:spPr>
        <p:txBody>
          <a:bodyPr>
            <a:normAutofit/>
          </a:bodyPr>
          <a:lstStyle/>
          <a:p>
            <a:r>
              <a:rPr lang="en-US" b="0">
                <a:latin typeface="Calibri"/>
                <a:cs typeface="Calibri"/>
              </a:rPr>
              <a:t>Importing data</a:t>
            </a:r>
            <a:endParaRPr lang="en-US" b="0">
              <a:cs typeface="Calibri"/>
            </a:endParaRPr>
          </a:p>
        </p:txBody>
      </p:sp>
      <p:sp>
        <p:nvSpPr>
          <p:cNvPr id="3" name="Content Placeholder 2">
            <a:extLst>
              <a:ext uri="{FF2B5EF4-FFF2-40B4-BE49-F238E27FC236}">
                <a16:creationId xmlns:a16="http://schemas.microsoft.com/office/drawing/2014/main" id="{166BA39F-134A-96D4-0537-B579872499B0}"/>
              </a:ext>
            </a:extLst>
          </p:cNvPr>
          <p:cNvSpPr txBox="1">
            <a:spLocks/>
          </p:cNvSpPr>
          <p:nvPr/>
        </p:nvSpPr>
        <p:spPr>
          <a:xfrm>
            <a:off x="490452" y="1518049"/>
            <a:ext cx="10834234" cy="4495539"/>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sz="2200">
                <a:latin typeface="Nunito"/>
                <a:cs typeface="Segoe UI"/>
              </a:rPr>
              <a:t>import pandas as pd</a:t>
            </a:r>
            <a:endParaRPr lang="en-US"/>
          </a:p>
          <a:p>
            <a:pPr>
              <a:buNone/>
            </a:pPr>
            <a:endParaRPr lang="en-US"/>
          </a:p>
          <a:p>
            <a:pPr>
              <a:buNone/>
            </a:pPr>
            <a:r>
              <a:rPr lang="en-US" sz="2200" err="1">
                <a:latin typeface="Nunito"/>
                <a:cs typeface="Segoe UI"/>
              </a:rPr>
              <a:t>bank_data</a:t>
            </a:r>
            <a:r>
              <a:rPr lang="en-US" sz="2200">
                <a:latin typeface="Nunito"/>
                <a:cs typeface="Segoe UI"/>
              </a:rPr>
              <a:t> = </a:t>
            </a:r>
            <a:r>
              <a:rPr lang="en-US" sz="2200" err="1">
                <a:latin typeface="Nunito"/>
                <a:cs typeface="Segoe UI"/>
              </a:rPr>
              <a:t>pd.read_csv</a:t>
            </a:r>
            <a:r>
              <a:rPr lang="en-US" sz="2200">
                <a:latin typeface="Nunito"/>
                <a:cs typeface="Segoe UI"/>
              </a:rPr>
              <a:t>("Bank_customers.csv")</a:t>
            </a:r>
            <a:endParaRPr lang="en-US" sz="2200">
              <a:cs typeface="Segoe UI"/>
            </a:endParaRPr>
          </a:p>
          <a:p>
            <a:pPr>
              <a:buNone/>
            </a:pPr>
            <a:endParaRPr lang="en-US" sz="2200">
              <a:cs typeface="Segoe UI"/>
            </a:endParaRPr>
          </a:p>
          <a:p>
            <a:pPr>
              <a:buNone/>
            </a:pPr>
            <a:r>
              <a:rPr lang="en-US" sz="2200">
                <a:latin typeface="Nunito"/>
                <a:cs typeface="Segoe UI"/>
              </a:rPr>
              <a:t># Display the first few rows of the dataset to check if it loaded successfully</a:t>
            </a:r>
            <a:endParaRPr lang="en-US" sz="2200">
              <a:cs typeface="Segoe UI"/>
            </a:endParaRPr>
          </a:p>
          <a:p>
            <a:pPr>
              <a:buNone/>
            </a:pPr>
            <a:r>
              <a:rPr lang="en-US" sz="2200">
                <a:latin typeface="Nunito"/>
                <a:cs typeface="Segoe UI"/>
              </a:rPr>
              <a:t>bank_data.head()</a:t>
            </a:r>
            <a:endParaRPr lang="en-US" sz="2200">
              <a:cs typeface="Segoe UI"/>
            </a:endParaRPr>
          </a:p>
          <a:p>
            <a:pPr marL="0" indent="0">
              <a:lnSpc>
                <a:spcPct val="100000"/>
              </a:lnSpc>
              <a:spcBef>
                <a:spcPts val="400"/>
              </a:spcBef>
              <a:spcAft>
                <a:spcPts val="400"/>
              </a:spcAft>
              <a:buNone/>
            </a:pPr>
            <a:endParaRPr lang="en-US" sz="2200">
              <a:ea typeface="Calibri" panose="020F0502020204030204"/>
              <a:cs typeface="Segoe UI"/>
            </a:endParaRPr>
          </a:p>
          <a:p>
            <a:pPr marL="0" indent="0">
              <a:lnSpc>
                <a:spcPct val="100000"/>
              </a:lnSpc>
              <a:spcBef>
                <a:spcPts val="400"/>
              </a:spcBef>
              <a:spcAft>
                <a:spcPts val="400"/>
              </a:spcAft>
              <a:buNone/>
            </a:pPr>
            <a:endParaRPr lang="en-US" sz="2200">
              <a:latin typeface="Nunito"/>
              <a:ea typeface="Calibri" panose="020F0502020204030204"/>
              <a:cs typeface="Segoe UI"/>
            </a:endParaRPr>
          </a:p>
          <a:p>
            <a:pPr marL="0" indent="0">
              <a:lnSpc>
                <a:spcPct val="100000"/>
              </a:lnSpc>
              <a:spcBef>
                <a:spcPts val="400"/>
              </a:spcBef>
              <a:spcAft>
                <a:spcPts val="400"/>
              </a:spcAft>
              <a:buNone/>
            </a:pPr>
            <a:endParaRPr lang="en-US" sz="2200">
              <a:latin typeface="Nunito"/>
              <a:cs typeface="Segoe UI"/>
            </a:endParaRPr>
          </a:p>
          <a:p>
            <a:pPr>
              <a:lnSpc>
                <a:spcPct val="100000"/>
              </a:lnSpc>
              <a:spcBef>
                <a:spcPts val="400"/>
              </a:spcBef>
              <a:spcAft>
                <a:spcPts val="400"/>
              </a:spcAft>
              <a:buFont typeface="Wingdings" panose="05000000000000000000" pitchFamily="2" charset="2"/>
              <a:buChar char="Ø"/>
            </a:pPr>
            <a:endParaRPr lang="en-US" sz="2200">
              <a:latin typeface="Nunito"/>
              <a:ea typeface="Calibri" panose="020F0502020204030204"/>
              <a:cs typeface="Segoe UI"/>
            </a:endParaRPr>
          </a:p>
        </p:txBody>
      </p:sp>
    </p:spTree>
    <p:extLst>
      <p:ext uri="{BB962C8B-B14F-4D97-AF65-F5344CB8AC3E}">
        <p14:creationId xmlns:p14="http://schemas.microsoft.com/office/powerpoint/2010/main" val="28910062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a:xfrm>
            <a:off x="678884" y="603666"/>
            <a:ext cx="10834234" cy="612775"/>
          </a:xfrm>
        </p:spPr>
        <p:txBody>
          <a:bodyPr>
            <a:normAutofit/>
          </a:bodyPr>
          <a:lstStyle/>
          <a:p>
            <a:r>
              <a:rPr lang="en-US" b="0">
                <a:latin typeface="Calibri"/>
                <a:cs typeface="Calibri"/>
              </a:rPr>
              <a:t>Data Cleaning:</a:t>
            </a:r>
            <a:endParaRPr lang="en-US"/>
          </a:p>
        </p:txBody>
      </p:sp>
      <p:sp>
        <p:nvSpPr>
          <p:cNvPr id="3" name="Content Placeholder 2">
            <a:extLst>
              <a:ext uri="{FF2B5EF4-FFF2-40B4-BE49-F238E27FC236}">
                <a16:creationId xmlns:a16="http://schemas.microsoft.com/office/drawing/2014/main" id="{166BA39F-134A-96D4-0537-B579872499B0}"/>
              </a:ext>
            </a:extLst>
          </p:cNvPr>
          <p:cNvSpPr txBox="1">
            <a:spLocks/>
          </p:cNvSpPr>
          <p:nvPr/>
        </p:nvSpPr>
        <p:spPr>
          <a:xfrm>
            <a:off x="490452" y="1518049"/>
            <a:ext cx="10834234" cy="4495539"/>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sz="2200">
                <a:latin typeface="Nunito"/>
                <a:cs typeface="Segoe UI"/>
              </a:rPr>
              <a:t># Check for missing values</a:t>
            </a:r>
            <a:endParaRPr lang="en-US"/>
          </a:p>
          <a:p>
            <a:pPr>
              <a:buNone/>
            </a:pPr>
            <a:r>
              <a:rPr lang="en-US" sz="2200" err="1">
                <a:latin typeface="Nunito"/>
                <a:cs typeface="Segoe UI"/>
              </a:rPr>
              <a:t>bank_data.isnull</a:t>
            </a:r>
            <a:r>
              <a:rPr lang="en-US" sz="2200">
                <a:latin typeface="Nunito"/>
                <a:cs typeface="Segoe UI"/>
              </a:rPr>
              <a:t>().sum()</a:t>
            </a:r>
            <a:endParaRPr lang="en-US"/>
          </a:p>
          <a:p>
            <a:pPr>
              <a:buNone/>
            </a:pPr>
            <a:endParaRPr lang="en-US" sz="2200">
              <a:latin typeface="Nunito"/>
              <a:cs typeface="Segoe UI"/>
            </a:endParaRPr>
          </a:p>
          <a:p>
            <a:pPr>
              <a:buNone/>
            </a:pPr>
            <a:r>
              <a:rPr lang="en-US" sz="2200">
                <a:latin typeface="Nunito"/>
                <a:cs typeface="Segoe UI"/>
              </a:rPr>
              <a:t># Drop irrelevant columns (</a:t>
            </a:r>
            <a:r>
              <a:rPr lang="en-US" sz="2200" err="1">
                <a:latin typeface="Nunito"/>
                <a:cs typeface="Segoe UI"/>
              </a:rPr>
              <a:t>RowNumber</a:t>
            </a:r>
            <a:r>
              <a:rPr lang="en-US" sz="2200">
                <a:latin typeface="Nunito"/>
                <a:cs typeface="Segoe UI"/>
              </a:rPr>
              <a:t>, </a:t>
            </a:r>
            <a:r>
              <a:rPr lang="en-US" sz="2200" err="1">
                <a:latin typeface="Nunito"/>
                <a:cs typeface="Segoe UI"/>
              </a:rPr>
              <a:t>CustomerId</a:t>
            </a:r>
            <a:r>
              <a:rPr lang="en-US" sz="2200">
                <a:latin typeface="Nunito"/>
                <a:cs typeface="Segoe UI"/>
              </a:rPr>
              <a:t>, Surname)</a:t>
            </a:r>
            <a:endParaRPr lang="en-US"/>
          </a:p>
          <a:p>
            <a:pPr>
              <a:buNone/>
            </a:pPr>
            <a:r>
              <a:rPr lang="en-US" sz="2200" err="1">
                <a:latin typeface="Nunito"/>
                <a:cs typeface="Segoe UI"/>
              </a:rPr>
              <a:t>bank_data</a:t>
            </a:r>
            <a:r>
              <a:rPr lang="en-US" sz="2200">
                <a:latin typeface="Nunito"/>
                <a:cs typeface="Segoe UI"/>
              </a:rPr>
              <a:t> = </a:t>
            </a:r>
            <a:r>
              <a:rPr lang="en-US" sz="2200" err="1">
                <a:latin typeface="Nunito"/>
                <a:cs typeface="Segoe UI"/>
              </a:rPr>
              <a:t>bank_data.drop</a:t>
            </a:r>
            <a:r>
              <a:rPr lang="en-US" sz="2200">
                <a:latin typeface="Nunito"/>
                <a:cs typeface="Segoe UI"/>
              </a:rPr>
              <a:t>(['</a:t>
            </a:r>
            <a:r>
              <a:rPr lang="en-US" sz="2200" err="1">
                <a:latin typeface="Nunito"/>
                <a:cs typeface="Segoe UI"/>
              </a:rPr>
              <a:t>RowNumber</a:t>
            </a:r>
            <a:r>
              <a:rPr lang="en-US" sz="2200">
                <a:latin typeface="Nunito"/>
                <a:cs typeface="Segoe UI"/>
              </a:rPr>
              <a:t>', '</a:t>
            </a:r>
            <a:r>
              <a:rPr lang="en-US" sz="2200" err="1">
                <a:latin typeface="Nunito"/>
                <a:cs typeface="Segoe UI"/>
              </a:rPr>
              <a:t>CustomerId</a:t>
            </a:r>
            <a:r>
              <a:rPr lang="en-US" sz="2200">
                <a:latin typeface="Nunito"/>
                <a:cs typeface="Segoe UI"/>
              </a:rPr>
              <a:t>', 'Surname'], axis=1)</a:t>
            </a:r>
            <a:endParaRPr lang="en-US"/>
          </a:p>
          <a:p>
            <a:pPr marL="0" indent="0">
              <a:lnSpc>
                <a:spcPct val="100000"/>
              </a:lnSpc>
              <a:spcBef>
                <a:spcPts val="400"/>
              </a:spcBef>
              <a:spcAft>
                <a:spcPts val="400"/>
              </a:spcAft>
              <a:buNone/>
            </a:pPr>
            <a:endParaRPr lang="en-US" sz="2200">
              <a:latin typeface="+mn-lt"/>
              <a:ea typeface="Calibri" panose="020F0502020204030204"/>
              <a:cs typeface="Calibri" panose="020F0502020204030204"/>
            </a:endParaRPr>
          </a:p>
          <a:p>
            <a:pPr>
              <a:lnSpc>
                <a:spcPct val="100000"/>
              </a:lnSpc>
              <a:spcBef>
                <a:spcPts val="400"/>
              </a:spcBef>
              <a:spcAft>
                <a:spcPts val="400"/>
              </a:spcAft>
              <a:buFont typeface="Wingdings" panose="05000000000000000000" pitchFamily="2" charset="2"/>
              <a:buChar char="Ø"/>
            </a:pPr>
            <a:endParaRPr lang="en-US" sz="2200">
              <a:latin typeface="+mn-lt"/>
              <a:ea typeface="Calibri" panose="020F0502020204030204"/>
              <a:cs typeface="Calibri" panose="020F0502020204030204"/>
            </a:endParaRPr>
          </a:p>
        </p:txBody>
      </p:sp>
    </p:spTree>
    <p:extLst>
      <p:ext uri="{BB962C8B-B14F-4D97-AF65-F5344CB8AC3E}">
        <p14:creationId xmlns:p14="http://schemas.microsoft.com/office/powerpoint/2010/main" val="31425228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a:xfrm>
            <a:off x="678884" y="603666"/>
            <a:ext cx="10834234" cy="612775"/>
          </a:xfrm>
        </p:spPr>
        <p:txBody>
          <a:bodyPr>
            <a:normAutofit/>
          </a:bodyPr>
          <a:lstStyle/>
          <a:p>
            <a:r>
              <a:rPr lang="en-US" b="0">
                <a:latin typeface="Calibri"/>
                <a:cs typeface="Calibri"/>
              </a:rPr>
              <a:t>Data Visualization</a:t>
            </a:r>
            <a:endParaRPr lang="en-US"/>
          </a:p>
        </p:txBody>
      </p:sp>
      <p:sp>
        <p:nvSpPr>
          <p:cNvPr id="3" name="Content Placeholder 2">
            <a:extLst>
              <a:ext uri="{FF2B5EF4-FFF2-40B4-BE49-F238E27FC236}">
                <a16:creationId xmlns:a16="http://schemas.microsoft.com/office/drawing/2014/main" id="{166BA39F-134A-96D4-0537-B579872499B0}"/>
              </a:ext>
            </a:extLst>
          </p:cNvPr>
          <p:cNvSpPr txBox="1">
            <a:spLocks/>
          </p:cNvSpPr>
          <p:nvPr/>
        </p:nvSpPr>
        <p:spPr>
          <a:xfrm>
            <a:off x="490452" y="1215490"/>
            <a:ext cx="10834234" cy="4977391"/>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sz="2400" b="1" dirty="0" err="1">
                <a:latin typeface="Nunito"/>
                <a:cs typeface="Segoe UI"/>
              </a:rPr>
              <a:t>Pairplot</a:t>
            </a:r>
            <a:endParaRPr lang="en-US" err="1"/>
          </a:p>
          <a:p>
            <a:pPr>
              <a:buNone/>
            </a:pPr>
            <a:r>
              <a:rPr lang="en-US" sz="2200" dirty="0">
                <a:latin typeface="Nunito"/>
                <a:cs typeface="Segoe UI"/>
              </a:rPr>
              <a:t>It provides an overview of the relationships between these features and how they vary for customers who churned and those who did not.</a:t>
            </a:r>
            <a:endParaRPr lang="en-US" dirty="0"/>
          </a:p>
          <a:p>
            <a:pPr>
              <a:buNone/>
            </a:pPr>
            <a:endParaRPr lang="en-US" sz="2200">
              <a:latin typeface="Nunito"/>
              <a:cs typeface="Segoe UI"/>
            </a:endParaRPr>
          </a:p>
          <a:p>
            <a:pPr>
              <a:buNone/>
            </a:pPr>
            <a:r>
              <a:rPr lang="en-US" sz="2200" dirty="0">
                <a:latin typeface="Nunito"/>
                <a:ea typeface="Calibri" panose="020F0502020204030204"/>
                <a:cs typeface="Segoe UI"/>
              </a:rPr>
              <a:t># </a:t>
            </a:r>
            <a:r>
              <a:rPr lang="en-US" sz="2200" dirty="0" err="1">
                <a:latin typeface="Nunito"/>
                <a:ea typeface="Calibri" panose="020F0502020204030204"/>
                <a:cs typeface="Segoe UI"/>
              </a:rPr>
              <a:t>Pairplot</a:t>
            </a:r>
            <a:r>
              <a:rPr lang="en-US" sz="2200" dirty="0">
                <a:latin typeface="Nunito"/>
                <a:ea typeface="Calibri" panose="020F0502020204030204"/>
                <a:cs typeface="Segoe UI"/>
              </a:rPr>
              <a:t> for selected features</a:t>
            </a:r>
            <a:endParaRPr lang="en-US" dirty="0"/>
          </a:p>
          <a:p>
            <a:pPr>
              <a:buNone/>
            </a:pPr>
            <a:r>
              <a:rPr lang="en-US" sz="2200" dirty="0" err="1">
                <a:latin typeface="Nunito"/>
                <a:ea typeface="Calibri" panose="020F0502020204030204"/>
                <a:cs typeface="Segoe UI"/>
              </a:rPr>
              <a:t>sns.pairplot</a:t>
            </a:r>
            <a:r>
              <a:rPr lang="en-US" sz="2200" dirty="0">
                <a:latin typeface="Nunito"/>
                <a:ea typeface="Calibri" panose="020F0502020204030204"/>
                <a:cs typeface="Segoe UI"/>
              </a:rPr>
              <a:t>(</a:t>
            </a:r>
            <a:r>
              <a:rPr lang="en-US" sz="2200" dirty="0" err="1">
                <a:latin typeface="Nunito"/>
                <a:ea typeface="Calibri" panose="020F0502020204030204"/>
                <a:cs typeface="Segoe UI"/>
              </a:rPr>
              <a:t>bank_data</a:t>
            </a:r>
            <a:r>
              <a:rPr lang="en-US" sz="2200" dirty="0">
                <a:latin typeface="Nunito"/>
                <a:ea typeface="Calibri" panose="020F0502020204030204"/>
                <a:cs typeface="Segoe UI"/>
              </a:rPr>
              <a:t>[['</a:t>
            </a:r>
            <a:r>
              <a:rPr lang="en-US" sz="2200" dirty="0" err="1">
                <a:latin typeface="Nunito"/>
                <a:ea typeface="Calibri" panose="020F0502020204030204"/>
                <a:cs typeface="Segoe UI"/>
              </a:rPr>
              <a:t>CreditScore</a:t>
            </a:r>
            <a:r>
              <a:rPr lang="en-US" sz="2200" dirty="0">
                <a:latin typeface="Nunito"/>
                <a:ea typeface="Calibri" panose="020F0502020204030204"/>
                <a:cs typeface="Segoe UI"/>
              </a:rPr>
              <a:t>', 'Age', 'Balance', '</a:t>
            </a:r>
            <a:r>
              <a:rPr lang="en-US" sz="2200" dirty="0" err="1">
                <a:latin typeface="Nunito"/>
                <a:ea typeface="Calibri" panose="020F0502020204030204"/>
                <a:cs typeface="Segoe UI"/>
              </a:rPr>
              <a:t>NumOfProducts</a:t>
            </a:r>
            <a:r>
              <a:rPr lang="en-US" sz="2200" dirty="0">
                <a:latin typeface="Nunito"/>
                <a:ea typeface="Calibri" panose="020F0502020204030204"/>
                <a:cs typeface="Segoe UI"/>
              </a:rPr>
              <a:t>', 'Exited']], hue='Exited', markers=['o', 's'])</a:t>
            </a:r>
            <a:endParaRPr lang="en-US" dirty="0"/>
          </a:p>
          <a:p>
            <a:pPr>
              <a:buNone/>
            </a:pPr>
            <a:r>
              <a:rPr lang="en-US" sz="2200" dirty="0" err="1">
                <a:latin typeface="Nunito"/>
                <a:ea typeface="Calibri" panose="020F0502020204030204"/>
                <a:cs typeface="Segoe UI"/>
              </a:rPr>
              <a:t>plt.suptitle</a:t>
            </a:r>
            <a:r>
              <a:rPr lang="en-US" sz="2200" dirty="0">
                <a:latin typeface="Nunito"/>
                <a:ea typeface="Calibri" panose="020F0502020204030204"/>
                <a:cs typeface="Segoe UI"/>
              </a:rPr>
              <a:t>('</a:t>
            </a:r>
            <a:r>
              <a:rPr lang="en-US" sz="2200" dirty="0" err="1">
                <a:latin typeface="Nunito"/>
                <a:ea typeface="Calibri" panose="020F0502020204030204"/>
                <a:cs typeface="Segoe UI"/>
              </a:rPr>
              <a:t>Pairplot</a:t>
            </a:r>
            <a:r>
              <a:rPr lang="en-US" sz="2200" dirty="0">
                <a:latin typeface="Nunito"/>
                <a:ea typeface="Calibri" panose="020F0502020204030204"/>
                <a:cs typeface="Segoe UI"/>
              </a:rPr>
              <a:t> of Selected Features by Churn Status', y=1.02)</a:t>
            </a:r>
            <a:endParaRPr lang="en-US" dirty="0"/>
          </a:p>
          <a:p>
            <a:pPr>
              <a:buNone/>
            </a:pPr>
            <a:r>
              <a:rPr lang="en-US" sz="2200" dirty="0" err="1">
                <a:latin typeface="Nunito"/>
                <a:ea typeface="Calibri" panose="020F0502020204030204"/>
                <a:cs typeface="Segoe UI"/>
              </a:rPr>
              <a:t>plt.show</a:t>
            </a:r>
            <a:r>
              <a:rPr lang="en-US" sz="2200" dirty="0">
                <a:latin typeface="Nunito"/>
                <a:ea typeface="Calibri" panose="020F0502020204030204"/>
                <a:cs typeface="Segoe UI"/>
              </a:rPr>
              <a:t>()</a:t>
            </a:r>
            <a:endParaRPr lang="en-US" dirty="0"/>
          </a:p>
          <a:p>
            <a:pPr marL="0" indent="0">
              <a:lnSpc>
                <a:spcPct val="100000"/>
              </a:lnSpc>
              <a:spcBef>
                <a:spcPts val="400"/>
              </a:spcBef>
              <a:spcAft>
                <a:spcPts val="400"/>
              </a:spcAft>
              <a:buNone/>
            </a:pPr>
            <a:endParaRPr lang="en-US" sz="2200">
              <a:latin typeface="Nunito"/>
              <a:ea typeface="Calibri" panose="020F0502020204030204"/>
              <a:cs typeface="Segoe UI"/>
            </a:endParaRPr>
          </a:p>
          <a:p>
            <a:pPr marL="0" indent="0">
              <a:lnSpc>
                <a:spcPct val="100000"/>
              </a:lnSpc>
              <a:spcBef>
                <a:spcPts val="400"/>
              </a:spcBef>
              <a:spcAft>
                <a:spcPts val="400"/>
              </a:spcAft>
              <a:buNone/>
            </a:pPr>
            <a:endParaRPr lang="en-US" sz="2200">
              <a:latin typeface="+mn-lt"/>
              <a:ea typeface="Calibri" panose="020F0502020204030204"/>
              <a:cs typeface="Calibri" panose="020F0502020204030204"/>
            </a:endParaRPr>
          </a:p>
          <a:p>
            <a:pPr>
              <a:lnSpc>
                <a:spcPct val="100000"/>
              </a:lnSpc>
              <a:spcBef>
                <a:spcPts val="400"/>
              </a:spcBef>
              <a:spcAft>
                <a:spcPts val="400"/>
              </a:spcAft>
              <a:buFont typeface="Wingdings" panose="05000000000000000000" pitchFamily="2" charset="2"/>
              <a:buChar char="Ø"/>
            </a:pPr>
            <a:endParaRPr lang="en-US" sz="2200">
              <a:latin typeface="+mn-lt"/>
              <a:ea typeface="Calibri" panose="020F0502020204030204"/>
              <a:cs typeface="Calibri" panose="020F0502020204030204"/>
            </a:endParaRPr>
          </a:p>
        </p:txBody>
      </p:sp>
    </p:spTree>
    <p:extLst>
      <p:ext uri="{BB962C8B-B14F-4D97-AF65-F5344CB8AC3E}">
        <p14:creationId xmlns:p14="http://schemas.microsoft.com/office/powerpoint/2010/main" val="38192814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graph&#10;&#10;Description automatically generated">
            <a:extLst>
              <a:ext uri="{FF2B5EF4-FFF2-40B4-BE49-F238E27FC236}">
                <a16:creationId xmlns:a16="http://schemas.microsoft.com/office/drawing/2014/main" id="{250D6282-0604-2967-0096-E62F172C4A23}"/>
              </a:ext>
            </a:extLst>
          </p:cNvPr>
          <p:cNvPicPr>
            <a:picLocks noChangeAspect="1"/>
          </p:cNvPicPr>
          <p:nvPr/>
        </p:nvPicPr>
        <p:blipFill>
          <a:blip r:embed="rId3"/>
          <a:stretch>
            <a:fillRect/>
          </a:stretch>
        </p:blipFill>
        <p:spPr>
          <a:xfrm>
            <a:off x="2849093" y="60511"/>
            <a:ext cx="6202462" cy="6143064"/>
          </a:xfrm>
          <a:prstGeom prst="rect">
            <a:avLst/>
          </a:prstGeom>
        </p:spPr>
      </p:pic>
    </p:spTree>
    <p:extLst>
      <p:ext uri="{BB962C8B-B14F-4D97-AF65-F5344CB8AC3E}">
        <p14:creationId xmlns:p14="http://schemas.microsoft.com/office/powerpoint/2010/main" val="1881243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4274B1-0896-5D2E-82B7-A10B012BB578}"/>
              </a:ext>
            </a:extLst>
          </p:cNvPr>
          <p:cNvSpPr txBox="1">
            <a:spLocks/>
          </p:cNvSpPr>
          <p:nvPr/>
        </p:nvSpPr>
        <p:spPr>
          <a:xfrm>
            <a:off x="680952" y="285402"/>
            <a:ext cx="10834234" cy="4977391"/>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sz="2200" b="1" dirty="0">
                <a:latin typeface="Nunito"/>
                <a:cs typeface="Segoe UI"/>
              </a:rPr>
              <a:t>Interpretation of pair plot</a:t>
            </a:r>
            <a:endParaRPr lang="en-US" err="1"/>
          </a:p>
          <a:p>
            <a:r>
              <a:rPr lang="en-US" sz="2200" dirty="0">
                <a:latin typeface="Nunito"/>
                <a:ea typeface="Calibri"/>
                <a:cs typeface="Segoe UI"/>
              </a:rPr>
              <a:t>Credit score and age do not show a strong linear relationship.</a:t>
            </a:r>
            <a:endParaRPr lang="en-US"/>
          </a:p>
          <a:p>
            <a:r>
              <a:rPr lang="en-US" sz="2200" dirty="0">
                <a:latin typeface="Nunito"/>
                <a:ea typeface="Calibri" panose="020F0502020204030204"/>
                <a:cs typeface="Segoe UI"/>
              </a:rPr>
              <a:t>Credit score and account balance seem to have a weak linear correlation.</a:t>
            </a:r>
            <a:endParaRPr lang="en-US"/>
          </a:p>
          <a:p>
            <a:r>
              <a:rPr lang="en-US" sz="2200" dirty="0">
                <a:latin typeface="Nunito"/>
                <a:ea typeface="Calibri" panose="020F0502020204030204"/>
                <a:cs typeface="Segoe UI"/>
              </a:rPr>
              <a:t>Credit score doesn't exhibit a strong linear correlation with the number of products.</a:t>
            </a:r>
            <a:endParaRPr lang="en-US"/>
          </a:p>
          <a:p>
            <a:r>
              <a:rPr lang="en-US" sz="2200" dirty="0">
                <a:latin typeface="Nunito"/>
                <a:ea typeface="Calibri" panose="020F0502020204030204"/>
                <a:cs typeface="Segoe UI"/>
              </a:rPr>
              <a:t>Age and account balance appear to be weakly correlated.</a:t>
            </a:r>
            <a:endParaRPr lang="en-US"/>
          </a:p>
          <a:p>
            <a:r>
              <a:rPr lang="en-US" sz="2200" dirty="0">
                <a:latin typeface="Nunito"/>
                <a:ea typeface="Calibri" panose="020F0502020204030204"/>
                <a:cs typeface="Segoe UI"/>
              </a:rPr>
              <a:t>Age and the number of products show no strong linear correlation.</a:t>
            </a:r>
            <a:endParaRPr lang="en-US"/>
          </a:p>
          <a:p>
            <a:r>
              <a:rPr lang="en-US" sz="2200" dirty="0">
                <a:latin typeface="Nunito"/>
                <a:ea typeface="Calibri" panose="020F0502020204030204"/>
                <a:cs typeface="Segoe UI"/>
              </a:rPr>
              <a:t>Account balance and the number of products have a weak or no linear correlation.</a:t>
            </a:r>
            <a:endParaRPr lang="en-US"/>
          </a:p>
          <a:p>
            <a:pPr marL="0" indent="0">
              <a:lnSpc>
                <a:spcPct val="100000"/>
              </a:lnSpc>
              <a:spcBef>
                <a:spcPts val="400"/>
              </a:spcBef>
              <a:spcAft>
                <a:spcPts val="400"/>
              </a:spcAft>
              <a:buNone/>
            </a:pPr>
            <a:endParaRPr lang="en-US" sz="2200">
              <a:latin typeface="+mn-lt"/>
              <a:ea typeface="Calibri" panose="020F0502020204030204"/>
              <a:cs typeface="Calibri" panose="020F0502020204030204"/>
            </a:endParaRPr>
          </a:p>
          <a:p>
            <a:pPr>
              <a:lnSpc>
                <a:spcPct val="100000"/>
              </a:lnSpc>
              <a:spcBef>
                <a:spcPts val="400"/>
              </a:spcBef>
              <a:spcAft>
                <a:spcPts val="400"/>
              </a:spcAft>
              <a:buFont typeface="Arial" panose="05000000000000000000" pitchFamily="2" charset="2"/>
              <a:buChar char="•"/>
            </a:pPr>
            <a:endParaRPr lang="en-US" sz="2200">
              <a:latin typeface="+mn-lt"/>
              <a:ea typeface="Calibri" panose="020F0502020204030204"/>
              <a:cs typeface="Calibri" panose="020F0502020204030204"/>
            </a:endParaRPr>
          </a:p>
        </p:txBody>
      </p:sp>
    </p:spTree>
    <p:extLst>
      <p:ext uri="{BB962C8B-B14F-4D97-AF65-F5344CB8AC3E}">
        <p14:creationId xmlns:p14="http://schemas.microsoft.com/office/powerpoint/2010/main" val="34184124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6BA39F-134A-96D4-0537-B579872499B0}"/>
              </a:ext>
            </a:extLst>
          </p:cNvPr>
          <p:cNvSpPr txBox="1">
            <a:spLocks/>
          </p:cNvSpPr>
          <p:nvPr/>
        </p:nvSpPr>
        <p:spPr>
          <a:xfrm>
            <a:off x="680952" y="307813"/>
            <a:ext cx="10834234" cy="4977391"/>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sz="2400" b="1" dirty="0">
                <a:latin typeface="Nunito"/>
                <a:cs typeface="Segoe UI"/>
              </a:rPr>
              <a:t>Histogram: Age Distribution by Churn Status</a:t>
            </a:r>
            <a:endParaRPr lang="en-US" sz="2400" b="1" dirty="0"/>
          </a:p>
          <a:p>
            <a:pPr>
              <a:buNone/>
            </a:pPr>
            <a:r>
              <a:rPr lang="en-US" sz="2200" dirty="0">
                <a:latin typeface="Nunito"/>
                <a:cs typeface="Segoe UI"/>
              </a:rPr>
              <a:t>The histogram shows the distribution of customer ages, differentiated by churn status.</a:t>
            </a:r>
            <a:endParaRPr lang="en-US" dirty="0"/>
          </a:p>
          <a:p>
            <a:pPr>
              <a:buNone/>
            </a:pPr>
            <a:endParaRPr lang="en-US" sz="2200">
              <a:latin typeface="Nunito"/>
              <a:cs typeface="Segoe UI"/>
            </a:endParaRPr>
          </a:p>
          <a:p>
            <a:pPr>
              <a:buNone/>
            </a:pPr>
            <a:r>
              <a:rPr lang="en-US" sz="2200" dirty="0">
                <a:latin typeface="Nunito"/>
                <a:ea typeface="Calibri" panose="020F0502020204030204"/>
                <a:cs typeface="Segoe UI"/>
              </a:rPr>
              <a:t># Age Distribution by Churn</a:t>
            </a:r>
            <a:endParaRPr lang="en-US" dirty="0"/>
          </a:p>
          <a:p>
            <a:pPr>
              <a:buNone/>
            </a:pPr>
            <a:r>
              <a:rPr lang="en-US" sz="2200" dirty="0" err="1">
                <a:latin typeface="Nunito"/>
                <a:ea typeface="Calibri" panose="020F0502020204030204"/>
                <a:cs typeface="Segoe UI"/>
              </a:rPr>
              <a:t>plt.figure</a:t>
            </a:r>
            <a:r>
              <a:rPr lang="en-US" sz="2200" dirty="0">
                <a:latin typeface="Nunito"/>
                <a:ea typeface="Calibri" panose="020F0502020204030204"/>
                <a:cs typeface="Segoe UI"/>
              </a:rPr>
              <a:t>(</a:t>
            </a:r>
            <a:r>
              <a:rPr lang="en-US" sz="2200" dirty="0" err="1">
                <a:latin typeface="Nunito"/>
                <a:ea typeface="Calibri" panose="020F0502020204030204"/>
                <a:cs typeface="Segoe UI"/>
              </a:rPr>
              <a:t>figsize</a:t>
            </a:r>
            <a:r>
              <a:rPr lang="en-US" sz="2200" dirty="0">
                <a:latin typeface="Nunito"/>
                <a:ea typeface="Calibri" panose="020F0502020204030204"/>
                <a:cs typeface="Segoe UI"/>
              </a:rPr>
              <a:t>=(10, 6))</a:t>
            </a:r>
            <a:endParaRPr lang="en-US" dirty="0"/>
          </a:p>
          <a:p>
            <a:pPr>
              <a:buNone/>
            </a:pPr>
            <a:r>
              <a:rPr lang="en-US" sz="2200" dirty="0" err="1">
                <a:latin typeface="Nunito"/>
                <a:ea typeface="Calibri" panose="020F0502020204030204"/>
                <a:cs typeface="Segoe UI"/>
              </a:rPr>
              <a:t>sns.histplot</a:t>
            </a:r>
            <a:r>
              <a:rPr lang="en-US" sz="2200" dirty="0">
                <a:latin typeface="Nunito"/>
                <a:ea typeface="Calibri" panose="020F0502020204030204"/>
                <a:cs typeface="Segoe UI"/>
              </a:rPr>
              <a:t>(data=</a:t>
            </a:r>
            <a:r>
              <a:rPr lang="en-US" sz="2200" dirty="0" err="1">
                <a:latin typeface="Nunito"/>
                <a:ea typeface="Calibri" panose="020F0502020204030204"/>
                <a:cs typeface="Segoe UI"/>
              </a:rPr>
              <a:t>bank_data</a:t>
            </a:r>
            <a:r>
              <a:rPr lang="en-US" sz="2200" dirty="0">
                <a:latin typeface="Nunito"/>
                <a:ea typeface="Calibri" panose="020F0502020204030204"/>
                <a:cs typeface="Segoe UI"/>
              </a:rPr>
              <a:t>, x='Age', hue='Exited', multiple='stack', </a:t>
            </a:r>
            <a:r>
              <a:rPr lang="en-US" sz="2200" dirty="0" err="1">
                <a:latin typeface="Nunito"/>
                <a:ea typeface="Calibri" panose="020F0502020204030204"/>
                <a:cs typeface="Segoe UI"/>
              </a:rPr>
              <a:t>kde</a:t>
            </a:r>
            <a:r>
              <a:rPr lang="en-US" sz="2200" dirty="0">
                <a:latin typeface="Nunito"/>
                <a:ea typeface="Calibri" panose="020F0502020204030204"/>
                <a:cs typeface="Segoe UI"/>
              </a:rPr>
              <a:t>=True, palette='</a:t>
            </a:r>
            <a:r>
              <a:rPr lang="en-US" sz="2200" dirty="0" err="1">
                <a:latin typeface="Nunito"/>
                <a:ea typeface="Calibri" panose="020F0502020204030204"/>
                <a:cs typeface="Segoe UI"/>
              </a:rPr>
              <a:t>viridis</a:t>
            </a:r>
            <a:r>
              <a:rPr lang="en-US" sz="2200" dirty="0">
                <a:latin typeface="Nunito"/>
                <a:ea typeface="Calibri" panose="020F0502020204030204"/>
                <a:cs typeface="Segoe UI"/>
              </a:rPr>
              <a:t>')</a:t>
            </a:r>
            <a:endParaRPr lang="en-US" dirty="0"/>
          </a:p>
          <a:p>
            <a:pPr>
              <a:buNone/>
            </a:pPr>
            <a:r>
              <a:rPr lang="en-US" sz="2200" dirty="0" err="1">
                <a:latin typeface="Nunito"/>
                <a:ea typeface="Calibri" panose="020F0502020204030204"/>
                <a:cs typeface="Segoe UI"/>
              </a:rPr>
              <a:t>plt.title</a:t>
            </a:r>
            <a:r>
              <a:rPr lang="en-US" sz="2200" dirty="0">
                <a:latin typeface="Nunito"/>
                <a:ea typeface="Calibri" panose="020F0502020204030204"/>
                <a:cs typeface="Segoe UI"/>
              </a:rPr>
              <a:t>('Age Distribution by Churn Status')</a:t>
            </a:r>
            <a:endParaRPr lang="en-US" dirty="0"/>
          </a:p>
          <a:p>
            <a:pPr>
              <a:buNone/>
            </a:pPr>
            <a:r>
              <a:rPr lang="en-US" sz="2200" dirty="0" err="1">
                <a:latin typeface="Nunito"/>
                <a:ea typeface="Calibri" panose="020F0502020204030204"/>
                <a:cs typeface="Segoe UI"/>
              </a:rPr>
              <a:t>plt.xlabel</a:t>
            </a:r>
            <a:r>
              <a:rPr lang="en-US" sz="2200" dirty="0">
                <a:latin typeface="Nunito"/>
                <a:ea typeface="Calibri" panose="020F0502020204030204"/>
                <a:cs typeface="Segoe UI"/>
              </a:rPr>
              <a:t>('Age')</a:t>
            </a:r>
            <a:endParaRPr lang="en-US" dirty="0"/>
          </a:p>
          <a:p>
            <a:pPr>
              <a:buNone/>
            </a:pPr>
            <a:r>
              <a:rPr lang="en-US" sz="2200" dirty="0" err="1">
                <a:latin typeface="Nunito"/>
                <a:ea typeface="Calibri" panose="020F0502020204030204"/>
                <a:cs typeface="Segoe UI"/>
              </a:rPr>
              <a:t>plt.ylabel</a:t>
            </a:r>
            <a:r>
              <a:rPr lang="en-US" sz="2200" dirty="0">
                <a:latin typeface="Nunito"/>
                <a:ea typeface="Calibri" panose="020F0502020204030204"/>
                <a:cs typeface="Segoe UI"/>
              </a:rPr>
              <a:t>('Count')</a:t>
            </a:r>
            <a:endParaRPr lang="en-US" dirty="0"/>
          </a:p>
          <a:p>
            <a:pPr>
              <a:buNone/>
            </a:pPr>
            <a:r>
              <a:rPr lang="en-US" sz="2200" dirty="0" err="1">
                <a:latin typeface="Nunito"/>
                <a:ea typeface="Calibri" panose="020F0502020204030204"/>
                <a:cs typeface="Segoe UI"/>
              </a:rPr>
              <a:t>plt.show</a:t>
            </a:r>
            <a:r>
              <a:rPr lang="en-US" sz="2200" dirty="0">
                <a:latin typeface="Nunito"/>
                <a:ea typeface="Calibri" panose="020F0502020204030204"/>
                <a:cs typeface="Segoe UI"/>
              </a:rPr>
              <a:t>()</a:t>
            </a:r>
            <a:endParaRPr lang="en-US" dirty="0"/>
          </a:p>
          <a:p>
            <a:pPr>
              <a:buNone/>
            </a:pPr>
            <a:endParaRPr lang="en-US" sz="2200">
              <a:ea typeface="Calibri"/>
              <a:cs typeface="Segoe UI"/>
            </a:endParaRPr>
          </a:p>
          <a:p>
            <a:pPr marL="0" indent="0">
              <a:lnSpc>
                <a:spcPct val="100000"/>
              </a:lnSpc>
              <a:spcBef>
                <a:spcPts val="400"/>
              </a:spcBef>
              <a:spcAft>
                <a:spcPts val="400"/>
              </a:spcAft>
              <a:buNone/>
            </a:pPr>
            <a:endParaRPr lang="en-US" sz="2200">
              <a:latin typeface="Nunito"/>
              <a:ea typeface="Calibri" panose="020F0502020204030204"/>
              <a:cs typeface="Segoe UI"/>
            </a:endParaRPr>
          </a:p>
          <a:p>
            <a:pPr marL="0" indent="0">
              <a:lnSpc>
                <a:spcPct val="100000"/>
              </a:lnSpc>
              <a:spcBef>
                <a:spcPts val="400"/>
              </a:spcBef>
              <a:spcAft>
                <a:spcPts val="400"/>
              </a:spcAft>
              <a:buNone/>
            </a:pPr>
            <a:endParaRPr lang="en-US" sz="2200">
              <a:latin typeface="+mn-lt"/>
              <a:ea typeface="Calibri" panose="020F0502020204030204"/>
              <a:cs typeface="Calibri" panose="020F0502020204030204"/>
            </a:endParaRPr>
          </a:p>
          <a:p>
            <a:pPr>
              <a:lnSpc>
                <a:spcPct val="100000"/>
              </a:lnSpc>
              <a:spcBef>
                <a:spcPts val="400"/>
              </a:spcBef>
              <a:spcAft>
                <a:spcPts val="400"/>
              </a:spcAft>
              <a:buFont typeface="Wingdings" panose="05000000000000000000" pitchFamily="2" charset="2"/>
              <a:buChar char="Ø"/>
            </a:pPr>
            <a:endParaRPr lang="en-US" sz="2200">
              <a:latin typeface="+mn-lt"/>
              <a:ea typeface="Calibri" panose="020F0502020204030204"/>
              <a:cs typeface="Calibri" panose="020F0502020204030204"/>
            </a:endParaRPr>
          </a:p>
        </p:txBody>
      </p:sp>
    </p:spTree>
    <p:extLst>
      <p:ext uri="{BB962C8B-B14F-4D97-AF65-F5344CB8AC3E}">
        <p14:creationId xmlns:p14="http://schemas.microsoft.com/office/powerpoint/2010/main" val="34285047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of a number of age distribution&#10;&#10;Description automatically generated">
            <a:extLst>
              <a:ext uri="{FF2B5EF4-FFF2-40B4-BE49-F238E27FC236}">
                <a16:creationId xmlns:a16="http://schemas.microsoft.com/office/drawing/2014/main" id="{AAA30665-7C8B-6D98-7128-17CEC560BB83}"/>
              </a:ext>
            </a:extLst>
          </p:cNvPr>
          <p:cNvPicPr>
            <a:picLocks noChangeAspect="1"/>
          </p:cNvPicPr>
          <p:nvPr/>
        </p:nvPicPr>
        <p:blipFill>
          <a:blip r:embed="rId3"/>
          <a:stretch>
            <a:fillRect/>
          </a:stretch>
        </p:blipFill>
        <p:spPr>
          <a:xfrm>
            <a:off x="1936465" y="-2803"/>
            <a:ext cx="7490401" cy="4822511"/>
          </a:xfrm>
          <a:prstGeom prst="rect">
            <a:avLst/>
          </a:prstGeom>
        </p:spPr>
      </p:pic>
      <p:sp>
        <p:nvSpPr>
          <p:cNvPr id="4" name="Content Placeholder 2">
            <a:extLst>
              <a:ext uri="{FF2B5EF4-FFF2-40B4-BE49-F238E27FC236}">
                <a16:creationId xmlns:a16="http://schemas.microsoft.com/office/drawing/2014/main" id="{984C1078-A14F-6290-E5FC-D67C974BFE4B}"/>
              </a:ext>
            </a:extLst>
          </p:cNvPr>
          <p:cNvSpPr txBox="1">
            <a:spLocks/>
          </p:cNvSpPr>
          <p:nvPr/>
        </p:nvSpPr>
        <p:spPr>
          <a:xfrm>
            <a:off x="437995" y="4813228"/>
            <a:ext cx="11428145" cy="1615627"/>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sz="2400" b="1" dirty="0">
                <a:latin typeface="Nunito"/>
                <a:cs typeface="Segoe UI"/>
              </a:rPr>
              <a:t>Interpretation of Histogram</a:t>
            </a:r>
            <a:endParaRPr lang="en-US" b="1" dirty="0" err="1"/>
          </a:p>
          <a:p>
            <a:pPr>
              <a:buNone/>
            </a:pPr>
            <a:r>
              <a:rPr lang="en-US" sz="2200" dirty="0">
                <a:latin typeface="Nunito"/>
                <a:ea typeface="Calibri" panose="020F0502020204030204"/>
                <a:cs typeface="Segoe UI"/>
              </a:rPr>
              <a:t>The visual comparison of the two histograms suggests that, in general, younger customers are less likely to churn, while there is a slightly higher likelihood of churn among customers in their 40s and 50s.</a:t>
            </a:r>
            <a:endParaRPr lang="en-US"/>
          </a:p>
          <a:p>
            <a:pPr marL="0" indent="0">
              <a:lnSpc>
                <a:spcPct val="100000"/>
              </a:lnSpc>
              <a:spcBef>
                <a:spcPts val="400"/>
              </a:spcBef>
              <a:spcAft>
                <a:spcPts val="400"/>
              </a:spcAft>
              <a:buNone/>
            </a:pPr>
            <a:endParaRPr lang="en-US" sz="2200">
              <a:latin typeface="+mn-lt"/>
              <a:ea typeface="Calibri" panose="020F0502020204030204"/>
              <a:cs typeface="Calibri" panose="020F0502020204030204"/>
            </a:endParaRPr>
          </a:p>
          <a:p>
            <a:pPr>
              <a:lnSpc>
                <a:spcPct val="100000"/>
              </a:lnSpc>
              <a:spcBef>
                <a:spcPts val="400"/>
              </a:spcBef>
              <a:spcAft>
                <a:spcPts val="400"/>
              </a:spcAft>
              <a:buFont typeface="Wingdings" panose="05000000000000000000" pitchFamily="2" charset="2"/>
              <a:buChar char="Ø"/>
            </a:pPr>
            <a:endParaRPr lang="en-US" sz="2200">
              <a:latin typeface="+mn-lt"/>
              <a:ea typeface="Calibri" panose="020F0502020204030204"/>
              <a:cs typeface="Calibri" panose="020F0502020204030204"/>
            </a:endParaRPr>
          </a:p>
        </p:txBody>
      </p:sp>
    </p:spTree>
    <p:extLst>
      <p:ext uri="{BB962C8B-B14F-4D97-AF65-F5344CB8AC3E}">
        <p14:creationId xmlns:p14="http://schemas.microsoft.com/office/powerpoint/2010/main" val="16223370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D9905-5B8C-806C-E2F7-AA8EE7BC0EE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4942A22-452C-2C5E-BD84-C89E8E9D437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5868403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6BA39F-134A-96D4-0537-B579872499B0}"/>
              </a:ext>
            </a:extLst>
          </p:cNvPr>
          <p:cNvSpPr txBox="1">
            <a:spLocks/>
          </p:cNvSpPr>
          <p:nvPr/>
        </p:nvSpPr>
        <p:spPr>
          <a:xfrm>
            <a:off x="680952" y="307813"/>
            <a:ext cx="10834234" cy="4977391"/>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sz="2400" b="1" dirty="0">
                <a:latin typeface="Nunito"/>
                <a:cs typeface="Segoe UI"/>
              </a:rPr>
              <a:t>Correlation Matrix Heatmap</a:t>
            </a:r>
            <a:endParaRPr lang="en-US" sz="2400" b="1" dirty="0"/>
          </a:p>
          <a:p>
            <a:pPr>
              <a:buNone/>
            </a:pPr>
            <a:endParaRPr lang="en-US" sz="2200" dirty="0">
              <a:latin typeface="Nunito"/>
              <a:cs typeface="Segoe UI"/>
            </a:endParaRPr>
          </a:p>
          <a:p>
            <a:pPr>
              <a:buNone/>
            </a:pPr>
            <a:r>
              <a:rPr lang="en-US" sz="2200" dirty="0">
                <a:latin typeface="Nunito"/>
                <a:cs typeface="Segoe UI"/>
              </a:rPr>
              <a:t>The heatmap visualizes the correlation matrix of all numerical features.</a:t>
            </a:r>
            <a:endParaRPr lang="en-US" dirty="0"/>
          </a:p>
          <a:p>
            <a:pPr>
              <a:buNone/>
            </a:pPr>
            <a:r>
              <a:rPr lang="en-US" sz="2200" dirty="0">
                <a:latin typeface="Nunito"/>
                <a:cs typeface="Segoe UI"/>
              </a:rPr>
              <a:t> Darker colors indicate stronger correlations. </a:t>
            </a:r>
            <a:endParaRPr lang="en-US"/>
          </a:p>
          <a:p>
            <a:pPr>
              <a:buNone/>
            </a:pPr>
            <a:endParaRPr lang="en-US" sz="2200">
              <a:latin typeface="Nunito"/>
              <a:cs typeface="Segoe UI"/>
            </a:endParaRPr>
          </a:p>
          <a:p>
            <a:pPr>
              <a:buNone/>
            </a:pPr>
            <a:r>
              <a:rPr lang="en-US" sz="2200" dirty="0">
                <a:latin typeface="Nunito"/>
                <a:ea typeface="Calibri" panose="020F0502020204030204"/>
                <a:cs typeface="Segoe UI"/>
              </a:rPr>
              <a:t># Correlation Matrix Heatmap</a:t>
            </a:r>
            <a:endParaRPr lang="en-US"/>
          </a:p>
          <a:p>
            <a:pPr>
              <a:buNone/>
            </a:pPr>
            <a:r>
              <a:rPr lang="en-US" sz="2200" dirty="0" err="1">
                <a:latin typeface="Nunito"/>
                <a:ea typeface="Calibri" panose="020F0502020204030204"/>
                <a:cs typeface="Segoe UI"/>
              </a:rPr>
              <a:t>correlation_matrix</a:t>
            </a:r>
            <a:r>
              <a:rPr lang="en-US" sz="2200" dirty="0">
                <a:latin typeface="Nunito"/>
                <a:ea typeface="Calibri" panose="020F0502020204030204"/>
                <a:cs typeface="Segoe UI"/>
              </a:rPr>
              <a:t> = </a:t>
            </a:r>
            <a:r>
              <a:rPr lang="en-US" sz="2200" dirty="0" err="1">
                <a:latin typeface="Nunito"/>
                <a:ea typeface="Calibri" panose="020F0502020204030204"/>
                <a:cs typeface="Segoe UI"/>
              </a:rPr>
              <a:t>bank_data.corr</a:t>
            </a:r>
            <a:r>
              <a:rPr lang="en-US" sz="2200" dirty="0">
                <a:latin typeface="Nunito"/>
                <a:ea typeface="Calibri" panose="020F0502020204030204"/>
                <a:cs typeface="Segoe UI"/>
              </a:rPr>
              <a:t>(</a:t>
            </a:r>
            <a:r>
              <a:rPr lang="en-US" sz="2200" dirty="0" err="1">
                <a:latin typeface="Nunito"/>
                <a:ea typeface="Calibri" panose="020F0502020204030204"/>
                <a:cs typeface="Segoe UI"/>
              </a:rPr>
              <a:t>numeric_only</a:t>
            </a:r>
            <a:r>
              <a:rPr lang="en-US" sz="2200" dirty="0">
                <a:latin typeface="Nunito"/>
                <a:ea typeface="Calibri" panose="020F0502020204030204"/>
                <a:cs typeface="Segoe UI"/>
              </a:rPr>
              <a:t>=True)</a:t>
            </a:r>
            <a:endParaRPr lang="en-US"/>
          </a:p>
          <a:p>
            <a:pPr>
              <a:buNone/>
            </a:pPr>
            <a:r>
              <a:rPr lang="en-US" sz="2200" dirty="0" err="1">
                <a:latin typeface="Nunito"/>
                <a:ea typeface="Calibri" panose="020F0502020204030204"/>
                <a:cs typeface="Segoe UI"/>
              </a:rPr>
              <a:t>plt.figure</a:t>
            </a:r>
            <a:r>
              <a:rPr lang="en-US" sz="2200" dirty="0">
                <a:latin typeface="Nunito"/>
                <a:ea typeface="Calibri" panose="020F0502020204030204"/>
                <a:cs typeface="Segoe UI"/>
              </a:rPr>
              <a:t>(</a:t>
            </a:r>
            <a:r>
              <a:rPr lang="en-US" sz="2200" dirty="0" err="1">
                <a:latin typeface="Nunito"/>
                <a:ea typeface="Calibri" panose="020F0502020204030204"/>
                <a:cs typeface="Segoe UI"/>
              </a:rPr>
              <a:t>figsize</a:t>
            </a:r>
            <a:r>
              <a:rPr lang="en-US" sz="2200" dirty="0">
                <a:latin typeface="Nunito"/>
                <a:ea typeface="Calibri" panose="020F0502020204030204"/>
                <a:cs typeface="Segoe UI"/>
              </a:rPr>
              <a:t>=(10, 8))</a:t>
            </a:r>
            <a:endParaRPr lang="en-US"/>
          </a:p>
          <a:p>
            <a:pPr>
              <a:buNone/>
            </a:pPr>
            <a:r>
              <a:rPr lang="en-US" sz="2200" dirty="0" err="1">
                <a:latin typeface="Nunito"/>
                <a:ea typeface="Calibri" panose="020F0502020204030204"/>
                <a:cs typeface="Segoe UI"/>
              </a:rPr>
              <a:t>sns.heatmap</a:t>
            </a:r>
            <a:r>
              <a:rPr lang="en-US" sz="2200" dirty="0">
                <a:latin typeface="Nunito"/>
                <a:ea typeface="Calibri" panose="020F0502020204030204"/>
                <a:cs typeface="Segoe UI"/>
              </a:rPr>
              <a:t>(</a:t>
            </a:r>
            <a:r>
              <a:rPr lang="en-US" sz="2200" dirty="0" err="1">
                <a:latin typeface="Nunito"/>
                <a:ea typeface="Calibri" panose="020F0502020204030204"/>
                <a:cs typeface="Segoe UI"/>
              </a:rPr>
              <a:t>correlation_matrix</a:t>
            </a:r>
            <a:r>
              <a:rPr lang="en-US" sz="2200" dirty="0">
                <a:latin typeface="Nunito"/>
                <a:ea typeface="Calibri" panose="020F0502020204030204"/>
                <a:cs typeface="Segoe UI"/>
              </a:rPr>
              <a:t>, </a:t>
            </a:r>
            <a:r>
              <a:rPr lang="en-US" sz="2200" dirty="0" err="1">
                <a:latin typeface="Nunito"/>
                <a:ea typeface="Calibri" panose="020F0502020204030204"/>
                <a:cs typeface="Segoe UI"/>
              </a:rPr>
              <a:t>annot</a:t>
            </a:r>
            <a:r>
              <a:rPr lang="en-US" sz="2200" dirty="0">
                <a:latin typeface="Nunito"/>
                <a:ea typeface="Calibri" panose="020F0502020204030204"/>
                <a:cs typeface="Segoe UI"/>
              </a:rPr>
              <a:t>=True, </a:t>
            </a:r>
            <a:r>
              <a:rPr lang="en-US" sz="2200" dirty="0" err="1">
                <a:latin typeface="Nunito"/>
                <a:ea typeface="Calibri" panose="020F0502020204030204"/>
                <a:cs typeface="Segoe UI"/>
              </a:rPr>
              <a:t>cmap</a:t>
            </a:r>
            <a:r>
              <a:rPr lang="en-US" sz="2200" dirty="0">
                <a:latin typeface="Nunito"/>
                <a:ea typeface="Calibri" panose="020F0502020204030204"/>
                <a:cs typeface="Segoe UI"/>
              </a:rPr>
              <a:t>='</a:t>
            </a:r>
            <a:r>
              <a:rPr lang="en-US" sz="2200" dirty="0" err="1">
                <a:latin typeface="Nunito"/>
                <a:ea typeface="Calibri" panose="020F0502020204030204"/>
                <a:cs typeface="Segoe UI"/>
              </a:rPr>
              <a:t>coolwarm</a:t>
            </a:r>
            <a:r>
              <a:rPr lang="en-US" sz="2200" dirty="0">
                <a:latin typeface="Nunito"/>
                <a:ea typeface="Calibri" panose="020F0502020204030204"/>
                <a:cs typeface="Segoe UI"/>
              </a:rPr>
              <a:t>', </a:t>
            </a:r>
            <a:r>
              <a:rPr lang="en-US" sz="2200" dirty="0" err="1">
                <a:latin typeface="Nunito"/>
                <a:ea typeface="Calibri" panose="020F0502020204030204"/>
                <a:cs typeface="Segoe UI"/>
              </a:rPr>
              <a:t>fmt</a:t>
            </a:r>
            <a:r>
              <a:rPr lang="en-US" sz="2200" dirty="0">
                <a:latin typeface="Nunito"/>
                <a:ea typeface="Calibri" panose="020F0502020204030204"/>
                <a:cs typeface="Segoe UI"/>
              </a:rPr>
              <a:t>=".2f", linewidths=.5)</a:t>
            </a:r>
            <a:endParaRPr lang="en-US"/>
          </a:p>
          <a:p>
            <a:pPr>
              <a:buNone/>
            </a:pPr>
            <a:r>
              <a:rPr lang="en-US" sz="2200" dirty="0" err="1">
                <a:latin typeface="Nunito"/>
                <a:ea typeface="Calibri" panose="020F0502020204030204"/>
                <a:cs typeface="Segoe UI"/>
              </a:rPr>
              <a:t>plt.title</a:t>
            </a:r>
            <a:r>
              <a:rPr lang="en-US" sz="2200" dirty="0">
                <a:latin typeface="Nunito"/>
                <a:ea typeface="Calibri" panose="020F0502020204030204"/>
                <a:cs typeface="Segoe UI"/>
              </a:rPr>
              <a:t>('Correlation Matrix - Bank Churn Data')</a:t>
            </a:r>
            <a:endParaRPr lang="en-US"/>
          </a:p>
          <a:p>
            <a:pPr>
              <a:buNone/>
            </a:pPr>
            <a:r>
              <a:rPr lang="en-US" sz="2200" dirty="0" err="1">
                <a:latin typeface="Nunito"/>
                <a:ea typeface="Calibri" panose="020F0502020204030204"/>
                <a:cs typeface="Segoe UI"/>
              </a:rPr>
              <a:t>plt.show</a:t>
            </a:r>
            <a:r>
              <a:rPr lang="en-US" sz="2200" dirty="0">
                <a:latin typeface="Nunito"/>
                <a:ea typeface="Calibri" panose="020F0502020204030204"/>
                <a:cs typeface="Segoe UI"/>
              </a:rPr>
              <a:t>()</a:t>
            </a:r>
            <a:endParaRPr lang="en-US"/>
          </a:p>
          <a:p>
            <a:pPr>
              <a:buNone/>
            </a:pPr>
            <a:endParaRPr lang="en-US" sz="2200">
              <a:ea typeface="Calibri"/>
              <a:cs typeface="Segoe UI"/>
            </a:endParaRPr>
          </a:p>
          <a:p>
            <a:pPr marL="0" indent="0">
              <a:lnSpc>
                <a:spcPct val="100000"/>
              </a:lnSpc>
              <a:spcBef>
                <a:spcPts val="400"/>
              </a:spcBef>
              <a:spcAft>
                <a:spcPts val="400"/>
              </a:spcAft>
              <a:buNone/>
            </a:pPr>
            <a:endParaRPr lang="en-US" sz="2200">
              <a:latin typeface="Nunito"/>
              <a:ea typeface="Calibri" panose="020F0502020204030204"/>
              <a:cs typeface="Segoe UI"/>
            </a:endParaRPr>
          </a:p>
          <a:p>
            <a:pPr marL="0" indent="0">
              <a:lnSpc>
                <a:spcPct val="100000"/>
              </a:lnSpc>
              <a:spcBef>
                <a:spcPts val="400"/>
              </a:spcBef>
              <a:spcAft>
                <a:spcPts val="400"/>
              </a:spcAft>
              <a:buNone/>
            </a:pPr>
            <a:endParaRPr lang="en-US" sz="2200">
              <a:latin typeface="+mn-lt"/>
              <a:ea typeface="Calibri" panose="020F0502020204030204"/>
              <a:cs typeface="Calibri" panose="020F0502020204030204"/>
            </a:endParaRPr>
          </a:p>
          <a:p>
            <a:pPr>
              <a:lnSpc>
                <a:spcPct val="100000"/>
              </a:lnSpc>
              <a:spcBef>
                <a:spcPts val="400"/>
              </a:spcBef>
              <a:spcAft>
                <a:spcPts val="400"/>
              </a:spcAft>
              <a:buFont typeface="Wingdings" panose="05000000000000000000" pitchFamily="2" charset="2"/>
              <a:buChar char="Ø"/>
            </a:pPr>
            <a:endParaRPr lang="en-US" sz="2200">
              <a:latin typeface="+mn-lt"/>
              <a:ea typeface="Calibri" panose="020F0502020204030204"/>
              <a:cs typeface="Calibri" panose="020F0502020204030204"/>
            </a:endParaRPr>
          </a:p>
        </p:txBody>
      </p:sp>
    </p:spTree>
    <p:extLst>
      <p:ext uri="{BB962C8B-B14F-4D97-AF65-F5344CB8AC3E}">
        <p14:creationId xmlns:p14="http://schemas.microsoft.com/office/powerpoint/2010/main" val="5195222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hart with red and blue squares&#10;&#10;Description automatically generated">
            <a:extLst>
              <a:ext uri="{FF2B5EF4-FFF2-40B4-BE49-F238E27FC236}">
                <a16:creationId xmlns:a16="http://schemas.microsoft.com/office/drawing/2014/main" id="{C6CC9F00-D913-C825-0ED0-8D1262C3160B}"/>
              </a:ext>
            </a:extLst>
          </p:cNvPr>
          <p:cNvPicPr>
            <a:picLocks noChangeAspect="1"/>
          </p:cNvPicPr>
          <p:nvPr/>
        </p:nvPicPr>
        <p:blipFill>
          <a:blip r:embed="rId3"/>
          <a:stretch>
            <a:fillRect/>
          </a:stretch>
        </p:blipFill>
        <p:spPr>
          <a:xfrm>
            <a:off x="2695916" y="116541"/>
            <a:ext cx="6805770" cy="6087035"/>
          </a:xfrm>
          <a:prstGeom prst="rect">
            <a:avLst/>
          </a:prstGeom>
        </p:spPr>
      </p:pic>
    </p:spTree>
    <p:extLst>
      <p:ext uri="{BB962C8B-B14F-4D97-AF65-F5344CB8AC3E}">
        <p14:creationId xmlns:p14="http://schemas.microsoft.com/office/powerpoint/2010/main" val="38715025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4274B1-0896-5D2E-82B7-A10B012BB578}"/>
              </a:ext>
            </a:extLst>
          </p:cNvPr>
          <p:cNvSpPr txBox="1">
            <a:spLocks/>
          </p:cNvSpPr>
          <p:nvPr/>
        </p:nvSpPr>
        <p:spPr>
          <a:xfrm>
            <a:off x="680952" y="285402"/>
            <a:ext cx="10834234" cy="4977391"/>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sz="2400" b="1" dirty="0">
                <a:latin typeface="Nunito"/>
                <a:cs typeface="Segoe UI"/>
              </a:rPr>
              <a:t>Interpretation of Correlation Heatmap</a:t>
            </a:r>
            <a:endParaRPr lang="en-US" err="1"/>
          </a:p>
          <a:p>
            <a:pPr>
              <a:buNone/>
            </a:pPr>
            <a:r>
              <a:rPr lang="en-US" sz="2200" dirty="0" err="1">
                <a:latin typeface="Nunito"/>
                <a:ea typeface="Calibri" panose="020F0502020204030204"/>
                <a:cs typeface="Segoe UI"/>
              </a:rPr>
              <a:t>IsActiveMember</a:t>
            </a:r>
            <a:r>
              <a:rPr lang="en-US" sz="2200" dirty="0">
                <a:latin typeface="Nunito"/>
                <a:ea typeface="Calibri" panose="020F0502020204030204"/>
                <a:cs typeface="Segoe UI"/>
              </a:rPr>
              <a:t> and Exited: A negative correlation of approximately -0.16 suggests an inverse relationship.</a:t>
            </a:r>
            <a:endParaRPr lang="en-US" dirty="0"/>
          </a:p>
          <a:p>
            <a:pPr>
              <a:buNone/>
            </a:pPr>
            <a:endParaRPr lang="en-US" sz="2200">
              <a:latin typeface="Nunito"/>
              <a:ea typeface="Calibri" panose="020F0502020204030204"/>
              <a:cs typeface="Segoe UI"/>
            </a:endParaRPr>
          </a:p>
          <a:p>
            <a:pPr>
              <a:buNone/>
            </a:pPr>
            <a:r>
              <a:rPr lang="en-US" sz="2200" dirty="0">
                <a:latin typeface="Nunito"/>
                <a:ea typeface="Calibri" panose="020F0502020204030204"/>
                <a:cs typeface="Calibri" panose="020F0502020204030204"/>
              </a:rPr>
              <a:t>Age and Exited: A positive correlation of approximately 0.29 indicates a positive relationship.</a:t>
            </a:r>
            <a:endParaRPr lang="en-US" dirty="0"/>
          </a:p>
          <a:p>
            <a:pPr marL="0" indent="0">
              <a:lnSpc>
                <a:spcPct val="100000"/>
              </a:lnSpc>
              <a:spcBef>
                <a:spcPts val="400"/>
              </a:spcBef>
              <a:spcAft>
                <a:spcPts val="400"/>
              </a:spcAft>
              <a:buNone/>
            </a:pPr>
            <a:endParaRPr lang="en-US" sz="2200">
              <a:latin typeface="+mn-lt"/>
              <a:ea typeface="Calibri" panose="020F0502020204030204"/>
              <a:cs typeface="Calibri" panose="020F0502020204030204"/>
            </a:endParaRPr>
          </a:p>
          <a:p>
            <a:pPr>
              <a:lnSpc>
                <a:spcPct val="100000"/>
              </a:lnSpc>
              <a:spcBef>
                <a:spcPts val="400"/>
              </a:spcBef>
              <a:spcAft>
                <a:spcPts val="400"/>
              </a:spcAft>
              <a:buFont typeface="Wingdings" panose="05000000000000000000" pitchFamily="2" charset="2"/>
              <a:buChar char="Ø"/>
            </a:pPr>
            <a:endParaRPr lang="en-US" sz="2200">
              <a:latin typeface="+mn-lt"/>
              <a:ea typeface="Calibri" panose="020F0502020204030204"/>
              <a:cs typeface="Calibri" panose="020F0502020204030204"/>
            </a:endParaRPr>
          </a:p>
        </p:txBody>
      </p:sp>
    </p:spTree>
    <p:extLst>
      <p:ext uri="{BB962C8B-B14F-4D97-AF65-F5344CB8AC3E}">
        <p14:creationId xmlns:p14="http://schemas.microsoft.com/office/powerpoint/2010/main" val="17490520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6BA39F-134A-96D4-0537-B579872499B0}"/>
              </a:ext>
            </a:extLst>
          </p:cNvPr>
          <p:cNvSpPr txBox="1">
            <a:spLocks/>
          </p:cNvSpPr>
          <p:nvPr/>
        </p:nvSpPr>
        <p:spPr>
          <a:xfrm>
            <a:off x="680952" y="307813"/>
            <a:ext cx="10834234" cy="4977391"/>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sz="2400" b="1" dirty="0">
                <a:latin typeface="Nunito"/>
                <a:cs typeface="Segoe UI"/>
              </a:rPr>
              <a:t>bar chart :Churn by Gender</a:t>
            </a:r>
            <a:endParaRPr lang="en-US" dirty="0"/>
          </a:p>
          <a:p>
            <a:pPr>
              <a:buNone/>
            </a:pPr>
            <a:r>
              <a:rPr lang="en-US" sz="2200" dirty="0">
                <a:latin typeface="Nunito"/>
                <a:cs typeface="Segoe UI"/>
              </a:rPr>
              <a:t>The bar chart illustrates the count of churned and non-churned customers by gender.</a:t>
            </a:r>
            <a:endParaRPr lang="en-US" dirty="0"/>
          </a:p>
          <a:p>
            <a:pPr>
              <a:buNone/>
            </a:pPr>
            <a:endParaRPr lang="en-US" sz="2200">
              <a:latin typeface="Nunito"/>
              <a:cs typeface="Segoe UI"/>
            </a:endParaRPr>
          </a:p>
          <a:p>
            <a:pPr>
              <a:buNone/>
            </a:pPr>
            <a:r>
              <a:rPr lang="en-US" sz="2200" dirty="0">
                <a:latin typeface="Nunito"/>
                <a:ea typeface="Calibri" panose="020F0502020204030204"/>
                <a:cs typeface="Segoe UI"/>
              </a:rPr>
              <a:t># Bar Chart: Churn by Gender</a:t>
            </a:r>
            <a:endParaRPr lang="en-US" dirty="0"/>
          </a:p>
          <a:p>
            <a:pPr>
              <a:buNone/>
            </a:pPr>
            <a:r>
              <a:rPr lang="en-US" sz="2200" dirty="0" err="1">
                <a:latin typeface="Nunito"/>
                <a:ea typeface="Calibri" panose="020F0502020204030204"/>
                <a:cs typeface="Segoe UI"/>
              </a:rPr>
              <a:t>plt.figure</a:t>
            </a:r>
            <a:r>
              <a:rPr lang="en-US" sz="2200" dirty="0">
                <a:latin typeface="Nunito"/>
                <a:ea typeface="Calibri" panose="020F0502020204030204"/>
                <a:cs typeface="Segoe UI"/>
              </a:rPr>
              <a:t>(</a:t>
            </a:r>
            <a:r>
              <a:rPr lang="en-US" sz="2200" dirty="0" err="1">
                <a:latin typeface="Nunito"/>
                <a:ea typeface="Calibri" panose="020F0502020204030204"/>
                <a:cs typeface="Segoe UI"/>
              </a:rPr>
              <a:t>figsize</a:t>
            </a:r>
            <a:r>
              <a:rPr lang="en-US" sz="2200" dirty="0">
                <a:latin typeface="Nunito"/>
                <a:ea typeface="Calibri" panose="020F0502020204030204"/>
                <a:cs typeface="Segoe UI"/>
              </a:rPr>
              <a:t>=(6, 4))</a:t>
            </a:r>
            <a:endParaRPr lang="en-US" dirty="0"/>
          </a:p>
          <a:p>
            <a:pPr>
              <a:buNone/>
            </a:pPr>
            <a:r>
              <a:rPr lang="en-US" sz="2200" dirty="0" err="1">
                <a:latin typeface="Nunito"/>
                <a:ea typeface="Calibri" panose="020F0502020204030204"/>
                <a:cs typeface="Segoe UI"/>
              </a:rPr>
              <a:t>sns.countplot</a:t>
            </a:r>
            <a:r>
              <a:rPr lang="en-US" sz="2200" dirty="0">
                <a:latin typeface="Nunito"/>
                <a:ea typeface="Calibri" panose="020F0502020204030204"/>
                <a:cs typeface="Segoe UI"/>
              </a:rPr>
              <a:t>(x='Gender', hue='Exited', data=</a:t>
            </a:r>
            <a:r>
              <a:rPr lang="en-US" sz="2200" dirty="0" err="1">
                <a:latin typeface="Nunito"/>
                <a:ea typeface="Calibri" panose="020F0502020204030204"/>
                <a:cs typeface="Segoe UI"/>
              </a:rPr>
              <a:t>bank_data</a:t>
            </a:r>
            <a:r>
              <a:rPr lang="en-US" sz="2200" dirty="0">
                <a:latin typeface="Nunito"/>
                <a:ea typeface="Calibri" panose="020F0502020204030204"/>
                <a:cs typeface="Segoe UI"/>
              </a:rPr>
              <a:t>, palette='pastel')</a:t>
            </a:r>
            <a:endParaRPr lang="en-US" dirty="0"/>
          </a:p>
          <a:p>
            <a:pPr>
              <a:buNone/>
            </a:pPr>
            <a:r>
              <a:rPr lang="en-US" sz="2200" dirty="0" err="1">
                <a:latin typeface="Nunito"/>
                <a:ea typeface="Calibri" panose="020F0502020204030204"/>
                <a:cs typeface="Segoe UI"/>
              </a:rPr>
              <a:t>plt.title</a:t>
            </a:r>
            <a:r>
              <a:rPr lang="en-US" sz="2200" dirty="0">
                <a:latin typeface="Nunito"/>
                <a:ea typeface="Calibri" panose="020F0502020204030204"/>
                <a:cs typeface="Segoe UI"/>
              </a:rPr>
              <a:t>('Churn by Gender')</a:t>
            </a:r>
            <a:endParaRPr lang="en-US" dirty="0"/>
          </a:p>
          <a:p>
            <a:pPr>
              <a:buNone/>
            </a:pPr>
            <a:r>
              <a:rPr lang="en-US" sz="2200" dirty="0" err="1">
                <a:latin typeface="Nunito"/>
                <a:ea typeface="Calibri" panose="020F0502020204030204"/>
                <a:cs typeface="Segoe UI"/>
              </a:rPr>
              <a:t>plt.xlabel</a:t>
            </a:r>
            <a:r>
              <a:rPr lang="en-US" sz="2200" dirty="0">
                <a:latin typeface="Nunito"/>
                <a:ea typeface="Calibri" panose="020F0502020204030204"/>
                <a:cs typeface="Segoe UI"/>
              </a:rPr>
              <a:t>('Gender')</a:t>
            </a:r>
            <a:endParaRPr lang="en-US" dirty="0"/>
          </a:p>
          <a:p>
            <a:pPr>
              <a:buNone/>
            </a:pPr>
            <a:r>
              <a:rPr lang="en-US" sz="2200" dirty="0" err="1">
                <a:latin typeface="Nunito"/>
                <a:ea typeface="Calibri" panose="020F0502020204030204"/>
                <a:cs typeface="Segoe UI"/>
              </a:rPr>
              <a:t>plt.ylabel</a:t>
            </a:r>
            <a:r>
              <a:rPr lang="en-US" sz="2200" dirty="0">
                <a:latin typeface="Nunito"/>
                <a:ea typeface="Calibri" panose="020F0502020204030204"/>
                <a:cs typeface="Segoe UI"/>
              </a:rPr>
              <a:t>('Count')</a:t>
            </a:r>
            <a:endParaRPr lang="en-US" dirty="0"/>
          </a:p>
          <a:p>
            <a:pPr>
              <a:buNone/>
            </a:pPr>
            <a:r>
              <a:rPr lang="en-US" sz="2200" dirty="0" err="1">
                <a:latin typeface="Nunito"/>
                <a:ea typeface="Calibri" panose="020F0502020204030204"/>
                <a:cs typeface="Segoe UI"/>
              </a:rPr>
              <a:t>plt.show</a:t>
            </a:r>
            <a:r>
              <a:rPr lang="en-US" sz="2200" dirty="0">
                <a:latin typeface="Nunito"/>
                <a:ea typeface="Calibri" panose="020F0502020204030204"/>
                <a:cs typeface="Segoe UI"/>
              </a:rPr>
              <a:t>()</a:t>
            </a:r>
            <a:endParaRPr lang="en-US" dirty="0"/>
          </a:p>
          <a:p>
            <a:pPr>
              <a:buNone/>
            </a:pPr>
            <a:endParaRPr lang="en-US" sz="2200">
              <a:ea typeface="Calibri"/>
              <a:cs typeface="Segoe UI"/>
            </a:endParaRPr>
          </a:p>
          <a:p>
            <a:pPr marL="0" indent="0">
              <a:lnSpc>
                <a:spcPct val="100000"/>
              </a:lnSpc>
              <a:spcBef>
                <a:spcPts val="400"/>
              </a:spcBef>
              <a:spcAft>
                <a:spcPts val="400"/>
              </a:spcAft>
              <a:buNone/>
            </a:pPr>
            <a:endParaRPr lang="en-US" sz="2200">
              <a:latin typeface="Nunito"/>
              <a:ea typeface="Calibri" panose="020F0502020204030204"/>
              <a:cs typeface="Segoe UI"/>
            </a:endParaRPr>
          </a:p>
          <a:p>
            <a:pPr marL="0" indent="0">
              <a:lnSpc>
                <a:spcPct val="100000"/>
              </a:lnSpc>
              <a:spcBef>
                <a:spcPts val="400"/>
              </a:spcBef>
              <a:spcAft>
                <a:spcPts val="400"/>
              </a:spcAft>
              <a:buNone/>
            </a:pPr>
            <a:endParaRPr lang="en-US" sz="2200">
              <a:latin typeface="+mn-lt"/>
              <a:ea typeface="Calibri" panose="020F0502020204030204"/>
              <a:cs typeface="Calibri" panose="020F0502020204030204"/>
            </a:endParaRPr>
          </a:p>
          <a:p>
            <a:pPr>
              <a:lnSpc>
                <a:spcPct val="100000"/>
              </a:lnSpc>
              <a:spcBef>
                <a:spcPts val="400"/>
              </a:spcBef>
              <a:spcAft>
                <a:spcPts val="400"/>
              </a:spcAft>
              <a:buFont typeface="Wingdings" panose="05000000000000000000" pitchFamily="2" charset="2"/>
              <a:buChar char="Ø"/>
            </a:pPr>
            <a:endParaRPr lang="en-US" sz="2200">
              <a:latin typeface="+mn-lt"/>
              <a:ea typeface="Calibri" panose="020F0502020204030204"/>
              <a:cs typeface="Calibri" panose="020F0502020204030204"/>
            </a:endParaRPr>
          </a:p>
        </p:txBody>
      </p:sp>
    </p:spTree>
    <p:extLst>
      <p:ext uri="{BB962C8B-B14F-4D97-AF65-F5344CB8AC3E}">
        <p14:creationId xmlns:p14="http://schemas.microsoft.com/office/powerpoint/2010/main" val="34305174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of a person and person&#10;&#10;Description automatically generated">
            <a:extLst>
              <a:ext uri="{FF2B5EF4-FFF2-40B4-BE49-F238E27FC236}">
                <a16:creationId xmlns:a16="http://schemas.microsoft.com/office/drawing/2014/main" id="{5EC08A83-E1CF-428D-F5B7-C5C9DE5944A9}"/>
              </a:ext>
            </a:extLst>
          </p:cNvPr>
          <p:cNvPicPr>
            <a:picLocks noChangeAspect="1"/>
          </p:cNvPicPr>
          <p:nvPr/>
        </p:nvPicPr>
        <p:blipFill>
          <a:blip r:embed="rId3"/>
          <a:stretch>
            <a:fillRect/>
          </a:stretch>
        </p:blipFill>
        <p:spPr>
          <a:xfrm>
            <a:off x="2018086" y="78892"/>
            <a:ext cx="7145430" cy="5110442"/>
          </a:xfrm>
          <a:prstGeom prst="rect">
            <a:avLst/>
          </a:prstGeom>
        </p:spPr>
      </p:pic>
      <p:sp>
        <p:nvSpPr>
          <p:cNvPr id="3" name="TextBox 2">
            <a:extLst>
              <a:ext uri="{FF2B5EF4-FFF2-40B4-BE49-F238E27FC236}">
                <a16:creationId xmlns:a16="http://schemas.microsoft.com/office/drawing/2014/main" id="{D76483B4-9A65-C455-CC44-6951CE5B2451}"/>
              </a:ext>
            </a:extLst>
          </p:cNvPr>
          <p:cNvSpPr txBox="1"/>
          <p:nvPr/>
        </p:nvSpPr>
        <p:spPr>
          <a:xfrm>
            <a:off x="406401" y="5022575"/>
            <a:ext cx="10374242"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dirty="0">
                <a:solidFill>
                  <a:srgbClr val="181717"/>
                </a:solidFill>
                <a:latin typeface="Nunito"/>
                <a:cs typeface="Segoe UI"/>
              </a:rPr>
              <a:t>Interpretation of bar chart ​</a:t>
            </a:r>
          </a:p>
          <a:p>
            <a:r>
              <a:rPr lang="en-US" sz="2200" dirty="0">
                <a:solidFill>
                  <a:srgbClr val="181717"/>
                </a:solidFill>
                <a:latin typeface="Nunito"/>
                <a:cs typeface="Segoe UI"/>
              </a:rPr>
              <a:t>By comparing the heights of the bars, Female gender has a higher count of customers who have churned.</a:t>
            </a:r>
          </a:p>
        </p:txBody>
      </p:sp>
    </p:spTree>
    <p:extLst>
      <p:ext uri="{BB962C8B-B14F-4D97-AF65-F5344CB8AC3E}">
        <p14:creationId xmlns:p14="http://schemas.microsoft.com/office/powerpoint/2010/main" val="6461246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6BA39F-134A-96D4-0537-B579872499B0}"/>
              </a:ext>
            </a:extLst>
          </p:cNvPr>
          <p:cNvSpPr txBox="1">
            <a:spLocks/>
          </p:cNvSpPr>
          <p:nvPr/>
        </p:nvSpPr>
        <p:spPr>
          <a:xfrm>
            <a:off x="680952" y="307813"/>
            <a:ext cx="10834234" cy="4977391"/>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sz="2400" b="1" dirty="0">
                <a:latin typeface="Nunito"/>
                <a:cs typeface="Segoe UI"/>
              </a:rPr>
              <a:t>Boxplot: Balance by Churn Status</a:t>
            </a:r>
            <a:endParaRPr lang="en-US" sz="2400" b="1" dirty="0"/>
          </a:p>
          <a:p>
            <a:pPr>
              <a:buNone/>
            </a:pPr>
            <a:r>
              <a:rPr lang="en-US" sz="2200" dirty="0">
                <a:latin typeface="Nunito"/>
                <a:cs typeface="Segoe UI"/>
              </a:rPr>
              <a:t>The boxplot compares the distribution of account balances for customers who churned and those who did not.</a:t>
            </a:r>
            <a:endParaRPr lang="en-US" dirty="0"/>
          </a:p>
          <a:p>
            <a:pPr>
              <a:buNone/>
            </a:pPr>
            <a:endParaRPr lang="en-US" sz="2200">
              <a:latin typeface="Nunito"/>
              <a:ea typeface="Calibri" panose="020F0502020204030204"/>
              <a:cs typeface="Segoe UI"/>
            </a:endParaRPr>
          </a:p>
          <a:p>
            <a:pPr>
              <a:buNone/>
            </a:pPr>
            <a:r>
              <a:rPr lang="en-US" sz="2200" dirty="0">
                <a:latin typeface="Nunito"/>
                <a:ea typeface="Calibri" panose="020F0502020204030204"/>
                <a:cs typeface="Segoe UI"/>
              </a:rPr>
              <a:t># Boxplot: Balance by Churn Status</a:t>
            </a:r>
            <a:endParaRPr lang="en-US" dirty="0"/>
          </a:p>
          <a:p>
            <a:pPr>
              <a:buNone/>
            </a:pPr>
            <a:r>
              <a:rPr lang="en-US" sz="2200" dirty="0" err="1">
                <a:latin typeface="Nunito"/>
                <a:ea typeface="Calibri" panose="020F0502020204030204"/>
                <a:cs typeface="Segoe UI"/>
              </a:rPr>
              <a:t>plt.figure</a:t>
            </a:r>
            <a:r>
              <a:rPr lang="en-US" sz="2200" dirty="0">
                <a:latin typeface="Nunito"/>
                <a:ea typeface="Calibri" panose="020F0502020204030204"/>
                <a:cs typeface="Segoe UI"/>
              </a:rPr>
              <a:t>(</a:t>
            </a:r>
            <a:r>
              <a:rPr lang="en-US" sz="2200" dirty="0" err="1">
                <a:latin typeface="Nunito"/>
                <a:ea typeface="Calibri" panose="020F0502020204030204"/>
                <a:cs typeface="Segoe UI"/>
              </a:rPr>
              <a:t>figsize</a:t>
            </a:r>
            <a:r>
              <a:rPr lang="en-US" sz="2200" dirty="0">
                <a:latin typeface="Nunito"/>
                <a:ea typeface="Calibri" panose="020F0502020204030204"/>
                <a:cs typeface="Segoe UI"/>
              </a:rPr>
              <a:t>=(8, 6))</a:t>
            </a:r>
            <a:endParaRPr lang="en-US" dirty="0"/>
          </a:p>
          <a:p>
            <a:pPr>
              <a:buNone/>
            </a:pPr>
            <a:r>
              <a:rPr lang="en-US" sz="2200" dirty="0" err="1">
                <a:latin typeface="Nunito"/>
                <a:ea typeface="Calibri" panose="020F0502020204030204"/>
                <a:cs typeface="Segoe UI"/>
              </a:rPr>
              <a:t>sns.boxplot</a:t>
            </a:r>
            <a:r>
              <a:rPr lang="en-US" sz="2200" dirty="0">
                <a:latin typeface="Nunito"/>
                <a:ea typeface="Calibri" panose="020F0502020204030204"/>
                <a:cs typeface="Segoe UI"/>
              </a:rPr>
              <a:t>(x='Exited', y='Balance', data=</a:t>
            </a:r>
            <a:r>
              <a:rPr lang="en-US" sz="2200" dirty="0" err="1">
                <a:latin typeface="Nunito"/>
                <a:ea typeface="Calibri" panose="020F0502020204030204"/>
                <a:cs typeface="Segoe UI"/>
              </a:rPr>
              <a:t>bank_data</a:t>
            </a:r>
            <a:r>
              <a:rPr lang="en-US" sz="2200" dirty="0">
                <a:latin typeface="Nunito"/>
                <a:ea typeface="Calibri" panose="020F0502020204030204"/>
                <a:cs typeface="Segoe UI"/>
              </a:rPr>
              <a:t>, palette='Set2')</a:t>
            </a:r>
            <a:endParaRPr lang="en-US" dirty="0"/>
          </a:p>
          <a:p>
            <a:pPr>
              <a:buNone/>
            </a:pPr>
            <a:r>
              <a:rPr lang="en-US" sz="2200" dirty="0" err="1">
                <a:latin typeface="Nunito"/>
                <a:ea typeface="Calibri" panose="020F0502020204030204"/>
                <a:cs typeface="Segoe UI"/>
              </a:rPr>
              <a:t>plt.title</a:t>
            </a:r>
            <a:r>
              <a:rPr lang="en-US" sz="2200" dirty="0">
                <a:latin typeface="Nunito"/>
                <a:ea typeface="Calibri" panose="020F0502020204030204"/>
                <a:cs typeface="Segoe UI"/>
              </a:rPr>
              <a:t>('Balance Distribution by Churn Status')</a:t>
            </a:r>
            <a:endParaRPr lang="en-US" dirty="0"/>
          </a:p>
          <a:p>
            <a:pPr>
              <a:buNone/>
            </a:pPr>
            <a:r>
              <a:rPr lang="en-US" sz="2200" dirty="0" err="1">
                <a:latin typeface="Nunito"/>
                <a:ea typeface="Calibri" panose="020F0502020204030204"/>
                <a:cs typeface="Segoe UI"/>
              </a:rPr>
              <a:t>plt.xlabel</a:t>
            </a:r>
            <a:r>
              <a:rPr lang="en-US" sz="2200" dirty="0">
                <a:latin typeface="Nunito"/>
                <a:ea typeface="Calibri" panose="020F0502020204030204"/>
                <a:cs typeface="Segoe UI"/>
              </a:rPr>
              <a:t>('Churn Status')</a:t>
            </a:r>
            <a:endParaRPr lang="en-US" dirty="0"/>
          </a:p>
          <a:p>
            <a:pPr>
              <a:buNone/>
            </a:pPr>
            <a:r>
              <a:rPr lang="en-US" sz="2200" dirty="0" err="1">
                <a:latin typeface="Nunito"/>
                <a:ea typeface="Calibri" panose="020F0502020204030204"/>
                <a:cs typeface="Segoe UI"/>
              </a:rPr>
              <a:t>plt.ylabel</a:t>
            </a:r>
            <a:r>
              <a:rPr lang="en-US" sz="2200" dirty="0">
                <a:latin typeface="Nunito"/>
                <a:ea typeface="Calibri" panose="020F0502020204030204"/>
                <a:cs typeface="Segoe UI"/>
              </a:rPr>
              <a:t>('Balance')</a:t>
            </a:r>
            <a:endParaRPr lang="en-US" dirty="0"/>
          </a:p>
          <a:p>
            <a:pPr>
              <a:buNone/>
            </a:pPr>
            <a:r>
              <a:rPr lang="en-US" sz="2200" dirty="0" err="1">
                <a:latin typeface="Nunito"/>
                <a:ea typeface="Calibri" panose="020F0502020204030204"/>
                <a:cs typeface="Segoe UI"/>
              </a:rPr>
              <a:t>plt.show</a:t>
            </a:r>
            <a:r>
              <a:rPr lang="en-US" sz="2200" dirty="0">
                <a:latin typeface="Nunito"/>
                <a:ea typeface="Calibri" panose="020F0502020204030204"/>
                <a:cs typeface="Segoe UI"/>
              </a:rPr>
              <a:t>()</a:t>
            </a:r>
            <a:endParaRPr lang="en-US" dirty="0"/>
          </a:p>
          <a:p>
            <a:pPr>
              <a:buNone/>
            </a:pPr>
            <a:endParaRPr lang="en-US" sz="2200">
              <a:ea typeface="Calibri"/>
              <a:cs typeface="Segoe UI"/>
            </a:endParaRPr>
          </a:p>
          <a:p>
            <a:pPr marL="0" indent="0">
              <a:lnSpc>
                <a:spcPct val="100000"/>
              </a:lnSpc>
              <a:spcBef>
                <a:spcPts val="400"/>
              </a:spcBef>
              <a:spcAft>
                <a:spcPts val="400"/>
              </a:spcAft>
              <a:buNone/>
            </a:pPr>
            <a:endParaRPr lang="en-US" sz="2200">
              <a:latin typeface="Nunito"/>
              <a:ea typeface="Calibri" panose="020F0502020204030204"/>
              <a:cs typeface="Segoe UI"/>
            </a:endParaRPr>
          </a:p>
          <a:p>
            <a:pPr marL="0" indent="0">
              <a:lnSpc>
                <a:spcPct val="100000"/>
              </a:lnSpc>
              <a:spcBef>
                <a:spcPts val="400"/>
              </a:spcBef>
              <a:spcAft>
                <a:spcPts val="400"/>
              </a:spcAft>
              <a:buNone/>
            </a:pPr>
            <a:endParaRPr lang="en-US" sz="2200">
              <a:latin typeface="+mn-lt"/>
              <a:ea typeface="Calibri" panose="020F0502020204030204"/>
              <a:cs typeface="Calibri" panose="020F0502020204030204"/>
            </a:endParaRPr>
          </a:p>
          <a:p>
            <a:pPr>
              <a:lnSpc>
                <a:spcPct val="100000"/>
              </a:lnSpc>
              <a:spcBef>
                <a:spcPts val="400"/>
              </a:spcBef>
              <a:spcAft>
                <a:spcPts val="400"/>
              </a:spcAft>
              <a:buFont typeface="Wingdings" panose="05000000000000000000" pitchFamily="2" charset="2"/>
              <a:buChar char="Ø"/>
            </a:pPr>
            <a:endParaRPr lang="en-US" sz="2200">
              <a:latin typeface="+mn-lt"/>
              <a:ea typeface="Calibri" panose="020F0502020204030204"/>
              <a:cs typeface="Calibri" panose="020F0502020204030204"/>
            </a:endParaRPr>
          </a:p>
        </p:txBody>
      </p:sp>
    </p:spTree>
    <p:extLst>
      <p:ext uri="{BB962C8B-B14F-4D97-AF65-F5344CB8AC3E}">
        <p14:creationId xmlns:p14="http://schemas.microsoft.com/office/powerpoint/2010/main" val="3427904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CCB1DDB-FF60-BF1F-7F4F-34EC08E877C5}"/>
              </a:ext>
            </a:extLst>
          </p:cNvPr>
          <p:cNvPicPr>
            <a:picLocks noChangeAspect="1"/>
          </p:cNvPicPr>
          <p:nvPr/>
        </p:nvPicPr>
        <p:blipFill>
          <a:blip r:embed="rId3"/>
          <a:stretch>
            <a:fillRect/>
          </a:stretch>
        </p:blipFill>
        <p:spPr>
          <a:xfrm>
            <a:off x="2290921" y="951"/>
            <a:ext cx="6477066" cy="4910418"/>
          </a:xfrm>
          <a:prstGeom prst="rect">
            <a:avLst/>
          </a:prstGeom>
        </p:spPr>
      </p:pic>
      <p:sp>
        <p:nvSpPr>
          <p:cNvPr id="4" name="Content Placeholder 2">
            <a:extLst>
              <a:ext uri="{FF2B5EF4-FFF2-40B4-BE49-F238E27FC236}">
                <a16:creationId xmlns:a16="http://schemas.microsoft.com/office/drawing/2014/main" id="{C4649579-9FFE-8E8C-AB41-8D9F85885E0F}"/>
              </a:ext>
            </a:extLst>
          </p:cNvPr>
          <p:cNvSpPr txBox="1">
            <a:spLocks/>
          </p:cNvSpPr>
          <p:nvPr/>
        </p:nvSpPr>
        <p:spPr>
          <a:xfrm>
            <a:off x="580099" y="5103932"/>
            <a:ext cx="10842192" cy="1221635"/>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sz="2200" b="1" dirty="0">
                <a:latin typeface="Nunito"/>
                <a:cs typeface="Segoe UI"/>
              </a:rPr>
              <a:t>Interpretation of Boxplot </a:t>
            </a:r>
            <a:endParaRPr lang="en-US" b="1" dirty="0" err="1"/>
          </a:p>
          <a:p>
            <a:pPr>
              <a:buNone/>
            </a:pPr>
            <a:r>
              <a:rPr lang="en-US" sz="2200" dirty="0">
                <a:latin typeface="Nunito"/>
                <a:ea typeface="Calibri" panose="020F0502020204030204"/>
                <a:cs typeface="Segoe UI"/>
              </a:rPr>
              <a:t>As the boxes for churned and non-churned customers significantly overlap, it indicates </a:t>
            </a:r>
            <a:r>
              <a:rPr lang="en-US" sz="2200" dirty="0">
                <a:latin typeface="Nunito"/>
                <a:ea typeface="Calibri" panose="020F0502020204030204"/>
                <a:cs typeface="Calibri" panose="020F0502020204030204"/>
              </a:rPr>
              <a:t>a less pronounced difference in the distribution of account balances.</a:t>
            </a:r>
            <a:endParaRPr lang="en-US" dirty="0"/>
          </a:p>
          <a:p>
            <a:pPr>
              <a:lnSpc>
                <a:spcPct val="100000"/>
              </a:lnSpc>
              <a:spcBef>
                <a:spcPts val="400"/>
              </a:spcBef>
              <a:spcAft>
                <a:spcPts val="400"/>
              </a:spcAft>
              <a:buFont typeface="Wingdings" panose="05000000000000000000" pitchFamily="2" charset="2"/>
              <a:buChar char="Ø"/>
            </a:pPr>
            <a:endParaRPr lang="en-US" sz="2200">
              <a:latin typeface="+mn-lt"/>
              <a:ea typeface="Calibri" panose="020F0502020204030204"/>
              <a:cs typeface="Calibri" panose="020F0502020204030204"/>
            </a:endParaRPr>
          </a:p>
        </p:txBody>
      </p:sp>
    </p:spTree>
    <p:extLst>
      <p:ext uri="{BB962C8B-B14F-4D97-AF65-F5344CB8AC3E}">
        <p14:creationId xmlns:p14="http://schemas.microsoft.com/office/powerpoint/2010/main" val="8543213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6BA39F-134A-96D4-0537-B579872499B0}"/>
              </a:ext>
            </a:extLst>
          </p:cNvPr>
          <p:cNvSpPr txBox="1">
            <a:spLocks/>
          </p:cNvSpPr>
          <p:nvPr/>
        </p:nvSpPr>
        <p:spPr>
          <a:xfrm>
            <a:off x="680952" y="307813"/>
            <a:ext cx="10834234" cy="4977391"/>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sz="2400" b="1" dirty="0">
                <a:latin typeface="Nunito"/>
                <a:cs typeface="Segoe UI"/>
              </a:rPr>
              <a:t>Violin Plot: Age by Churn</a:t>
            </a:r>
            <a:endParaRPr lang="en-US" sz="2400" b="1" dirty="0"/>
          </a:p>
          <a:p>
            <a:pPr>
              <a:buNone/>
            </a:pPr>
            <a:r>
              <a:rPr lang="en-US" sz="2200" dirty="0">
                <a:latin typeface="Nunito"/>
                <a:cs typeface="Segoe UI"/>
              </a:rPr>
              <a:t>The violin plot depicts the distribution of customer ages for churned and non-churned customers.</a:t>
            </a:r>
            <a:endParaRPr lang="en-US" dirty="0"/>
          </a:p>
          <a:p>
            <a:pPr>
              <a:buNone/>
            </a:pPr>
            <a:endParaRPr lang="en-US" sz="2200">
              <a:latin typeface="Nunito"/>
              <a:ea typeface="Calibri" panose="020F0502020204030204"/>
              <a:cs typeface="Segoe UI"/>
            </a:endParaRPr>
          </a:p>
          <a:p>
            <a:pPr>
              <a:buNone/>
            </a:pPr>
            <a:r>
              <a:rPr lang="en-US" sz="2200" dirty="0">
                <a:latin typeface="Nunito"/>
                <a:ea typeface="Calibri" panose="020F0502020204030204"/>
                <a:cs typeface="Segoe UI"/>
              </a:rPr>
              <a:t># Violin Plot: Age by Churn</a:t>
            </a:r>
            <a:endParaRPr lang="en-US" dirty="0"/>
          </a:p>
          <a:p>
            <a:pPr>
              <a:buNone/>
            </a:pPr>
            <a:r>
              <a:rPr lang="en-US" sz="2200" dirty="0" err="1">
                <a:latin typeface="Nunito"/>
                <a:ea typeface="Calibri" panose="020F0502020204030204"/>
                <a:cs typeface="Segoe UI"/>
              </a:rPr>
              <a:t>plt.figure</a:t>
            </a:r>
            <a:r>
              <a:rPr lang="en-US" sz="2200" dirty="0">
                <a:latin typeface="Nunito"/>
                <a:ea typeface="Calibri" panose="020F0502020204030204"/>
                <a:cs typeface="Segoe UI"/>
              </a:rPr>
              <a:t>(</a:t>
            </a:r>
            <a:r>
              <a:rPr lang="en-US" sz="2200" dirty="0" err="1">
                <a:latin typeface="Nunito"/>
                <a:ea typeface="Calibri" panose="020F0502020204030204"/>
                <a:cs typeface="Segoe UI"/>
              </a:rPr>
              <a:t>figsize</a:t>
            </a:r>
            <a:r>
              <a:rPr lang="en-US" sz="2200" dirty="0">
                <a:latin typeface="Nunito"/>
                <a:ea typeface="Calibri" panose="020F0502020204030204"/>
                <a:cs typeface="Segoe UI"/>
              </a:rPr>
              <a:t>=(8, 6))</a:t>
            </a:r>
            <a:endParaRPr lang="en-US" dirty="0"/>
          </a:p>
          <a:p>
            <a:pPr>
              <a:buNone/>
            </a:pPr>
            <a:r>
              <a:rPr lang="en-US" sz="2200" dirty="0" err="1">
                <a:latin typeface="Nunito"/>
                <a:ea typeface="Calibri" panose="020F0502020204030204"/>
                <a:cs typeface="Segoe UI"/>
              </a:rPr>
              <a:t>sns.violinplot</a:t>
            </a:r>
            <a:r>
              <a:rPr lang="en-US" sz="2200" dirty="0">
                <a:latin typeface="Nunito"/>
                <a:ea typeface="Calibri" panose="020F0502020204030204"/>
                <a:cs typeface="Segoe UI"/>
              </a:rPr>
              <a:t>(x='Exited', y='Age', data=</a:t>
            </a:r>
            <a:r>
              <a:rPr lang="en-US" sz="2200" dirty="0" err="1">
                <a:latin typeface="Nunito"/>
                <a:ea typeface="Calibri" panose="020F0502020204030204"/>
                <a:cs typeface="Segoe UI"/>
              </a:rPr>
              <a:t>bank_data</a:t>
            </a:r>
            <a:r>
              <a:rPr lang="en-US" sz="2200" dirty="0">
                <a:latin typeface="Nunito"/>
                <a:ea typeface="Calibri" panose="020F0502020204030204"/>
                <a:cs typeface="Segoe UI"/>
              </a:rPr>
              <a:t>, palette='Set3')</a:t>
            </a:r>
            <a:endParaRPr lang="en-US" dirty="0"/>
          </a:p>
          <a:p>
            <a:pPr>
              <a:buNone/>
            </a:pPr>
            <a:r>
              <a:rPr lang="en-US" sz="2200" dirty="0" err="1">
                <a:latin typeface="Nunito"/>
                <a:ea typeface="Calibri" panose="020F0502020204030204"/>
                <a:cs typeface="Segoe UI"/>
              </a:rPr>
              <a:t>plt.title</a:t>
            </a:r>
            <a:r>
              <a:rPr lang="en-US" sz="2200" dirty="0">
                <a:latin typeface="Nunito"/>
                <a:ea typeface="Calibri" panose="020F0502020204030204"/>
                <a:cs typeface="Segoe UI"/>
              </a:rPr>
              <a:t>('Age Distribution by Churn Status')</a:t>
            </a:r>
            <a:endParaRPr lang="en-US" dirty="0"/>
          </a:p>
          <a:p>
            <a:pPr>
              <a:buNone/>
            </a:pPr>
            <a:r>
              <a:rPr lang="en-US" sz="2200" dirty="0" err="1">
                <a:latin typeface="Nunito"/>
                <a:ea typeface="Calibri" panose="020F0502020204030204"/>
                <a:cs typeface="Segoe UI"/>
              </a:rPr>
              <a:t>plt.xlabel</a:t>
            </a:r>
            <a:r>
              <a:rPr lang="en-US" sz="2200" dirty="0">
                <a:latin typeface="Nunito"/>
                <a:ea typeface="Calibri" panose="020F0502020204030204"/>
                <a:cs typeface="Segoe UI"/>
              </a:rPr>
              <a:t>('Churn Status')</a:t>
            </a:r>
            <a:endParaRPr lang="en-US" dirty="0"/>
          </a:p>
          <a:p>
            <a:pPr>
              <a:buNone/>
            </a:pPr>
            <a:r>
              <a:rPr lang="en-US" sz="2200" dirty="0" err="1">
                <a:latin typeface="Nunito"/>
                <a:ea typeface="Calibri" panose="020F0502020204030204"/>
                <a:cs typeface="Segoe UI"/>
              </a:rPr>
              <a:t>plt.ylabel</a:t>
            </a:r>
            <a:r>
              <a:rPr lang="en-US" sz="2200" dirty="0">
                <a:latin typeface="Nunito"/>
                <a:ea typeface="Calibri" panose="020F0502020204030204"/>
                <a:cs typeface="Segoe UI"/>
              </a:rPr>
              <a:t>('Age')</a:t>
            </a:r>
            <a:endParaRPr lang="en-US" dirty="0"/>
          </a:p>
          <a:p>
            <a:pPr>
              <a:buNone/>
            </a:pPr>
            <a:r>
              <a:rPr lang="en-US" sz="2200" dirty="0" err="1">
                <a:latin typeface="Nunito"/>
                <a:ea typeface="Calibri" panose="020F0502020204030204"/>
                <a:cs typeface="Segoe UI"/>
              </a:rPr>
              <a:t>plt.show</a:t>
            </a:r>
            <a:r>
              <a:rPr lang="en-US" sz="2200" dirty="0">
                <a:latin typeface="Nunito"/>
                <a:ea typeface="Calibri" panose="020F0502020204030204"/>
                <a:cs typeface="Segoe UI"/>
              </a:rPr>
              <a:t>()</a:t>
            </a:r>
            <a:endParaRPr lang="en-US" dirty="0"/>
          </a:p>
          <a:p>
            <a:pPr>
              <a:buNone/>
            </a:pPr>
            <a:endParaRPr lang="en-US" sz="2200">
              <a:ea typeface="Calibri"/>
              <a:cs typeface="Segoe UI"/>
            </a:endParaRPr>
          </a:p>
          <a:p>
            <a:pPr marL="0" indent="0">
              <a:lnSpc>
                <a:spcPct val="100000"/>
              </a:lnSpc>
              <a:spcBef>
                <a:spcPts val="400"/>
              </a:spcBef>
              <a:spcAft>
                <a:spcPts val="400"/>
              </a:spcAft>
              <a:buNone/>
            </a:pPr>
            <a:endParaRPr lang="en-US" sz="2200">
              <a:latin typeface="Nunito"/>
              <a:ea typeface="Calibri" panose="020F0502020204030204"/>
              <a:cs typeface="Segoe UI"/>
            </a:endParaRPr>
          </a:p>
          <a:p>
            <a:pPr marL="0" indent="0">
              <a:lnSpc>
                <a:spcPct val="100000"/>
              </a:lnSpc>
              <a:spcBef>
                <a:spcPts val="400"/>
              </a:spcBef>
              <a:spcAft>
                <a:spcPts val="400"/>
              </a:spcAft>
              <a:buNone/>
            </a:pPr>
            <a:endParaRPr lang="en-US" sz="2200">
              <a:latin typeface="+mn-lt"/>
              <a:ea typeface="Calibri" panose="020F0502020204030204"/>
              <a:cs typeface="Calibri" panose="020F0502020204030204"/>
            </a:endParaRPr>
          </a:p>
          <a:p>
            <a:pPr>
              <a:lnSpc>
                <a:spcPct val="100000"/>
              </a:lnSpc>
              <a:spcBef>
                <a:spcPts val="400"/>
              </a:spcBef>
              <a:spcAft>
                <a:spcPts val="400"/>
              </a:spcAft>
              <a:buFont typeface="Wingdings" panose="05000000000000000000" pitchFamily="2" charset="2"/>
              <a:buChar char="Ø"/>
            </a:pPr>
            <a:endParaRPr lang="en-US" sz="2200">
              <a:latin typeface="+mn-lt"/>
              <a:ea typeface="Calibri" panose="020F0502020204030204"/>
              <a:cs typeface="Calibri" panose="020F0502020204030204"/>
            </a:endParaRPr>
          </a:p>
        </p:txBody>
      </p:sp>
    </p:spTree>
    <p:extLst>
      <p:ext uri="{BB962C8B-B14F-4D97-AF65-F5344CB8AC3E}">
        <p14:creationId xmlns:p14="http://schemas.microsoft.com/office/powerpoint/2010/main" val="37997887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0991B64-EDEC-3E3A-BD9D-698756CB7812}"/>
              </a:ext>
            </a:extLst>
          </p:cNvPr>
          <p:cNvPicPr>
            <a:picLocks noChangeAspect="1"/>
          </p:cNvPicPr>
          <p:nvPr/>
        </p:nvPicPr>
        <p:blipFill>
          <a:blip r:embed="rId3"/>
          <a:stretch>
            <a:fillRect/>
          </a:stretch>
        </p:blipFill>
        <p:spPr>
          <a:xfrm>
            <a:off x="2840633" y="99734"/>
            <a:ext cx="6370661" cy="5067300"/>
          </a:xfrm>
          <a:prstGeom prst="rect">
            <a:avLst/>
          </a:prstGeom>
        </p:spPr>
      </p:pic>
      <p:sp>
        <p:nvSpPr>
          <p:cNvPr id="4" name="Content Placeholder 2">
            <a:extLst>
              <a:ext uri="{FF2B5EF4-FFF2-40B4-BE49-F238E27FC236}">
                <a16:creationId xmlns:a16="http://schemas.microsoft.com/office/drawing/2014/main" id="{9F9E5E5C-DBE2-6873-18DB-4C8CD12EDE32}"/>
              </a:ext>
            </a:extLst>
          </p:cNvPr>
          <p:cNvSpPr txBox="1">
            <a:spLocks/>
          </p:cNvSpPr>
          <p:nvPr/>
        </p:nvSpPr>
        <p:spPr>
          <a:xfrm>
            <a:off x="221511" y="5159961"/>
            <a:ext cx="11204028" cy="1458744"/>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sz="2200" b="1" dirty="0">
                <a:latin typeface="Nunito"/>
                <a:cs typeface="Segoe UI"/>
              </a:rPr>
              <a:t>Interpretation of Violin plot</a:t>
            </a:r>
            <a:endParaRPr lang="en-US" dirty="0" err="1"/>
          </a:p>
          <a:p>
            <a:pPr>
              <a:buNone/>
            </a:pPr>
            <a:r>
              <a:rPr lang="en-US" sz="2200" dirty="0">
                <a:latin typeface="Nunito"/>
                <a:ea typeface="Calibri" panose="020F0502020204030204"/>
                <a:cs typeface="Segoe UI"/>
              </a:rPr>
              <a:t>one of the violins is wider at a particular age </a:t>
            </a:r>
            <a:r>
              <a:rPr lang="en-US" sz="2200" dirty="0">
                <a:latin typeface="Nunito"/>
                <a:ea typeface="Calibri" panose="020F0502020204030204"/>
                <a:cs typeface="Calibri" panose="020F0502020204030204"/>
              </a:rPr>
              <a:t>range</a:t>
            </a:r>
            <a:r>
              <a:rPr lang="en-US" sz="2200" dirty="0">
                <a:latin typeface="Nunito"/>
                <a:ea typeface="Calibri" panose="020F0502020204030204"/>
                <a:cs typeface="Segoe UI"/>
              </a:rPr>
              <a:t>, it suggests </a:t>
            </a:r>
            <a:r>
              <a:rPr lang="en-US" sz="2200" dirty="0">
                <a:latin typeface="Nunito"/>
                <a:ea typeface="Calibri" panose="020F0502020204030204"/>
                <a:cs typeface="Calibri" panose="020F0502020204030204"/>
              </a:rPr>
              <a:t>a higher concentration of customers in that age group.</a:t>
            </a:r>
            <a:endParaRPr lang="en-US" dirty="0"/>
          </a:p>
          <a:p>
            <a:pPr>
              <a:lnSpc>
                <a:spcPct val="100000"/>
              </a:lnSpc>
              <a:spcBef>
                <a:spcPts val="400"/>
              </a:spcBef>
              <a:spcAft>
                <a:spcPts val="400"/>
              </a:spcAft>
              <a:buFont typeface="Wingdings" panose="05000000000000000000" pitchFamily="2" charset="2"/>
              <a:buChar char="Ø"/>
            </a:pPr>
            <a:endParaRPr lang="en-US" sz="2200">
              <a:latin typeface="+mn-lt"/>
              <a:ea typeface="Calibri" panose="020F0502020204030204"/>
              <a:cs typeface="Calibri" panose="020F0502020204030204"/>
            </a:endParaRPr>
          </a:p>
        </p:txBody>
      </p:sp>
    </p:spTree>
    <p:extLst>
      <p:ext uri="{BB962C8B-B14F-4D97-AF65-F5344CB8AC3E}">
        <p14:creationId xmlns:p14="http://schemas.microsoft.com/office/powerpoint/2010/main" val="23213802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4274B1-0896-5D2E-82B7-A10B012BB578}"/>
              </a:ext>
            </a:extLst>
          </p:cNvPr>
          <p:cNvSpPr txBox="1">
            <a:spLocks/>
          </p:cNvSpPr>
          <p:nvPr/>
        </p:nvSpPr>
        <p:spPr>
          <a:xfrm>
            <a:off x="680952" y="1405990"/>
            <a:ext cx="10834234" cy="3856803"/>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sz="2200" b="1" dirty="0">
                <a:latin typeface="Nunito"/>
                <a:cs typeface="Segoe UI"/>
              </a:rPr>
              <a:t>Targeted</a:t>
            </a:r>
            <a:r>
              <a:rPr lang="en-US" sz="2200" b="1" dirty="0">
                <a:latin typeface="Nunito"/>
                <a:ea typeface="Calibri" panose="020F0502020204030204"/>
                <a:cs typeface="Calibri" panose="020F0502020204030204"/>
              </a:rPr>
              <a:t> Customer Engagement:</a:t>
            </a:r>
            <a:endParaRPr lang="en-US" b="1" dirty="0"/>
          </a:p>
          <a:p>
            <a:pPr marL="0" indent="0">
              <a:buNone/>
            </a:pPr>
            <a:r>
              <a:rPr lang="en-US" sz="2200" dirty="0">
                <a:latin typeface="Nunito"/>
                <a:ea typeface="Calibri" panose="020F0502020204030204"/>
                <a:cs typeface="Calibri" panose="020F0502020204030204"/>
              </a:rPr>
              <a:t>Identify and target specific age groups, such as customers in their 40s and 50s, who have shown a higher propensity to churn.</a:t>
            </a:r>
            <a:endParaRPr lang="en-US" dirty="0"/>
          </a:p>
          <a:p>
            <a:pPr marL="0" indent="0">
              <a:buNone/>
            </a:pPr>
            <a:r>
              <a:rPr lang="en-US" sz="2200" dirty="0">
                <a:latin typeface="Nunito"/>
                <a:ea typeface="Calibri" panose="020F0502020204030204"/>
                <a:cs typeface="Calibri" panose="020F0502020204030204"/>
              </a:rPr>
              <a:t>Design targeted marketing campaigns, loyalty programs, or personalized communication strategies to engage and retain customers in these age brackets.</a:t>
            </a:r>
            <a:endParaRPr lang="en-US" dirty="0"/>
          </a:p>
          <a:p>
            <a:pPr>
              <a:buNone/>
            </a:pPr>
            <a:endParaRPr lang="en-US" sz="2200">
              <a:latin typeface="Nunito"/>
              <a:ea typeface="Calibri" panose="020F0502020204030204"/>
              <a:cs typeface="Calibri" panose="020F0502020204030204"/>
            </a:endParaRPr>
          </a:p>
          <a:p>
            <a:pPr>
              <a:buNone/>
            </a:pPr>
            <a:r>
              <a:rPr lang="en-US" sz="2200" b="1" dirty="0">
                <a:latin typeface="Nunito"/>
                <a:ea typeface="Calibri" panose="020F0502020204030204"/>
                <a:cs typeface="Calibri" panose="020F0502020204030204"/>
              </a:rPr>
              <a:t>Enhance Active Memberships:</a:t>
            </a:r>
            <a:endParaRPr lang="en-US" b="1" dirty="0"/>
          </a:p>
          <a:p>
            <a:pPr marL="0" indent="0">
              <a:buNone/>
            </a:pPr>
            <a:r>
              <a:rPr lang="en-US" sz="2200" dirty="0">
                <a:latin typeface="Nunito"/>
                <a:ea typeface="Calibri" panose="020F0502020204030204"/>
                <a:cs typeface="Calibri" panose="020F0502020204030204"/>
              </a:rPr>
              <a:t>Recognize the weak negative correlation between being an active member and churn. Encourage customers to actively participate in the bank's services and programs.</a:t>
            </a:r>
            <a:endParaRPr lang="en-US" dirty="0"/>
          </a:p>
          <a:p>
            <a:pPr marL="0" indent="0">
              <a:buNone/>
            </a:pPr>
            <a:r>
              <a:rPr lang="en-US" sz="2200" dirty="0">
                <a:latin typeface="Nunito"/>
                <a:ea typeface="Calibri" panose="020F0502020204030204"/>
                <a:cs typeface="Calibri" panose="020F0502020204030204"/>
              </a:rPr>
              <a:t>Offer incentives, rewards, or exclusive benefits to active members to boost their engagement and decrease the likelihood of churn.</a:t>
            </a:r>
            <a:endParaRPr lang="en-US" dirty="0"/>
          </a:p>
          <a:p>
            <a:pPr>
              <a:lnSpc>
                <a:spcPct val="100000"/>
              </a:lnSpc>
              <a:spcBef>
                <a:spcPts val="400"/>
              </a:spcBef>
              <a:spcAft>
                <a:spcPts val="400"/>
              </a:spcAft>
              <a:buFont typeface="Arial" panose="05000000000000000000" pitchFamily="2" charset="2"/>
              <a:buChar char="•"/>
            </a:pPr>
            <a:endParaRPr lang="en-US" sz="2200">
              <a:latin typeface="+mn-lt"/>
              <a:ea typeface="Calibri" panose="020F0502020204030204"/>
              <a:cs typeface="Calibri" panose="020F0502020204030204"/>
            </a:endParaRPr>
          </a:p>
        </p:txBody>
      </p:sp>
      <p:sp>
        <p:nvSpPr>
          <p:cNvPr id="4" name="Title 3">
            <a:extLst>
              <a:ext uri="{FF2B5EF4-FFF2-40B4-BE49-F238E27FC236}">
                <a16:creationId xmlns:a16="http://schemas.microsoft.com/office/drawing/2014/main" id="{C70CAFD4-FD14-7546-3346-96B6BCCE8D7C}"/>
              </a:ext>
            </a:extLst>
          </p:cNvPr>
          <p:cNvSpPr>
            <a:spLocks noGrp="1"/>
          </p:cNvSpPr>
          <p:nvPr>
            <p:ph type="title"/>
          </p:nvPr>
        </p:nvSpPr>
        <p:spPr>
          <a:xfrm>
            <a:off x="678884" y="603666"/>
            <a:ext cx="10834234" cy="612775"/>
          </a:xfrm>
        </p:spPr>
        <p:txBody>
          <a:bodyPr>
            <a:normAutofit/>
          </a:bodyPr>
          <a:lstStyle/>
          <a:p>
            <a:r>
              <a:rPr lang="en-US" b="0">
                <a:latin typeface="Calibri"/>
                <a:cs typeface="Calibri"/>
              </a:rPr>
              <a:t>Business recommendations</a:t>
            </a:r>
            <a:endParaRPr lang="en-US"/>
          </a:p>
        </p:txBody>
      </p:sp>
    </p:spTree>
    <p:extLst>
      <p:ext uri="{BB962C8B-B14F-4D97-AF65-F5344CB8AC3E}">
        <p14:creationId xmlns:p14="http://schemas.microsoft.com/office/powerpoint/2010/main" val="36708490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4274B1-0896-5D2E-82B7-A10B012BB578}"/>
              </a:ext>
            </a:extLst>
          </p:cNvPr>
          <p:cNvSpPr txBox="1">
            <a:spLocks/>
          </p:cNvSpPr>
          <p:nvPr/>
        </p:nvSpPr>
        <p:spPr>
          <a:xfrm>
            <a:off x="680952" y="565549"/>
            <a:ext cx="10834234" cy="4641214"/>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Nunito"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Nunito"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Nunito"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sz="2200" b="1" dirty="0">
                <a:latin typeface="Nunito"/>
                <a:cs typeface="Segoe UI"/>
              </a:rPr>
              <a:t>Balance</a:t>
            </a:r>
            <a:r>
              <a:rPr lang="en-US" sz="2200" b="1" dirty="0">
                <a:latin typeface="Nunito"/>
                <a:ea typeface="Calibri" panose="020F0502020204030204"/>
                <a:cs typeface="Calibri" panose="020F0502020204030204"/>
              </a:rPr>
              <a:t> Monitoring and Support:</a:t>
            </a:r>
            <a:endParaRPr lang="en-US" b="1" dirty="0"/>
          </a:p>
          <a:p>
            <a:pPr marL="0" indent="0">
              <a:buNone/>
            </a:pPr>
            <a:r>
              <a:rPr lang="en-US" sz="2200" dirty="0">
                <a:latin typeface="Nunito"/>
                <a:ea typeface="Calibri" panose="020F0502020204030204"/>
                <a:cs typeface="Calibri" panose="020F0502020204030204"/>
              </a:rPr>
              <a:t>Acknowledge the slight positive correlation between higher account balances and churn. Provide additional support or exclusive services to customers with substantial account balances to enhance their satisfaction and loyalty.</a:t>
            </a:r>
            <a:endParaRPr lang="en-US" dirty="0"/>
          </a:p>
          <a:p>
            <a:pPr marL="0" indent="0">
              <a:buNone/>
            </a:pPr>
            <a:r>
              <a:rPr lang="en-US" sz="2200" dirty="0">
                <a:latin typeface="Nunito"/>
                <a:ea typeface="Calibri" panose="020F0502020204030204"/>
                <a:cs typeface="Calibri" panose="020F0502020204030204"/>
              </a:rPr>
              <a:t>Implement financial advisory services to assist high-balance customers in optimizing their financial portfolios.</a:t>
            </a:r>
            <a:endParaRPr lang="en-US" dirty="0"/>
          </a:p>
          <a:p>
            <a:pPr>
              <a:lnSpc>
                <a:spcPct val="100000"/>
              </a:lnSpc>
              <a:spcBef>
                <a:spcPts val="400"/>
              </a:spcBef>
              <a:spcAft>
                <a:spcPts val="400"/>
              </a:spcAft>
              <a:buFont typeface="Arial" panose="05000000000000000000" pitchFamily="2" charset="2"/>
              <a:buChar char="•"/>
            </a:pPr>
            <a:endParaRPr lang="en-US" sz="2200">
              <a:latin typeface="+mn-lt"/>
              <a:ea typeface="Calibri" panose="020F0502020204030204"/>
              <a:cs typeface="Calibri" panose="020F0502020204030204"/>
            </a:endParaRPr>
          </a:p>
        </p:txBody>
      </p:sp>
    </p:spTree>
    <p:extLst>
      <p:ext uri="{BB962C8B-B14F-4D97-AF65-F5344CB8AC3E}">
        <p14:creationId xmlns:p14="http://schemas.microsoft.com/office/powerpoint/2010/main" val="17905222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a:latin typeface="Calibri" panose="020F0502020204030204" pitchFamily="34" charset="0"/>
              </a:rPr>
              <a:t>Thank You</a:t>
            </a:r>
            <a:endParaRPr lang="en-IN" sz="6600" b="1">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Application>Microsoft Office PowerPoint</Application>
  <PresentationFormat>Widescreen</PresentationFormat>
  <Slides>33</Slides>
  <Notes>26</Notes>
  <HiddenSlides>0</HiddenSlide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BIA Template</vt:lpstr>
      <vt:lpstr>PowerPoint Presentation</vt:lpstr>
      <vt:lpstr>Trainer Guidelines for Conducting Class</vt:lpstr>
      <vt:lpstr>Overview of Data Visualization</vt:lpstr>
      <vt:lpstr> Pandas Introduction</vt:lpstr>
      <vt:lpstr> Data Structure in Pandas</vt:lpstr>
      <vt:lpstr>Matplotlib Library</vt:lpstr>
      <vt:lpstr>Creating Basic Plot</vt:lpstr>
      <vt:lpstr>Introducing Seaborn</vt:lpstr>
      <vt:lpstr>Introduction to Working on Financial Data for Analysis</vt:lpstr>
      <vt:lpstr>Business Problem</vt:lpstr>
      <vt:lpstr>Objectives:</vt:lpstr>
      <vt:lpstr>Dataset features</vt:lpstr>
      <vt:lpstr>Cont...</vt:lpstr>
      <vt:lpstr>Importing data</vt:lpstr>
      <vt:lpstr>Data Cleaning:</vt:lpstr>
      <vt:lpstr>Data Visualization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Business recommendations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revision>136</cp:revision>
  <dcterms:created xsi:type="dcterms:W3CDTF">2020-12-23T13:36:00Z</dcterms:created>
  <dcterms:modified xsi:type="dcterms:W3CDTF">2025-07-23T10:49:51Z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