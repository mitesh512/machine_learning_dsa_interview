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39"/>
  </p:notesMasterIdLst>
  <p:sldIdLst>
    <p:sldId id="256" r:id="rId2"/>
    <p:sldId id="685" r:id="rId3"/>
    <p:sldId id="634" r:id="rId4"/>
    <p:sldId id="566" r:id="rId5"/>
    <p:sldId id="674" r:id="rId6"/>
    <p:sldId id="587" r:id="rId7"/>
    <p:sldId id="677" r:id="rId8"/>
    <p:sldId id="490" r:id="rId9"/>
    <p:sldId id="504" r:id="rId10"/>
    <p:sldId id="505" r:id="rId11"/>
    <p:sldId id="506" r:id="rId12"/>
    <p:sldId id="507" r:id="rId13"/>
    <p:sldId id="495" r:id="rId14"/>
    <p:sldId id="508" r:id="rId15"/>
    <p:sldId id="509" r:id="rId16"/>
    <p:sldId id="496" r:id="rId17"/>
    <p:sldId id="510" r:id="rId18"/>
    <p:sldId id="676" r:id="rId19"/>
    <p:sldId id="588" r:id="rId20"/>
    <p:sldId id="656" r:id="rId21"/>
    <p:sldId id="675" r:id="rId22"/>
    <p:sldId id="657" r:id="rId23"/>
    <p:sldId id="589" r:id="rId24"/>
    <p:sldId id="671" r:id="rId25"/>
    <p:sldId id="611" r:id="rId26"/>
    <p:sldId id="670" r:id="rId27"/>
    <p:sldId id="669" r:id="rId28"/>
    <p:sldId id="590" r:id="rId29"/>
    <p:sldId id="654" r:id="rId30"/>
    <p:sldId id="680" r:id="rId31"/>
    <p:sldId id="679" r:id="rId32"/>
    <p:sldId id="678" r:id="rId33"/>
    <p:sldId id="681" r:id="rId34"/>
    <p:sldId id="682" r:id="rId35"/>
    <p:sldId id="683" r:id="rId36"/>
    <p:sldId id="684" r:id="rId37"/>
    <p:sldId id="30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422"/>
    <a:srgbClr val="5B9BD5"/>
    <a:srgbClr val="333F50"/>
    <a:srgbClr val="9DC3E6"/>
    <a:srgbClr val="161A3E"/>
    <a:srgbClr val="1A161A"/>
    <a:srgbClr val="1C1A55"/>
    <a:srgbClr val="1A163E"/>
    <a:srgbClr val="1C1A56"/>
    <a:srgbClr val="1D1B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682009-DBAB-2D11-C0C6-EC6F4CC4AD5C}" v="1" dt="2024-07-16T10:29:40.2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23-07-2025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3</a:t>
            </a:fld>
            <a:endParaRPr lang="en-IN"/>
          </a:p>
        </p:txBody>
      </p:sp>
    </p:spTree>
    <p:extLst>
      <p:ext uri="{BB962C8B-B14F-4D97-AF65-F5344CB8AC3E}">
        <p14:creationId xmlns:p14="http://schemas.microsoft.com/office/powerpoint/2010/main" val="1577107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4</a:t>
            </a:fld>
            <a:endParaRPr lang="en-IN"/>
          </a:p>
        </p:txBody>
      </p:sp>
    </p:spTree>
    <p:extLst>
      <p:ext uri="{BB962C8B-B14F-4D97-AF65-F5344CB8AC3E}">
        <p14:creationId xmlns:p14="http://schemas.microsoft.com/office/powerpoint/2010/main" val="1366514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4069918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dirty="0"/>
          </a:p>
        </p:txBody>
      </p:sp>
    </p:spTree>
    <p:extLst>
      <p:ext uri="{BB962C8B-B14F-4D97-AF65-F5344CB8AC3E}">
        <p14:creationId xmlns:p14="http://schemas.microsoft.com/office/powerpoint/2010/main" val="275531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13</a:t>
            </a:fld>
            <a:endParaRPr lang="en-IN"/>
          </a:p>
        </p:txBody>
      </p:sp>
    </p:spTree>
    <p:extLst>
      <p:ext uri="{BB962C8B-B14F-4D97-AF65-F5344CB8AC3E}">
        <p14:creationId xmlns:p14="http://schemas.microsoft.com/office/powerpoint/2010/main" val="36793080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14</a:t>
            </a:fld>
            <a:endParaRPr lang="en-IN"/>
          </a:p>
        </p:txBody>
      </p:sp>
    </p:spTree>
    <p:extLst>
      <p:ext uri="{BB962C8B-B14F-4D97-AF65-F5344CB8AC3E}">
        <p14:creationId xmlns:p14="http://schemas.microsoft.com/office/powerpoint/2010/main" val="2270161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15</a:t>
            </a:fld>
            <a:endParaRPr lang="en-IN"/>
          </a:p>
        </p:txBody>
      </p:sp>
    </p:spTree>
    <p:extLst>
      <p:ext uri="{BB962C8B-B14F-4D97-AF65-F5344CB8AC3E}">
        <p14:creationId xmlns:p14="http://schemas.microsoft.com/office/powerpoint/2010/main" val="2741101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18</a:t>
            </a:fld>
            <a:endParaRPr lang="en-IN" dirty="0"/>
          </a:p>
        </p:txBody>
      </p:sp>
    </p:spTree>
    <p:extLst>
      <p:ext uri="{BB962C8B-B14F-4D97-AF65-F5344CB8AC3E}">
        <p14:creationId xmlns:p14="http://schemas.microsoft.com/office/powerpoint/2010/main" val="28955768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20</a:t>
            </a:fld>
            <a:endParaRPr lang="en-IN" dirty="0"/>
          </a:p>
        </p:txBody>
      </p:sp>
    </p:spTree>
    <p:extLst>
      <p:ext uri="{BB962C8B-B14F-4D97-AF65-F5344CB8AC3E}">
        <p14:creationId xmlns:p14="http://schemas.microsoft.com/office/powerpoint/2010/main" val="2859625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21</a:t>
            </a:fld>
            <a:endParaRPr lang="en-IN" dirty="0"/>
          </a:p>
        </p:txBody>
      </p:sp>
    </p:spTree>
    <p:extLst>
      <p:ext uri="{BB962C8B-B14F-4D97-AF65-F5344CB8AC3E}">
        <p14:creationId xmlns:p14="http://schemas.microsoft.com/office/powerpoint/2010/main" val="21754022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22</a:t>
            </a:fld>
            <a:endParaRPr lang="en-IN" dirty="0"/>
          </a:p>
        </p:txBody>
      </p:sp>
    </p:spTree>
    <p:extLst>
      <p:ext uri="{BB962C8B-B14F-4D97-AF65-F5344CB8AC3E}">
        <p14:creationId xmlns:p14="http://schemas.microsoft.com/office/powerpoint/2010/main" val="1523504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23</a:t>
            </a:fld>
            <a:endParaRPr lang="en-IN" dirty="0"/>
          </a:p>
        </p:txBody>
      </p:sp>
    </p:spTree>
    <p:extLst>
      <p:ext uri="{BB962C8B-B14F-4D97-AF65-F5344CB8AC3E}">
        <p14:creationId xmlns:p14="http://schemas.microsoft.com/office/powerpoint/2010/main" val="3107244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24</a:t>
            </a:fld>
            <a:endParaRPr lang="en-IN" dirty="0"/>
          </a:p>
        </p:txBody>
      </p:sp>
    </p:spTree>
    <p:extLst>
      <p:ext uri="{BB962C8B-B14F-4D97-AF65-F5344CB8AC3E}">
        <p14:creationId xmlns:p14="http://schemas.microsoft.com/office/powerpoint/2010/main" val="12297368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25</a:t>
            </a:fld>
            <a:endParaRPr lang="en-IN" dirty="0"/>
          </a:p>
        </p:txBody>
      </p:sp>
    </p:spTree>
    <p:extLst>
      <p:ext uri="{BB962C8B-B14F-4D97-AF65-F5344CB8AC3E}">
        <p14:creationId xmlns:p14="http://schemas.microsoft.com/office/powerpoint/2010/main" val="4022704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26</a:t>
            </a:fld>
            <a:endParaRPr lang="en-IN" dirty="0"/>
          </a:p>
        </p:txBody>
      </p:sp>
    </p:spTree>
    <p:extLst>
      <p:ext uri="{BB962C8B-B14F-4D97-AF65-F5344CB8AC3E}">
        <p14:creationId xmlns:p14="http://schemas.microsoft.com/office/powerpoint/2010/main" val="4083317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27</a:t>
            </a:fld>
            <a:endParaRPr lang="en-IN" dirty="0"/>
          </a:p>
        </p:txBody>
      </p:sp>
    </p:spTree>
    <p:extLst>
      <p:ext uri="{BB962C8B-B14F-4D97-AF65-F5344CB8AC3E}">
        <p14:creationId xmlns:p14="http://schemas.microsoft.com/office/powerpoint/2010/main" val="699564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28</a:t>
            </a:fld>
            <a:endParaRPr lang="en-IN" dirty="0"/>
          </a:p>
        </p:txBody>
      </p:sp>
    </p:spTree>
    <p:extLst>
      <p:ext uri="{BB962C8B-B14F-4D97-AF65-F5344CB8AC3E}">
        <p14:creationId xmlns:p14="http://schemas.microsoft.com/office/powerpoint/2010/main" val="2755313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Answer 1: Calculate Tax</a:t>
            </a:r>
            <a:endParaRPr lang="en-US" dirty="0"/>
          </a:p>
          <a:p>
            <a:br>
              <a:rPr lang="en-US" dirty="0">
                <a:cs typeface="+mn-lt"/>
              </a:rPr>
            </a:br>
            <a:r>
              <a:rPr lang="en-US" dirty="0"/>
              <a:t># Question 1: Calculate Tax</a:t>
            </a:r>
            <a:endParaRPr lang="en-US" dirty="0">
              <a:cs typeface="Calibri" panose="020F0502020204030204"/>
            </a:endParaRPr>
          </a:p>
          <a:p>
            <a:r>
              <a:rPr lang="en-US" dirty="0"/>
              <a:t>income = float(input("Enter your income: $"))</a:t>
            </a:r>
            <a:endParaRPr lang="en-US" dirty="0">
              <a:cs typeface="Calibri"/>
            </a:endParaRPr>
          </a:p>
          <a:p>
            <a:r>
              <a:rPr lang="en-US" dirty="0" err="1"/>
              <a:t>tax_rate</a:t>
            </a:r>
            <a:r>
              <a:rPr lang="en-US" dirty="0"/>
              <a:t> = 0.15</a:t>
            </a:r>
            <a:endParaRPr lang="en-US" dirty="0">
              <a:cs typeface="Calibri"/>
            </a:endParaRPr>
          </a:p>
          <a:p>
            <a:r>
              <a:rPr lang="en-US" dirty="0"/>
              <a:t> </a:t>
            </a:r>
            <a:endParaRPr lang="en-US" dirty="0">
              <a:cs typeface="Calibri"/>
            </a:endParaRPr>
          </a:p>
          <a:p>
            <a:r>
              <a:rPr lang="en-US" dirty="0"/>
              <a:t>if income &gt; 50000:</a:t>
            </a:r>
            <a:endParaRPr lang="en-US" dirty="0">
              <a:cs typeface="Calibri"/>
            </a:endParaRPr>
          </a:p>
          <a:p>
            <a:r>
              <a:rPr lang="en-US" dirty="0"/>
              <a:t>    </a:t>
            </a:r>
            <a:r>
              <a:rPr lang="en-US" dirty="0" err="1"/>
              <a:t>tax_rate</a:t>
            </a:r>
            <a:r>
              <a:rPr lang="en-US" dirty="0"/>
              <a:t> = 0.20</a:t>
            </a:r>
            <a:endParaRPr lang="en-US" dirty="0">
              <a:cs typeface="Calibri"/>
            </a:endParaRPr>
          </a:p>
          <a:p>
            <a:r>
              <a:rPr lang="en-US" dirty="0"/>
              <a:t> </a:t>
            </a:r>
            <a:endParaRPr lang="en-US" dirty="0">
              <a:cs typeface="Calibri"/>
            </a:endParaRPr>
          </a:p>
          <a:p>
            <a:r>
              <a:rPr lang="en-US" dirty="0" err="1"/>
              <a:t>tax_amount</a:t>
            </a:r>
            <a:r>
              <a:rPr lang="en-US" dirty="0"/>
              <a:t> = income * </a:t>
            </a:r>
            <a:r>
              <a:rPr lang="en-US" dirty="0" err="1"/>
              <a:t>tax_rate</a:t>
            </a:r>
            <a:endParaRPr lang="en-US" dirty="0" err="1">
              <a:cs typeface="Calibri"/>
            </a:endParaRPr>
          </a:p>
          <a:p>
            <a:r>
              <a:rPr lang="en-US" dirty="0"/>
              <a:t>print(</a:t>
            </a:r>
            <a:r>
              <a:rPr lang="en-US" dirty="0" err="1"/>
              <a:t>f"Your</a:t>
            </a:r>
            <a:r>
              <a:rPr lang="en-US" dirty="0"/>
              <a:t> tax amount is: ${</a:t>
            </a:r>
            <a:r>
              <a:rPr lang="en-US" dirty="0" err="1"/>
              <a:t>tax_amount</a:t>
            </a:r>
            <a:r>
              <a:rPr lang="en-US" dirty="0"/>
              <a:t>}")</a:t>
            </a:r>
            <a:endParaRPr lang="en-US" dirty="0">
              <a:cs typeface="Calibri"/>
            </a:endParaRPr>
          </a:p>
          <a:p>
            <a:endParaRPr lang="en-US" dirty="0">
              <a:cs typeface="+mn-lt"/>
            </a:endParaRPr>
          </a:p>
          <a:p>
            <a:r>
              <a:rPr lang="en-US" b="1" dirty="0"/>
              <a:t>Answer 2: Budget Analysis</a:t>
            </a:r>
            <a:endParaRPr lang="en-US" dirty="0"/>
          </a:p>
          <a:p>
            <a:br>
              <a:rPr lang="en-US" dirty="0">
                <a:cs typeface="+mn-lt"/>
              </a:rPr>
            </a:br>
            <a:r>
              <a:rPr lang="en-US" dirty="0"/>
              <a:t># Question 2: Budget Analysis</a:t>
            </a:r>
            <a:endParaRPr lang="en-US" dirty="0">
              <a:cs typeface="Calibri" panose="020F0502020204030204"/>
            </a:endParaRPr>
          </a:p>
          <a:p>
            <a:r>
              <a:rPr lang="en-US" dirty="0"/>
              <a:t>budget = float(input("Enter your budget: $"))</a:t>
            </a:r>
            <a:endParaRPr lang="en-US" dirty="0">
              <a:cs typeface="Calibri"/>
            </a:endParaRPr>
          </a:p>
          <a:p>
            <a:r>
              <a:rPr lang="en-US" dirty="0"/>
              <a:t>expenses = float(input("Enter your total expenses: $"))</a:t>
            </a:r>
            <a:endParaRPr lang="en-US" dirty="0">
              <a:cs typeface="Calibri"/>
            </a:endParaRPr>
          </a:p>
          <a:p>
            <a:r>
              <a:rPr lang="en-US" dirty="0"/>
              <a:t> </a:t>
            </a:r>
            <a:endParaRPr lang="en-US" dirty="0">
              <a:cs typeface="Calibri"/>
            </a:endParaRPr>
          </a:p>
          <a:p>
            <a:r>
              <a:rPr lang="en-US" dirty="0"/>
              <a:t>if expenses &gt; budget:</a:t>
            </a:r>
            <a:endParaRPr lang="en-US" dirty="0">
              <a:cs typeface="Calibri"/>
            </a:endParaRPr>
          </a:p>
          <a:p>
            <a:r>
              <a:rPr lang="en-US" dirty="0"/>
              <a:t>    print("You have exceeded your budget.")</a:t>
            </a:r>
            <a:endParaRPr lang="en-US" dirty="0">
              <a:cs typeface="Calibri"/>
            </a:endParaRPr>
          </a:p>
          <a:p>
            <a:r>
              <a:rPr lang="en-US" dirty="0"/>
              <a:t>else:</a:t>
            </a:r>
            <a:endParaRPr lang="en-US" dirty="0">
              <a:cs typeface="Calibri"/>
            </a:endParaRPr>
          </a:p>
          <a:p>
            <a:r>
              <a:rPr lang="en-US" dirty="0"/>
              <a:t>    print("You are within your budget.")</a:t>
            </a:r>
            <a:endParaRPr lang="en-US" dirty="0">
              <a:cs typeface="Calibri"/>
            </a:endParaRPr>
          </a:p>
          <a:p>
            <a:endParaRPr lang="en-US" dirty="0">
              <a:cs typeface="+mn-lt"/>
            </a:endParaRPr>
          </a:p>
          <a:p>
            <a:r>
              <a:rPr lang="en-US" b="1" dirty="0"/>
              <a:t>Answer 3: Retirement Savings</a:t>
            </a:r>
            <a:endParaRPr lang="en-US" dirty="0"/>
          </a:p>
          <a:p>
            <a:br>
              <a:rPr lang="en-US" dirty="0">
                <a:cs typeface="+mn-lt"/>
              </a:rPr>
            </a:br>
            <a:r>
              <a:rPr lang="en-US" dirty="0"/>
              <a:t># Question 3: Retirement Savings</a:t>
            </a:r>
            <a:endParaRPr lang="en-US" dirty="0">
              <a:cs typeface="Calibri" panose="020F0502020204030204"/>
            </a:endParaRPr>
          </a:p>
          <a:p>
            <a:r>
              <a:rPr lang="en-US" dirty="0"/>
              <a:t>age = int(input("Enter your age: "))</a:t>
            </a:r>
            <a:endParaRPr lang="en-US" dirty="0">
              <a:cs typeface="Calibri"/>
            </a:endParaRPr>
          </a:p>
          <a:p>
            <a:r>
              <a:rPr lang="en-US" dirty="0"/>
              <a:t>income = float(input("Enter your annual income: $"))</a:t>
            </a:r>
            <a:endParaRPr lang="en-US" dirty="0">
              <a:cs typeface="Calibri"/>
            </a:endParaRPr>
          </a:p>
          <a:p>
            <a:r>
              <a:rPr lang="en-US" dirty="0"/>
              <a:t> </a:t>
            </a:r>
            <a:endParaRPr lang="en-US" dirty="0">
              <a:cs typeface="Calibri"/>
            </a:endParaRPr>
          </a:p>
          <a:p>
            <a:r>
              <a:rPr lang="en-US" dirty="0"/>
              <a:t>if age &lt; 30:</a:t>
            </a:r>
            <a:endParaRPr lang="en-US" dirty="0">
              <a:cs typeface="Calibri"/>
            </a:endParaRPr>
          </a:p>
          <a:p>
            <a:r>
              <a:rPr lang="en-US" dirty="0"/>
              <a:t>    </a:t>
            </a:r>
            <a:r>
              <a:rPr lang="en-US" dirty="0" err="1"/>
              <a:t>savings_goal</a:t>
            </a:r>
            <a:r>
              <a:rPr lang="en-US" dirty="0"/>
              <a:t> = 0.1 * income</a:t>
            </a:r>
            <a:endParaRPr lang="en-US" dirty="0">
              <a:cs typeface="Calibri"/>
            </a:endParaRPr>
          </a:p>
          <a:p>
            <a:r>
              <a:rPr lang="en-US" dirty="0"/>
              <a:t>else:</a:t>
            </a:r>
            <a:endParaRPr lang="en-US" dirty="0">
              <a:cs typeface="Calibri"/>
            </a:endParaRPr>
          </a:p>
          <a:p>
            <a:r>
              <a:rPr lang="en-US" dirty="0"/>
              <a:t>    </a:t>
            </a:r>
            <a:r>
              <a:rPr lang="en-US" dirty="0" err="1"/>
              <a:t>savings_goal</a:t>
            </a:r>
            <a:r>
              <a:rPr lang="en-US" dirty="0"/>
              <a:t> = 0.2 * income</a:t>
            </a:r>
            <a:endParaRPr lang="en-US" dirty="0">
              <a:cs typeface="Calibri"/>
            </a:endParaRPr>
          </a:p>
          <a:p>
            <a:r>
              <a:rPr lang="en-US" dirty="0"/>
              <a:t> </a:t>
            </a:r>
            <a:endParaRPr lang="en-US" dirty="0">
              <a:cs typeface="Calibri"/>
            </a:endParaRPr>
          </a:p>
          <a:p>
            <a:r>
              <a:rPr lang="en-US" dirty="0"/>
              <a:t>print(</a:t>
            </a:r>
            <a:r>
              <a:rPr lang="en-US" dirty="0" err="1"/>
              <a:t>f"Your</a:t>
            </a:r>
            <a:r>
              <a:rPr lang="en-US" dirty="0"/>
              <a:t> retirement savings goal is: ${</a:t>
            </a:r>
            <a:r>
              <a:rPr lang="en-US" dirty="0" err="1"/>
              <a:t>savings_goal</a:t>
            </a:r>
            <a:r>
              <a:rPr lang="en-US" dirty="0"/>
              <a:t>}")</a:t>
            </a:r>
            <a:endParaRPr lang="en-US" dirty="0">
              <a:cs typeface="Calibri"/>
            </a:endParaRPr>
          </a:p>
          <a:p>
            <a:endParaRPr lang="en-US" dirty="0">
              <a:cs typeface="+mn-lt"/>
            </a:endParaRPr>
          </a:p>
          <a:p>
            <a:endParaRPr lang="en-US" dirty="0">
              <a:ea typeface="Calibri"/>
              <a:cs typeface="Calibri"/>
            </a:endParaRPr>
          </a:p>
          <a:p>
            <a:r>
              <a:rPr lang="en-US" b="1" dirty="0"/>
              <a:t>Answer 4: Loan Approval</a:t>
            </a:r>
            <a:endParaRPr lang="en-US" dirty="0"/>
          </a:p>
          <a:p>
            <a:endParaRPr lang="en-US" dirty="0">
              <a:cs typeface="+mn-lt"/>
            </a:endParaRPr>
          </a:p>
          <a:p>
            <a:r>
              <a:rPr lang="en-US" dirty="0"/>
              <a:t># Question 4: Loan Approval</a:t>
            </a:r>
            <a:endParaRPr lang="en-US" dirty="0">
              <a:cs typeface="Calibri" panose="020F0502020204030204"/>
            </a:endParaRPr>
          </a:p>
          <a:p>
            <a:r>
              <a:rPr lang="en-US" dirty="0" err="1"/>
              <a:t>credit_score</a:t>
            </a:r>
            <a:r>
              <a:rPr lang="en-US" dirty="0"/>
              <a:t> = int(input("Enter your credit score: "))</a:t>
            </a:r>
            <a:endParaRPr lang="en-US" dirty="0">
              <a:cs typeface="Calibri"/>
            </a:endParaRPr>
          </a:p>
          <a:p>
            <a:r>
              <a:rPr lang="en-US" dirty="0"/>
              <a:t> </a:t>
            </a:r>
            <a:endParaRPr lang="en-US" dirty="0">
              <a:cs typeface="Calibri"/>
            </a:endParaRPr>
          </a:p>
          <a:p>
            <a:r>
              <a:rPr lang="en-US" dirty="0"/>
              <a:t>if </a:t>
            </a:r>
            <a:r>
              <a:rPr lang="en-US" dirty="0" err="1"/>
              <a:t>credit_score</a:t>
            </a:r>
            <a:r>
              <a:rPr lang="en-US" dirty="0"/>
              <a:t> &gt;= 700:</a:t>
            </a:r>
            <a:endParaRPr lang="en-US" dirty="0">
              <a:cs typeface="Calibri"/>
            </a:endParaRPr>
          </a:p>
          <a:p>
            <a:r>
              <a:rPr lang="en-US" dirty="0"/>
              <a:t>    </a:t>
            </a:r>
            <a:r>
              <a:rPr lang="en-US" dirty="0" err="1"/>
              <a:t>loan_approval</a:t>
            </a:r>
            <a:r>
              <a:rPr lang="en-US" dirty="0"/>
              <a:t> = "Approved"</a:t>
            </a:r>
            <a:endParaRPr lang="en-US" dirty="0">
              <a:cs typeface="Calibri"/>
            </a:endParaRPr>
          </a:p>
          <a:p>
            <a:r>
              <a:rPr lang="en-US" dirty="0"/>
              <a:t>else:</a:t>
            </a:r>
            <a:endParaRPr lang="en-US" dirty="0">
              <a:cs typeface="Calibri"/>
            </a:endParaRPr>
          </a:p>
          <a:p>
            <a:r>
              <a:rPr lang="en-US" dirty="0"/>
              <a:t>    </a:t>
            </a:r>
            <a:r>
              <a:rPr lang="en-US" dirty="0" err="1"/>
              <a:t>loan_approval</a:t>
            </a:r>
            <a:r>
              <a:rPr lang="en-US" dirty="0"/>
              <a:t> = "Denied"</a:t>
            </a:r>
            <a:endParaRPr lang="en-US" dirty="0">
              <a:cs typeface="Calibri"/>
            </a:endParaRPr>
          </a:p>
          <a:p>
            <a:r>
              <a:rPr lang="en-US" dirty="0"/>
              <a:t> </a:t>
            </a:r>
            <a:endParaRPr lang="en-US" dirty="0">
              <a:cs typeface="Calibri"/>
            </a:endParaRPr>
          </a:p>
          <a:p>
            <a:r>
              <a:rPr lang="en-US" dirty="0"/>
              <a:t>print(</a:t>
            </a:r>
            <a:r>
              <a:rPr lang="en-US" dirty="0" err="1"/>
              <a:t>f"Loan</a:t>
            </a:r>
            <a:r>
              <a:rPr lang="en-US" dirty="0"/>
              <a:t> {</a:t>
            </a:r>
            <a:r>
              <a:rPr lang="en-US" dirty="0" err="1"/>
              <a:t>loan_approval</a:t>
            </a:r>
            <a:r>
              <a:rPr lang="en-US" dirty="0"/>
              <a:t>}")</a:t>
            </a:r>
            <a:endParaRPr lang="en-US" dirty="0">
              <a:cs typeface="Calibri"/>
            </a:endParaRPr>
          </a:p>
          <a:p>
            <a:endParaRPr lang="en-US" dirty="0">
              <a:ea typeface="Calibri"/>
              <a:cs typeface="Calibri"/>
            </a:endParaRPr>
          </a:p>
          <a:p>
            <a:endParaRPr lang="en-IN" b="1"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29</a:t>
            </a:fld>
            <a:endParaRPr lang="en-IN"/>
          </a:p>
        </p:txBody>
      </p:sp>
    </p:spTree>
    <p:extLst>
      <p:ext uri="{BB962C8B-B14F-4D97-AF65-F5344CB8AC3E}">
        <p14:creationId xmlns:p14="http://schemas.microsoft.com/office/powerpoint/2010/main" val="24039291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30</a:t>
            </a:fld>
            <a:endParaRPr lang="en-IN" dirty="0"/>
          </a:p>
        </p:txBody>
      </p:sp>
    </p:spTree>
    <p:extLst>
      <p:ext uri="{BB962C8B-B14F-4D97-AF65-F5344CB8AC3E}">
        <p14:creationId xmlns:p14="http://schemas.microsoft.com/office/powerpoint/2010/main" val="40699189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31</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32</a:t>
            </a:fld>
            <a:endParaRPr lang="en-IN" dirty="0"/>
          </a:p>
        </p:txBody>
      </p:sp>
    </p:spTree>
    <p:extLst>
      <p:ext uri="{BB962C8B-B14F-4D97-AF65-F5344CB8AC3E}">
        <p14:creationId xmlns:p14="http://schemas.microsoft.com/office/powerpoint/2010/main" val="36638658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Answer 1: Monthly Savings with Interest (Using a For Loop)</a:t>
            </a:r>
            <a:endParaRPr lang="en-US" dirty="0"/>
          </a:p>
          <a:p>
            <a:br>
              <a:rPr lang="en-US" dirty="0">
                <a:cs typeface="+mn-lt"/>
              </a:rPr>
            </a:br>
            <a:r>
              <a:rPr lang="en-US" dirty="0"/>
              <a:t># Question 1: Monthly Savings with Interest (Using a For Loop)</a:t>
            </a:r>
            <a:endParaRPr lang="en-US" dirty="0">
              <a:cs typeface="Calibri" panose="020F0502020204030204"/>
            </a:endParaRPr>
          </a:p>
          <a:p>
            <a:r>
              <a:rPr lang="en-US" dirty="0"/>
              <a:t> </a:t>
            </a:r>
            <a:endParaRPr lang="en-US" dirty="0">
              <a:cs typeface="Calibri"/>
            </a:endParaRPr>
          </a:p>
          <a:p>
            <a:r>
              <a:rPr lang="en-US" dirty="0" err="1"/>
              <a:t>monthly_deposit</a:t>
            </a:r>
            <a:r>
              <a:rPr lang="en-US" dirty="0"/>
              <a:t> = float(input("Enter the monthly deposit amount: $"))</a:t>
            </a:r>
            <a:endParaRPr lang="en-US" dirty="0">
              <a:cs typeface="Calibri"/>
            </a:endParaRPr>
          </a:p>
          <a:p>
            <a:r>
              <a:rPr lang="en-US" dirty="0" err="1"/>
              <a:t>annual_interest_rate</a:t>
            </a:r>
            <a:r>
              <a:rPr lang="en-US" dirty="0"/>
              <a:t> = float(input("Enter the annual interest rate (in percentage): "))</a:t>
            </a:r>
            <a:endParaRPr lang="en-US" dirty="0">
              <a:cs typeface="Calibri"/>
            </a:endParaRPr>
          </a:p>
          <a:p>
            <a:r>
              <a:rPr lang="en-US" dirty="0" err="1"/>
              <a:t>num_of_months</a:t>
            </a:r>
            <a:r>
              <a:rPr lang="en-US" dirty="0"/>
              <a:t> = int(input("Enter the number of months: "))</a:t>
            </a:r>
            <a:endParaRPr lang="en-US" dirty="0">
              <a:cs typeface="Calibri"/>
            </a:endParaRPr>
          </a:p>
          <a:p>
            <a:r>
              <a:rPr lang="en-US" dirty="0"/>
              <a:t> </a:t>
            </a:r>
            <a:endParaRPr lang="en-US" dirty="0">
              <a:cs typeface="Calibri"/>
            </a:endParaRPr>
          </a:p>
          <a:p>
            <a:r>
              <a:rPr lang="en-US" dirty="0" err="1"/>
              <a:t>monthly_interest_rate</a:t>
            </a:r>
            <a:r>
              <a:rPr lang="en-US" dirty="0"/>
              <a:t> = </a:t>
            </a:r>
            <a:r>
              <a:rPr lang="en-US" dirty="0" err="1"/>
              <a:t>annual_interest_rate</a:t>
            </a:r>
            <a:r>
              <a:rPr lang="en-US" dirty="0"/>
              <a:t> / 12 / 100</a:t>
            </a:r>
            <a:endParaRPr lang="en-US" dirty="0">
              <a:cs typeface="Calibri"/>
            </a:endParaRPr>
          </a:p>
          <a:p>
            <a:r>
              <a:rPr lang="en-US" dirty="0" err="1"/>
              <a:t>total_savings</a:t>
            </a:r>
            <a:r>
              <a:rPr lang="en-US" dirty="0"/>
              <a:t> = 0</a:t>
            </a:r>
            <a:endParaRPr lang="en-US" dirty="0">
              <a:cs typeface="Calibri"/>
            </a:endParaRPr>
          </a:p>
          <a:p>
            <a:r>
              <a:rPr lang="en-US" dirty="0"/>
              <a:t> </a:t>
            </a:r>
            <a:endParaRPr lang="en-US" dirty="0">
              <a:cs typeface="Calibri"/>
            </a:endParaRPr>
          </a:p>
          <a:p>
            <a:r>
              <a:rPr lang="en-US" dirty="0"/>
              <a:t>for month in range(1, </a:t>
            </a:r>
            <a:r>
              <a:rPr lang="en-US" dirty="0" err="1"/>
              <a:t>num_of_months</a:t>
            </a:r>
            <a:r>
              <a:rPr lang="en-US" dirty="0"/>
              <a:t> + 1):</a:t>
            </a:r>
            <a:endParaRPr lang="en-US" dirty="0">
              <a:cs typeface="Calibri"/>
            </a:endParaRPr>
          </a:p>
          <a:p>
            <a:r>
              <a:rPr lang="en-US" dirty="0"/>
              <a:t>    </a:t>
            </a:r>
            <a:r>
              <a:rPr lang="en-US" dirty="0" err="1"/>
              <a:t>total_savings</a:t>
            </a:r>
            <a:r>
              <a:rPr lang="en-US" dirty="0"/>
              <a:t> = </a:t>
            </a:r>
            <a:r>
              <a:rPr lang="en-US" dirty="0" err="1"/>
              <a:t>total_savings</a:t>
            </a:r>
            <a:r>
              <a:rPr lang="en-US" dirty="0"/>
              <a:t> + </a:t>
            </a:r>
            <a:r>
              <a:rPr lang="en-US" dirty="0" err="1"/>
              <a:t>monthly_deposit</a:t>
            </a:r>
            <a:endParaRPr lang="en-US" dirty="0" err="1">
              <a:cs typeface="Calibri"/>
            </a:endParaRPr>
          </a:p>
          <a:p>
            <a:r>
              <a:rPr lang="en-US" dirty="0"/>
              <a:t>    </a:t>
            </a:r>
            <a:r>
              <a:rPr lang="en-US" dirty="0" err="1"/>
              <a:t>total_savings</a:t>
            </a:r>
            <a:r>
              <a:rPr lang="en-US" dirty="0"/>
              <a:t> = </a:t>
            </a:r>
            <a:r>
              <a:rPr lang="en-US" dirty="0" err="1"/>
              <a:t>total_savings</a:t>
            </a:r>
            <a:r>
              <a:rPr lang="en-US" dirty="0"/>
              <a:t> * (1 + </a:t>
            </a:r>
            <a:r>
              <a:rPr lang="en-US" dirty="0" err="1"/>
              <a:t>monthly_interest_rate</a:t>
            </a:r>
            <a:r>
              <a:rPr lang="en-US" dirty="0"/>
              <a:t>)</a:t>
            </a:r>
            <a:endParaRPr lang="en-US" dirty="0">
              <a:cs typeface="Calibri"/>
            </a:endParaRPr>
          </a:p>
          <a:p>
            <a:r>
              <a:rPr lang="en-US" dirty="0"/>
              <a:t> </a:t>
            </a:r>
            <a:endParaRPr lang="en-US" dirty="0">
              <a:cs typeface="Calibri"/>
            </a:endParaRPr>
          </a:p>
          <a:p>
            <a:r>
              <a:rPr lang="en-US" dirty="0"/>
              <a:t>print(</a:t>
            </a:r>
            <a:r>
              <a:rPr lang="en-US" dirty="0" err="1"/>
              <a:t>f"After</a:t>
            </a:r>
            <a:r>
              <a:rPr lang="en-US" dirty="0"/>
              <a:t> {</a:t>
            </a:r>
            <a:r>
              <a:rPr lang="en-US" dirty="0" err="1"/>
              <a:t>num_of_months</a:t>
            </a:r>
            <a:r>
              <a:rPr lang="en-US" dirty="0"/>
              <a:t>} months, your total savings will be: ${total_savings:.2f}")</a:t>
            </a:r>
            <a:endParaRPr lang="en-US" dirty="0">
              <a:cs typeface="Calibri"/>
            </a:endParaRPr>
          </a:p>
          <a:p>
            <a:endParaRPr lang="en-US" dirty="0">
              <a:cs typeface="+mn-lt"/>
            </a:endParaRPr>
          </a:p>
          <a:p>
            <a:endParaRPr lang="en-US" dirty="0">
              <a:cs typeface="Calibri"/>
            </a:endParaRPr>
          </a:p>
          <a:p>
            <a:r>
              <a:rPr lang="en-US" b="1" dirty="0"/>
              <a:t>Answer 2: Debt Repayment Plan (Using a While Loop)</a:t>
            </a:r>
            <a:endParaRPr lang="en-US" dirty="0"/>
          </a:p>
          <a:p>
            <a:br>
              <a:rPr lang="en-US" dirty="0">
                <a:cs typeface="+mn-lt"/>
              </a:rPr>
            </a:br>
            <a:r>
              <a:rPr lang="en-US"/>
              <a:t># Question 2: Debt Repayment Plan (Using a While Loop)</a:t>
            </a:r>
            <a:endParaRPr lang="en-US" dirty="0">
              <a:cs typeface="Calibri" panose="020F0502020204030204"/>
            </a:endParaRPr>
          </a:p>
          <a:p>
            <a:r>
              <a:rPr lang="en-US" dirty="0"/>
              <a:t> </a:t>
            </a:r>
            <a:endParaRPr lang="en-US" dirty="0">
              <a:cs typeface="Calibri" panose="020F0502020204030204"/>
            </a:endParaRPr>
          </a:p>
          <a:p>
            <a:r>
              <a:rPr lang="en-US" dirty="0" err="1"/>
              <a:t>initial_debt</a:t>
            </a:r>
            <a:r>
              <a:rPr lang="en-US" dirty="0"/>
              <a:t> = float(input("Enter the initial debt amount: $"))</a:t>
            </a:r>
            <a:endParaRPr lang="en-US" dirty="0">
              <a:cs typeface="Calibri"/>
            </a:endParaRPr>
          </a:p>
          <a:p>
            <a:r>
              <a:rPr lang="en-US" dirty="0" err="1"/>
              <a:t>monthly_payment</a:t>
            </a:r>
            <a:r>
              <a:rPr lang="en-US" dirty="0"/>
              <a:t> = float(input("Enter the monthly payment amount: $"))</a:t>
            </a:r>
            <a:endParaRPr lang="en-US" dirty="0">
              <a:cs typeface="Calibri"/>
            </a:endParaRPr>
          </a:p>
          <a:p>
            <a:r>
              <a:rPr lang="en-US" dirty="0" err="1"/>
              <a:t>annual_interest_rate</a:t>
            </a:r>
            <a:r>
              <a:rPr lang="en-US" dirty="0"/>
              <a:t> = float(input("Enter the annual interest rate (in percentage): "))</a:t>
            </a:r>
            <a:endParaRPr lang="en-US" dirty="0">
              <a:cs typeface="Calibri"/>
            </a:endParaRPr>
          </a:p>
          <a:p>
            <a:r>
              <a:rPr lang="en-US" dirty="0"/>
              <a:t> </a:t>
            </a:r>
            <a:endParaRPr lang="en-US" dirty="0">
              <a:cs typeface="Calibri"/>
            </a:endParaRPr>
          </a:p>
          <a:p>
            <a:r>
              <a:rPr lang="en-US" dirty="0" err="1"/>
              <a:t>monthly_interest_rate</a:t>
            </a:r>
            <a:r>
              <a:rPr lang="en-US" dirty="0"/>
              <a:t> = </a:t>
            </a:r>
            <a:r>
              <a:rPr lang="en-US" dirty="0" err="1"/>
              <a:t>annual_interest_rate</a:t>
            </a:r>
            <a:r>
              <a:rPr lang="en-US" dirty="0"/>
              <a:t> / 12 / 100</a:t>
            </a:r>
            <a:endParaRPr lang="en-US" dirty="0">
              <a:cs typeface="Calibri"/>
            </a:endParaRPr>
          </a:p>
          <a:p>
            <a:r>
              <a:rPr lang="en-US" dirty="0"/>
              <a:t>months = 0</a:t>
            </a:r>
            <a:endParaRPr lang="en-US" dirty="0">
              <a:cs typeface="Calibri"/>
            </a:endParaRPr>
          </a:p>
          <a:p>
            <a:r>
              <a:rPr lang="en-US" dirty="0"/>
              <a:t> </a:t>
            </a:r>
            <a:endParaRPr lang="en-US" dirty="0">
              <a:cs typeface="Calibri"/>
            </a:endParaRPr>
          </a:p>
          <a:p>
            <a:r>
              <a:rPr lang="en-US" dirty="0"/>
              <a:t>while </a:t>
            </a:r>
            <a:r>
              <a:rPr lang="en-US" dirty="0" err="1"/>
              <a:t>initial_debt</a:t>
            </a:r>
            <a:r>
              <a:rPr lang="en-US" dirty="0"/>
              <a:t> &gt; 0:</a:t>
            </a:r>
            <a:endParaRPr lang="en-US" dirty="0">
              <a:cs typeface="Calibri"/>
            </a:endParaRPr>
          </a:p>
          <a:p>
            <a:r>
              <a:rPr lang="en-US" dirty="0"/>
              <a:t>    </a:t>
            </a:r>
            <a:r>
              <a:rPr lang="en-US" dirty="0" err="1"/>
              <a:t>initial_debt</a:t>
            </a:r>
            <a:r>
              <a:rPr lang="en-US" dirty="0"/>
              <a:t> = </a:t>
            </a:r>
            <a:r>
              <a:rPr lang="en-US" dirty="0" err="1"/>
              <a:t>initial_debt</a:t>
            </a:r>
            <a:r>
              <a:rPr lang="en-US" dirty="0"/>
              <a:t> * (1 + </a:t>
            </a:r>
            <a:r>
              <a:rPr lang="en-US" dirty="0" err="1"/>
              <a:t>monthly_interest_rate</a:t>
            </a:r>
            <a:r>
              <a:rPr lang="en-US" dirty="0"/>
              <a:t>) - </a:t>
            </a:r>
            <a:r>
              <a:rPr lang="en-US" dirty="0" err="1"/>
              <a:t>monthly_payment</a:t>
            </a:r>
            <a:endParaRPr lang="en-US" dirty="0" err="1">
              <a:cs typeface="Calibri"/>
            </a:endParaRPr>
          </a:p>
          <a:p>
            <a:r>
              <a:rPr lang="en-US" dirty="0"/>
              <a:t>    months += 1</a:t>
            </a:r>
          </a:p>
          <a:p>
            <a:r>
              <a:rPr lang="en-US" dirty="0"/>
              <a:t> </a:t>
            </a:r>
            <a:endParaRPr lang="en-US" dirty="0">
              <a:cs typeface="Calibri"/>
            </a:endParaRPr>
          </a:p>
          <a:p>
            <a:r>
              <a:rPr lang="en-US" dirty="0"/>
              <a:t>print(</a:t>
            </a:r>
            <a:r>
              <a:rPr lang="en-US" dirty="0" err="1"/>
              <a:t>f"It</a:t>
            </a:r>
            <a:r>
              <a:rPr lang="en-US" dirty="0"/>
              <a:t> will take {months} months to pay off the debt completely.")</a:t>
            </a:r>
          </a:p>
          <a:p>
            <a:endParaRPr lang="en-US" dirty="0">
              <a:cs typeface="+mn-lt"/>
            </a:endParaRPr>
          </a:p>
          <a:p>
            <a:endParaRPr lang="en-US" dirty="0">
              <a:cs typeface="Calibri"/>
            </a:endParaRPr>
          </a:p>
          <a:p>
            <a:endParaRPr lang="en-IN"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33</a:t>
            </a:fld>
            <a:endParaRPr lang="en-IN" dirty="0"/>
          </a:p>
        </p:txBody>
      </p:sp>
    </p:spTree>
    <p:extLst>
      <p:ext uri="{BB962C8B-B14F-4D97-AF65-F5344CB8AC3E}">
        <p14:creationId xmlns:p14="http://schemas.microsoft.com/office/powerpoint/2010/main" val="41612638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Answer  1: Loan Amortization Schedule</a:t>
            </a:r>
            <a:endParaRPr lang="en-US" dirty="0">
              <a:cs typeface="Calibri"/>
            </a:endParaRPr>
          </a:p>
          <a:p>
            <a:endParaRPr lang="en-US" dirty="0">
              <a:cs typeface="+mn-lt"/>
            </a:endParaRPr>
          </a:p>
          <a:p>
            <a:r>
              <a:rPr lang="en-US"/>
              <a:t>def </a:t>
            </a:r>
            <a:r>
              <a:rPr lang="en-US" err="1"/>
              <a:t>loan_amortization_schedule</a:t>
            </a:r>
            <a:r>
              <a:rPr lang="en-US"/>
              <a:t>(</a:t>
            </a:r>
            <a:r>
              <a:rPr lang="en-US" err="1"/>
              <a:t>loan_amount</a:t>
            </a:r>
            <a:r>
              <a:rPr lang="en-US"/>
              <a:t>, </a:t>
            </a:r>
            <a:r>
              <a:rPr lang="en-US" err="1"/>
              <a:t>annual_interest_rate</a:t>
            </a:r>
            <a:r>
              <a:rPr lang="en-US"/>
              <a:t>, loan_term_years):</a:t>
            </a:r>
          </a:p>
          <a:p>
            <a:r>
              <a:rPr lang="en-US" dirty="0"/>
              <a:t>    </a:t>
            </a:r>
            <a:r>
              <a:rPr lang="en-US" dirty="0" err="1"/>
              <a:t>monthly_interest_rate</a:t>
            </a:r>
            <a:r>
              <a:rPr lang="en-US" dirty="0"/>
              <a:t> = </a:t>
            </a:r>
            <a:r>
              <a:rPr lang="en-US" dirty="0" err="1"/>
              <a:t>annual_interest_rate</a:t>
            </a:r>
            <a:r>
              <a:rPr lang="en-US" dirty="0"/>
              <a:t> / 12 / 100</a:t>
            </a:r>
            <a:endParaRPr lang="en-US" dirty="0">
              <a:cs typeface="Calibri"/>
            </a:endParaRPr>
          </a:p>
          <a:p>
            <a:r>
              <a:rPr lang="en-US" dirty="0"/>
              <a:t>    </a:t>
            </a:r>
            <a:r>
              <a:rPr lang="en-US" dirty="0" err="1"/>
              <a:t>num_payments</a:t>
            </a:r>
            <a:r>
              <a:rPr lang="en-US" dirty="0"/>
              <a:t> = </a:t>
            </a:r>
            <a:r>
              <a:rPr lang="en-US" dirty="0" err="1"/>
              <a:t>loan_term_years</a:t>
            </a:r>
            <a:r>
              <a:rPr lang="en-US" dirty="0"/>
              <a:t> * 12</a:t>
            </a:r>
            <a:endParaRPr lang="en-US" dirty="0">
              <a:cs typeface="Calibri"/>
            </a:endParaRPr>
          </a:p>
          <a:p>
            <a:r>
              <a:rPr lang="en-US" dirty="0"/>
              <a:t>    </a:t>
            </a:r>
            <a:r>
              <a:rPr lang="en-US" dirty="0" err="1"/>
              <a:t>monthly_payment</a:t>
            </a:r>
            <a:r>
              <a:rPr lang="en-US" dirty="0"/>
              <a:t> = (</a:t>
            </a:r>
            <a:r>
              <a:rPr lang="en-US" dirty="0" err="1"/>
              <a:t>loan_amount</a:t>
            </a:r>
            <a:r>
              <a:rPr lang="en-US" dirty="0"/>
              <a:t> * </a:t>
            </a:r>
            <a:r>
              <a:rPr lang="en-US" dirty="0" err="1"/>
              <a:t>monthly_interest_rate</a:t>
            </a:r>
            <a:r>
              <a:rPr lang="en-US" dirty="0"/>
              <a:t>) / (1 - (1 + </a:t>
            </a:r>
            <a:r>
              <a:rPr lang="en-US" dirty="0" err="1"/>
              <a:t>monthly_interest_rate</a:t>
            </a:r>
            <a:r>
              <a:rPr lang="en-US" dirty="0"/>
              <a:t>) ** -</a:t>
            </a:r>
            <a:r>
              <a:rPr lang="en-US" dirty="0" err="1"/>
              <a:t>num_payments</a:t>
            </a:r>
            <a:r>
              <a:rPr lang="en-US" dirty="0"/>
              <a:t>)</a:t>
            </a:r>
            <a:endParaRPr lang="en-US" dirty="0">
              <a:cs typeface="Calibri"/>
            </a:endParaRPr>
          </a:p>
          <a:p>
            <a:r>
              <a:rPr lang="en-US" dirty="0"/>
              <a:t> </a:t>
            </a:r>
            <a:endParaRPr lang="en-US" dirty="0">
              <a:cs typeface="Calibri"/>
            </a:endParaRPr>
          </a:p>
          <a:p>
            <a:r>
              <a:rPr lang="en-US" dirty="0"/>
              <a:t>    schedule = []</a:t>
            </a:r>
            <a:endParaRPr lang="en-US" dirty="0">
              <a:cs typeface="Calibri"/>
            </a:endParaRPr>
          </a:p>
          <a:p>
            <a:r>
              <a:rPr lang="en-US" dirty="0"/>
              <a:t>    </a:t>
            </a:r>
            <a:r>
              <a:rPr lang="en-US" dirty="0" err="1"/>
              <a:t>remaining_balance</a:t>
            </a:r>
            <a:r>
              <a:rPr lang="en-US" dirty="0"/>
              <a:t> = </a:t>
            </a:r>
            <a:r>
              <a:rPr lang="en-US" dirty="0" err="1"/>
              <a:t>loan_amount</a:t>
            </a:r>
            <a:endParaRPr lang="en-US" dirty="0" err="1">
              <a:cs typeface="Calibri"/>
            </a:endParaRPr>
          </a:p>
          <a:p>
            <a:r>
              <a:rPr lang="en-US" dirty="0"/>
              <a:t> </a:t>
            </a:r>
            <a:endParaRPr lang="en-US" dirty="0">
              <a:cs typeface="Calibri"/>
            </a:endParaRPr>
          </a:p>
          <a:p>
            <a:r>
              <a:rPr lang="en-US" dirty="0"/>
              <a:t>    for month in range(1, </a:t>
            </a:r>
            <a:r>
              <a:rPr lang="en-US" dirty="0" err="1"/>
              <a:t>num_payments</a:t>
            </a:r>
            <a:r>
              <a:rPr lang="en-US" dirty="0"/>
              <a:t> + 1):</a:t>
            </a:r>
            <a:endParaRPr lang="en-US" dirty="0">
              <a:cs typeface="Calibri"/>
            </a:endParaRPr>
          </a:p>
          <a:p>
            <a:r>
              <a:rPr lang="en-US" dirty="0"/>
              <a:t>        </a:t>
            </a:r>
            <a:r>
              <a:rPr lang="en-US" dirty="0" err="1"/>
              <a:t>interest_payment</a:t>
            </a:r>
            <a:r>
              <a:rPr lang="en-US" dirty="0"/>
              <a:t> = </a:t>
            </a:r>
            <a:r>
              <a:rPr lang="en-US" dirty="0" err="1"/>
              <a:t>remaining_balance</a:t>
            </a:r>
            <a:r>
              <a:rPr lang="en-US" dirty="0"/>
              <a:t> * </a:t>
            </a:r>
            <a:r>
              <a:rPr lang="en-US" dirty="0" err="1"/>
              <a:t>monthly_interest_rate</a:t>
            </a:r>
            <a:endParaRPr lang="en-US" dirty="0" err="1">
              <a:cs typeface="Calibri"/>
            </a:endParaRPr>
          </a:p>
          <a:p>
            <a:r>
              <a:rPr lang="en-US" dirty="0"/>
              <a:t>        </a:t>
            </a:r>
            <a:r>
              <a:rPr lang="en-US" dirty="0" err="1"/>
              <a:t>principal_payment</a:t>
            </a:r>
            <a:r>
              <a:rPr lang="en-US" dirty="0"/>
              <a:t> = </a:t>
            </a:r>
            <a:r>
              <a:rPr lang="en-US" dirty="0" err="1"/>
              <a:t>monthly_payment</a:t>
            </a:r>
            <a:r>
              <a:rPr lang="en-US" dirty="0"/>
              <a:t> - </a:t>
            </a:r>
            <a:r>
              <a:rPr lang="en-US" dirty="0" err="1"/>
              <a:t>interest_payment</a:t>
            </a:r>
            <a:endParaRPr lang="en-US" dirty="0" err="1">
              <a:cs typeface="Calibri"/>
            </a:endParaRPr>
          </a:p>
          <a:p>
            <a:r>
              <a:rPr lang="en-US" dirty="0"/>
              <a:t>        </a:t>
            </a:r>
            <a:r>
              <a:rPr lang="en-US" dirty="0" err="1"/>
              <a:t>remaining_balance</a:t>
            </a:r>
            <a:r>
              <a:rPr lang="en-US" dirty="0"/>
              <a:t> -= </a:t>
            </a:r>
            <a:r>
              <a:rPr lang="en-US" dirty="0" err="1"/>
              <a:t>principal_payment</a:t>
            </a:r>
            <a:endParaRPr lang="en-US" dirty="0" err="1">
              <a:cs typeface="Calibri"/>
            </a:endParaRPr>
          </a:p>
          <a:p>
            <a:r>
              <a:rPr lang="en-US" dirty="0"/>
              <a:t> </a:t>
            </a:r>
            <a:endParaRPr lang="en-US" dirty="0">
              <a:cs typeface="Calibri"/>
            </a:endParaRPr>
          </a:p>
          <a:p>
            <a:r>
              <a:rPr lang="en-US" dirty="0"/>
              <a:t>        </a:t>
            </a:r>
            <a:r>
              <a:rPr lang="en-US" dirty="0" err="1"/>
              <a:t>schedule.append</a:t>
            </a:r>
            <a:r>
              <a:rPr lang="en-US" dirty="0"/>
              <a:t>({</a:t>
            </a:r>
            <a:endParaRPr lang="en-US" dirty="0">
              <a:cs typeface="Calibri"/>
            </a:endParaRPr>
          </a:p>
          <a:p>
            <a:r>
              <a:rPr lang="en-US" dirty="0"/>
              <a:t>            'Month': month,</a:t>
            </a:r>
            <a:endParaRPr lang="en-US" dirty="0">
              <a:cs typeface="Calibri"/>
            </a:endParaRPr>
          </a:p>
          <a:p>
            <a:r>
              <a:rPr lang="en-US" dirty="0"/>
              <a:t>            'Monthly Payment': round(</a:t>
            </a:r>
            <a:r>
              <a:rPr lang="en-US" dirty="0" err="1"/>
              <a:t>monthly_payment</a:t>
            </a:r>
            <a:r>
              <a:rPr lang="en-US" dirty="0"/>
              <a:t>, 2),</a:t>
            </a:r>
            <a:endParaRPr lang="en-US" dirty="0">
              <a:cs typeface="Calibri"/>
            </a:endParaRPr>
          </a:p>
          <a:p>
            <a:r>
              <a:rPr lang="en-US" dirty="0"/>
              <a:t>            'Principal Payment': round(</a:t>
            </a:r>
            <a:r>
              <a:rPr lang="en-US" dirty="0" err="1"/>
              <a:t>principal_payment</a:t>
            </a:r>
            <a:r>
              <a:rPr lang="en-US" dirty="0"/>
              <a:t>, 2),</a:t>
            </a:r>
            <a:endParaRPr lang="en-US" dirty="0">
              <a:cs typeface="Calibri"/>
            </a:endParaRPr>
          </a:p>
          <a:p>
            <a:r>
              <a:rPr lang="en-US" dirty="0"/>
              <a:t>            'Interest Payment': round(</a:t>
            </a:r>
            <a:r>
              <a:rPr lang="en-US" dirty="0" err="1"/>
              <a:t>interest_payment</a:t>
            </a:r>
            <a:r>
              <a:rPr lang="en-US" dirty="0"/>
              <a:t>, 2),</a:t>
            </a:r>
            <a:endParaRPr lang="en-US" dirty="0">
              <a:cs typeface="Calibri"/>
            </a:endParaRPr>
          </a:p>
          <a:p>
            <a:r>
              <a:rPr lang="en-US" dirty="0"/>
              <a:t>            'Remaining Balance': round(</a:t>
            </a:r>
            <a:r>
              <a:rPr lang="en-US" dirty="0" err="1"/>
              <a:t>remaining_balance</a:t>
            </a:r>
            <a:r>
              <a:rPr lang="en-US" dirty="0"/>
              <a:t>, 2)</a:t>
            </a:r>
            <a:endParaRPr lang="en-US" dirty="0">
              <a:cs typeface="Calibri"/>
            </a:endParaRPr>
          </a:p>
          <a:p>
            <a:r>
              <a:rPr lang="en-US" dirty="0"/>
              <a:t>        })</a:t>
            </a:r>
            <a:endParaRPr lang="en-US" dirty="0">
              <a:cs typeface="Calibri"/>
            </a:endParaRPr>
          </a:p>
          <a:p>
            <a:r>
              <a:rPr lang="en-US" dirty="0"/>
              <a:t> </a:t>
            </a:r>
            <a:endParaRPr lang="en-US" dirty="0">
              <a:cs typeface="Calibri"/>
            </a:endParaRPr>
          </a:p>
          <a:p>
            <a:r>
              <a:rPr lang="en-US" dirty="0"/>
              <a:t>    return schedule</a:t>
            </a:r>
            <a:endParaRPr lang="en-US" dirty="0">
              <a:cs typeface="Calibri"/>
            </a:endParaRPr>
          </a:p>
          <a:p>
            <a:r>
              <a:rPr lang="en-US" dirty="0"/>
              <a:t> </a:t>
            </a:r>
            <a:endParaRPr lang="en-US" dirty="0">
              <a:cs typeface="Calibri"/>
            </a:endParaRPr>
          </a:p>
          <a:p>
            <a:r>
              <a:rPr lang="en-US" dirty="0"/>
              <a:t># Example usage:</a:t>
            </a:r>
            <a:endParaRPr lang="en-US" dirty="0">
              <a:cs typeface="Calibri"/>
            </a:endParaRPr>
          </a:p>
          <a:p>
            <a:r>
              <a:rPr lang="en-US" dirty="0" err="1"/>
              <a:t>loan_schedule</a:t>
            </a:r>
            <a:r>
              <a:rPr lang="en-US" dirty="0"/>
              <a:t> = </a:t>
            </a:r>
            <a:r>
              <a:rPr lang="en-US" dirty="0" err="1"/>
              <a:t>loan_amortization_schedule</a:t>
            </a:r>
            <a:r>
              <a:rPr lang="en-US" dirty="0"/>
              <a:t>(100000, 5, 15)</a:t>
            </a:r>
            <a:endParaRPr lang="en-US" dirty="0">
              <a:cs typeface="Calibri"/>
            </a:endParaRPr>
          </a:p>
          <a:p>
            <a:r>
              <a:rPr lang="en-US" dirty="0"/>
              <a:t>for payment in </a:t>
            </a:r>
            <a:r>
              <a:rPr lang="en-US" dirty="0" err="1"/>
              <a:t>loan_schedule</a:t>
            </a:r>
            <a:r>
              <a:rPr lang="en-US" dirty="0"/>
              <a:t>:</a:t>
            </a:r>
            <a:endParaRPr lang="en-US" dirty="0">
              <a:cs typeface="Calibri"/>
            </a:endParaRPr>
          </a:p>
          <a:p>
            <a:r>
              <a:rPr lang="en-US" dirty="0"/>
              <a:t>    print(payment)</a:t>
            </a:r>
            <a:endParaRPr lang="en-US" dirty="0">
              <a:cs typeface="Calibri"/>
            </a:endParaRPr>
          </a:p>
          <a:p>
            <a:br>
              <a:rPr lang="en-US" dirty="0">
                <a:cs typeface="+mn-lt"/>
              </a:rPr>
            </a:br>
            <a:endParaRPr lang="en-US">
              <a:cs typeface="Calibri"/>
            </a:endParaRPr>
          </a:p>
          <a:p>
            <a:endParaRPr lang="en-US" dirty="0">
              <a:cs typeface="+mn-lt"/>
            </a:endParaRPr>
          </a:p>
          <a:p>
            <a:r>
              <a:rPr lang="en-US" b="1" dirty="0"/>
              <a:t>Answer 2: Investment Returns</a:t>
            </a:r>
            <a:endParaRPr lang="en-US" dirty="0"/>
          </a:p>
          <a:p>
            <a:endParaRPr lang="en-US" dirty="0">
              <a:cs typeface="+mn-lt"/>
            </a:endParaRPr>
          </a:p>
          <a:p>
            <a:r>
              <a:rPr lang="en-US" dirty="0"/>
              <a:t>def </a:t>
            </a:r>
            <a:r>
              <a:rPr lang="en-US" dirty="0" err="1"/>
              <a:t>calculate_future_value</a:t>
            </a:r>
            <a:r>
              <a:rPr lang="en-US" dirty="0"/>
              <a:t>(</a:t>
            </a:r>
            <a:r>
              <a:rPr lang="en-US" dirty="0" err="1"/>
              <a:t>initial_investment</a:t>
            </a:r>
            <a:r>
              <a:rPr lang="en-US" dirty="0"/>
              <a:t>, </a:t>
            </a:r>
            <a:r>
              <a:rPr lang="en-US" dirty="0" err="1"/>
              <a:t>annual_interest_rate</a:t>
            </a:r>
            <a:r>
              <a:rPr lang="en-US" dirty="0"/>
              <a:t>, </a:t>
            </a:r>
            <a:r>
              <a:rPr lang="en-US" dirty="0" err="1"/>
              <a:t>investment_period_years</a:t>
            </a:r>
            <a:r>
              <a:rPr lang="en-US" dirty="0"/>
              <a:t>):</a:t>
            </a:r>
            <a:endParaRPr lang="en-US" dirty="0">
              <a:cs typeface="Calibri"/>
            </a:endParaRPr>
          </a:p>
          <a:p>
            <a:r>
              <a:rPr lang="en-US" dirty="0"/>
              <a:t>    </a:t>
            </a:r>
            <a:r>
              <a:rPr lang="en-US" dirty="0" err="1"/>
              <a:t>monthly_interest_rate</a:t>
            </a:r>
            <a:r>
              <a:rPr lang="en-US" dirty="0"/>
              <a:t> = </a:t>
            </a:r>
            <a:r>
              <a:rPr lang="en-US" dirty="0" err="1"/>
              <a:t>annual_interest_rate</a:t>
            </a:r>
            <a:r>
              <a:rPr lang="en-US" dirty="0"/>
              <a:t> / 12 / 100</a:t>
            </a:r>
            <a:endParaRPr lang="en-US" dirty="0">
              <a:cs typeface="Calibri"/>
            </a:endParaRPr>
          </a:p>
          <a:p>
            <a:r>
              <a:rPr lang="en-US" dirty="0"/>
              <a:t>    </a:t>
            </a:r>
            <a:r>
              <a:rPr lang="en-US" dirty="0" err="1"/>
              <a:t>num_payments</a:t>
            </a:r>
            <a:r>
              <a:rPr lang="en-US" dirty="0"/>
              <a:t> = </a:t>
            </a:r>
            <a:r>
              <a:rPr lang="en-US" dirty="0" err="1"/>
              <a:t>investment_period_years</a:t>
            </a:r>
            <a:r>
              <a:rPr lang="en-US" dirty="0"/>
              <a:t> * 12</a:t>
            </a:r>
            <a:endParaRPr lang="en-US" dirty="0">
              <a:cs typeface="Calibri"/>
            </a:endParaRPr>
          </a:p>
          <a:p>
            <a:r>
              <a:rPr lang="en-US" dirty="0"/>
              <a:t> </a:t>
            </a:r>
            <a:endParaRPr lang="en-US" dirty="0">
              <a:cs typeface="Calibri"/>
            </a:endParaRPr>
          </a:p>
          <a:p>
            <a:r>
              <a:rPr lang="en-US" dirty="0"/>
              <a:t>    </a:t>
            </a:r>
            <a:r>
              <a:rPr lang="en-US" dirty="0" err="1"/>
              <a:t>future_value</a:t>
            </a:r>
            <a:r>
              <a:rPr lang="en-US" dirty="0"/>
              <a:t> = </a:t>
            </a:r>
            <a:r>
              <a:rPr lang="en-US" dirty="0" err="1"/>
              <a:t>initial_investment</a:t>
            </a:r>
            <a:r>
              <a:rPr lang="en-US" dirty="0"/>
              <a:t> * (1 + </a:t>
            </a:r>
            <a:r>
              <a:rPr lang="en-US" dirty="0" err="1"/>
              <a:t>monthly_interest_rate</a:t>
            </a:r>
            <a:r>
              <a:rPr lang="en-US" dirty="0"/>
              <a:t>) ** </a:t>
            </a:r>
            <a:r>
              <a:rPr lang="en-US" dirty="0" err="1"/>
              <a:t>num_payments</a:t>
            </a:r>
            <a:endParaRPr lang="en-US" dirty="0" err="1">
              <a:cs typeface="Calibri"/>
            </a:endParaRPr>
          </a:p>
          <a:p>
            <a:r>
              <a:rPr lang="en-US" dirty="0"/>
              <a:t> </a:t>
            </a:r>
            <a:endParaRPr lang="en-US" dirty="0">
              <a:cs typeface="Calibri"/>
            </a:endParaRPr>
          </a:p>
          <a:p>
            <a:r>
              <a:rPr lang="en-US" dirty="0"/>
              <a:t>    return round(</a:t>
            </a:r>
            <a:r>
              <a:rPr lang="en-US" dirty="0" err="1"/>
              <a:t>future_value</a:t>
            </a:r>
            <a:r>
              <a:rPr lang="en-US" dirty="0"/>
              <a:t>, 2)</a:t>
            </a:r>
            <a:endParaRPr lang="en-US" dirty="0">
              <a:cs typeface="Calibri"/>
            </a:endParaRPr>
          </a:p>
          <a:p>
            <a:r>
              <a:rPr lang="en-US" dirty="0"/>
              <a:t> </a:t>
            </a:r>
            <a:endParaRPr lang="en-US" dirty="0">
              <a:cs typeface="Calibri"/>
            </a:endParaRPr>
          </a:p>
          <a:p>
            <a:r>
              <a:rPr lang="en-US" dirty="0"/>
              <a:t># Example usage:</a:t>
            </a:r>
            <a:endParaRPr lang="en-US" dirty="0">
              <a:cs typeface="Calibri"/>
            </a:endParaRPr>
          </a:p>
          <a:p>
            <a:r>
              <a:rPr lang="en-US" dirty="0" err="1"/>
              <a:t>investment_value</a:t>
            </a:r>
            <a:r>
              <a:rPr lang="en-US" dirty="0"/>
              <a:t> = </a:t>
            </a:r>
            <a:r>
              <a:rPr lang="en-US" dirty="0" err="1"/>
              <a:t>calculate_future_value</a:t>
            </a:r>
            <a:r>
              <a:rPr lang="en-US" dirty="0"/>
              <a:t>(5000, 4, 10)</a:t>
            </a:r>
            <a:endParaRPr lang="en-US" dirty="0">
              <a:cs typeface="Calibri"/>
            </a:endParaRPr>
          </a:p>
          <a:p>
            <a:r>
              <a:rPr lang="en-US" dirty="0"/>
              <a:t>print(</a:t>
            </a:r>
            <a:r>
              <a:rPr lang="en-US" dirty="0" err="1"/>
              <a:t>f"The</a:t>
            </a:r>
            <a:r>
              <a:rPr lang="en-US" dirty="0"/>
              <a:t> future value of the investment is: ${</a:t>
            </a:r>
            <a:r>
              <a:rPr lang="en-US" dirty="0" err="1"/>
              <a:t>investment_value</a:t>
            </a:r>
            <a:r>
              <a:rPr lang="en-US" dirty="0"/>
              <a:t>}")</a:t>
            </a:r>
            <a:endParaRPr lang="en-US" dirty="0">
              <a:cs typeface="Calibri"/>
            </a:endParaRPr>
          </a:p>
          <a:p>
            <a:endParaRPr lang="en-US" dirty="0">
              <a:cs typeface="+mn-lt"/>
            </a:endParaRPr>
          </a:p>
          <a:p>
            <a:endParaRPr lang="en-US" dirty="0">
              <a:cs typeface="+mn-lt"/>
            </a:endParaRPr>
          </a:p>
          <a:p>
            <a:endParaRPr lang="en-US" dirty="0">
              <a:cs typeface="+mn-lt"/>
            </a:endParaRPr>
          </a:p>
          <a:p>
            <a:r>
              <a:rPr lang="en-US" b="1" dirty="0"/>
              <a:t>Answer 3: Budget Analysis</a:t>
            </a:r>
            <a:endParaRPr lang="en-US" dirty="0">
              <a:cs typeface="Calibri"/>
            </a:endParaRPr>
          </a:p>
          <a:p>
            <a:endParaRPr lang="en-US" dirty="0">
              <a:cs typeface="+mn-lt"/>
            </a:endParaRPr>
          </a:p>
          <a:p>
            <a:r>
              <a:rPr lang="en-US" dirty="0"/>
              <a:t>def </a:t>
            </a:r>
            <a:r>
              <a:rPr lang="en-US" dirty="0" err="1"/>
              <a:t>budget_analysis</a:t>
            </a:r>
            <a:r>
              <a:rPr lang="en-US" dirty="0"/>
              <a:t>(budget, expenses):</a:t>
            </a:r>
            <a:endParaRPr lang="en-US" dirty="0">
              <a:cs typeface="Calibri"/>
            </a:endParaRPr>
          </a:p>
          <a:p>
            <a:r>
              <a:rPr lang="en-US" dirty="0"/>
              <a:t>    </a:t>
            </a:r>
            <a:r>
              <a:rPr lang="en-US" dirty="0" err="1"/>
              <a:t>total_expenses</a:t>
            </a:r>
            <a:r>
              <a:rPr lang="en-US" dirty="0"/>
              <a:t> = sum(expenses)</a:t>
            </a:r>
          </a:p>
          <a:p>
            <a:r>
              <a:rPr lang="en-US" dirty="0"/>
              <a:t>    </a:t>
            </a:r>
            <a:r>
              <a:rPr lang="en-US" dirty="0" err="1"/>
              <a:t>remaining_budget</a:t>
            </a:r>
            <a:r>
              <a:rPr lang="en-US" dirty="0"/>
              <a:t> = budget - </a:t>
            </a:r>
            <a:r>
              <a:rPr lang="en-US" dirty="0" err="1"/>
              <a:t>total_expenses</a:t>
            </a:r>
          </a:p>
          <a:p>
            <a:r>
              <a:rPr lang="en-US" dirty="0"/>
              <a:t> </a:t>
            </a:r>
            <a:endParaRPr lang="en-US" dirty="0">
              <a:cs typeface="Calibri"/>
            </a:endParaRPr>
          </a:p>
          <a:p>
            <a:r>
              <a:rPr lang="en-US" dirty="0"/>
              <a:t>    if </a:t>
            </a:r>
            <a:r>
              <a:rPr lang="en-US" dirty="0" err="1"/>
              <a:t>remaining_budget</a:t>
            </a:r>
            <a:r>
              <a:rPr lang="en-US" dirty="0"/>
              <a:t> &gt;= 0:</a:t>
            </a:r>
          </a:p>
          <a:p>
            <a:r>
              <a:rPr lang="en-US" dirty="0"/>
              <a:t>        </a:t>
            </a:r>
            <a:r>
              <a:rPr lang="en-US" dirty="0" err="1"/>
              <a:t>analysis_result</a:t>
            </a:r>
            <a:r>
              <a:rPr lang="en-US" dirty="0"/>
              <a:t> = "You are within your budget."</a:t>
            </a:r>
          </a:p>
          <a:p>
            <a:r>
              <a:rPr lang="en-US" dirty="0"/>
              <a:t>    else:</a:t>
            </a:r>
            <a:endParaRPr lang="en-US" dirty="0">
              <a:cs typeface="Calibri"/>
            </a:endParaRPr>
          </a:p>
          <a:p>
            <a:r>
              <a:rPr lang="en-US" dirty="0"/>
              <a:t>        </a:t>
            </a:r>
            <a:r>
              <a:rPr lang="en-US" dirty="0" err="1"/>
              <a:t>analysis_result</a:t>
            </a:r>
            <a:r>
              <a:rPr lang="en-US" dirty="0"/>
              <a:t> = </a:t>
            </a:r>
            <a:r>
              <a:rPr lang="en-US" dirty="0" err="1"/>
              <a:t>f"You</a:t>
            </a:r>
            <a:r>
              <a:rPr lang="en-US" dirty="0"/>
              <a:t> have exceeded your budget by ${abs(</a:t>
            </a:r>
            <a:r>
              <a:rPr lang="en-US" dirty="0" err="1"/>
              <a:t>remaining_budget</a:t>
            </a:r>
            <a:r>
              <a:rPr lang="en-US" dirty="0"/>
              <a:t>)}."</a:t>
            </a:r>
          </a:p>
          <a:p>
            <a:r>
              <a:rPr lang="en-US" dirty="0"/>
              <a:t> </a:t>
            </a:r>
            <a:endParaRPr lang="en-US" dirty="0">
              <a:cs typeface="Calibri"/>
            </a:endParaRPr>
          </a:p>
          <a:p>
            <a:r>
              <a:rPr lang="en-US" dirty="0"/>
              <a:t>    return </a:t>
            </a:r>
            <a:r>
              <a:rPr lang="en-US" dirty="0" err="1"/>
              <a:t>analysis_result</a:t>
            </a:r>
            <a:endParaRPr lang="en-US" dirty="0" err="1">
              <a:cs typeface="Calibri"/>
            </a:endParaRPr>
          </a:p>
          <a:p>
            <a:r>
              <a:rPr lang="en-US" dirty="0"/>
              <a:t> </a:t>
            </a:r>
            <a:endParaRPr lang="en-US" dirty="0">
              <a:cs typeface="Calibri"/>
            </a:endParaRPr>
          </a:p>
          <a:p>
            <a:r>
              <a:rPr lang="en-US" dirty="0"/>
              <a:t># Example usage:</a:t>
            </a:r>
            <a:endParaRPr lang="en-US" dirty="0">
              <a:cs typeface="Calibri"/>
            </a:endParaRPr>
          </a:p>
          <a:p>
            <a:r>
              <a:rPr lang="en-US" dirty="0" err="1"/>
              <a:t>user_budget</a:t>
            </a:r>
            <a:r>
              <a:rPr lang="en-US" dirty="0"/>
              <a:t> = 1000</a:t>
            </a:r>
            <a:endParaRPr lang="en-US" dirty="0">
              <a:cs typeface="Calibri"/>
            </a:endParaRPr>
          </a:p>
          <a:p>
            <a:r>
              <a:rPr lang="en-US" dirty="0" err="1"/>
              <a:t>user_expenses</a:t>
            </a:r>
            <a:r>
              <a:rPr lang="en-US" dirty="0"/>
              <a:t> = [300, 400, 200]</a:t>
            </a:r>
          </a:p>
          <a:p>
            <a:r>
              <a:rPr lang="en-US" dirty="0"/>
              <a:t>result = </a:t>
            </a:r>
            <a:r>
              <a:rPr lang="en-US" dirty="0" err="1"/>
              <a:t>budget_analysis</a:t>
            </a:r>
            <a:r>
              <a:rPr lang="en-US" dirty="0"/>
              <a:t>(</a:t>
            </a:r>
            <a:r>
              <a:rPr lang="en-US" dirty="0" err="1"/>
              <a:t>user_budget</a:t>
            </a:r>
            <a:r>
              <a:rPr lang="en-US" dirty="0"/>
              <a:t>, </a:t>
            </a:r>
            <a:r>
              <a:rPr lang="en-US" dirty="0" err="1"/>
              <a:t>user_expenses</a:t>
            </a:r>
            <a:r>
              <a:rPr lang="en-US" dirty="0"/>
              <a:t>)</a:t>
            </a:r>
          </a:p>
          <a:p>
            <a:r>
              <a:rPr lang="en-US" dirty="0"/>
              <a:t>print(result)</a:t>
            </a:r>
            <a:endParaRPr lang="en-US" dirty="0">
              <a:cs typeface="Calibri"/>
            </a:endParaRPr>
          </a:p>
          <a:p>
            <a:endParaRPr lang="en-US" dirty="0">
              <a:cs typeface="+mn-lt"/>
            </a:endParaRPr>
          </a:p>
          <a:p>
            <a:endParaRPr lang="en-US" dirty="0">
              <a:cs typeface="+mn-lt"/>
            </a:endParaRPr>
          </a:p>
          <a:p>
            <a:endParaRPr lang="en-US" dirty="0">
              <a:cs typeface="+mn-lt"/>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36</a:t>
            </a:fld>
            <a:endParaRPr lang="en-IN"/>
          </a:p>
        </p:txBody>
      </p:sp>
    </p:spTree>
    <p:extLst>
      <p:ext uri="{BB962C8B-B14F-4D97-AF65-F5344CB8AC3E}">
        <p14:creationId xmlns:p14="http://schemas.microsoft.com/office/powerpoint/2010/main" val="7656189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
        <p:nvSpPr>
          <p:cNvPr id="3" name="Content Placeholder 2"/>
          <p:cNvSpPr>
            <a:spLocks noGrp="1"/>
          </p:cNvSpPr>
          <p:nvPr>
            <p:ph idx="1"/>
          </p:nvPr>
        </p:nvSpPr>
        <p:spPr>
          <a:xfrm>
            <a:off x="678884" y="165983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676A48E-2766-2ED8-C890-6F9A1FE70868}"/>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a:solidFill>
                  <a:schemeClr val="bg2">
                    <a:lumMod val="75000"/>
                  </a:schemeClr>
                </a:solidFill>
              </a:rPr>
              <a:t>CONFIDENTIAL</a:t>
            </a:r>
            <a:r>
              <a:rPr lang="en-US" sz="110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research.google.com/colaboratory/" TargetMode="External"/><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0" y="2867242"/>
            <a:ext cx="12192000" cy="1257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a:latin typeface="Calibri" panose="020F0502020204030204" pitchFamily="34" charset="0"/>
              </a:rPr>
              <a:t>Introduction to python </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2F6A-E89F-45D0-4C37-F8D123D863FF}"/>
              </a:ext>
            </a:extLst>
          </p:cNvPr>
          <p:cNvSpPr>
            <a:spLocks noGrp="1"/>
          </p:cNvSpPr>
          <p:nvPr>
            <p:ph type="title"/>
          </p:nvPr>
        </p:nvSpPr>
        <p:spPr/>
        <p:txBody>
          <a:bodyPr>
            <a:norm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r>
              <a:rPr lang="en-US" sz="2800" dirty="0">
                <a:latin typeface="Calibri"/>
                <a:cs typeface="Calibri"/>
              </a:rPr>
              <a:t>Trainer Guidelines for Conducting Class</a:t>
            </a:r>
            <a:endParaRPr lang="en-US" sz="2800">
              <a:cs typeface="Calibri"/>
            </a:endParaRPr>
          </a:p>
        </p:txBody>
      </p:sp>
      <p:sp>
        <p:nvSpPr>
          <p:cNvPr id="3" name="Content Placeholder 2">
            <a:extLst>
              <a:ext uri="{FF2B5EF4-FFF2-40B4-BE49-F238E27FC236}">
                <a16:creationId xmlns:a16="http://schemas.microsoft.com/office/drawing/2014/main" id="{9CA356E4-99F9-93BD-8697-B5FE13DDA948}"/>
              </a:ext>
            </a:extLst>
          </p:cNvPr>
          <p:cNvSpPr>
            <a:spLocks noGrp="1"/>
          </p:cNvSpPr>
          <p:nvPr>
            <p:ph idx="1"/>
          </p:nvPr>
        </p:nvSpPr>
        <p:spPr/>
        <p:txBody>
          <a:bodyPr vert="horz" lIns="91440" tIns="45720" rIns="91440" bIns="45720" rtlCol="0" anchor="t">
            <a:norm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750" indent="-285750"/>
            <a:r>
              <a:rPr lang="en-US" sz="1800" dirty="0">
                <a:latin typeface="Calibri"/>
                <a:cs typeface="Calibri"/>
              </a:rPr>
              <a:t>Solve questions live by creating </a:t>
            </a:r>
            <a:r>
              <a:rPr lang="en-US" sz="1800" b="1" dirty="0">
                <a:latin typeface="Calibri"/>
                <a:cs typeface="Calibri"/>
              </a:rPr>
              <a:t>new blank files</a:t>
            </a:r>
            <a:r>
              <a:rPr lang="en-US" sz="1800" dirty="0">
                <a:latin typeface="Calibri"/>
                <a:cs typeface="Calibri"/>
              </a:rPr>
              <a:t> (Excel, Python, </a:t>
            </a:r>
            <a:r>
              <a:rPr lang="en-US" sz="1800" dirty="0" err="1">
                <a:latin typeface="Calibri"/>
                <a:cs typeface="Calibri"/>
              </a:rPr>
              <a:t>Jupyter</a:t>
            </a:r>
            <a:r>
              <a:rPr lang="en-US" sz="1800" dirty="0">
                <a:latin typeface="Calibri"/>
                <a:cs typeface="Calibri"/>
              </a:rPr>
              <a:t> notebook, Dashboard) during the session, rather than sharing completed solutions.</a:t>
            </a:r>
            <a:endParaRPr lang="en-US"/>
          </a:p>
          <a:p>
            <a:pPr marL="285750" indent="-285750"/>
            <a:endParaRPr lang="en-US" sz="1800" dirty="0">
              <a:latin typeface="Calibri"/>
              <a:cs typeface="Calibri"/>
            </a:endParaRPr>
          </a:p>
          <a:p>
            <a:pPr marL="285750" indent="-285750"/>
            <a:r>
              <a:rPr lang="en-US" sz="1800" dirty="0">
                <a:latin typeface="Calibri"/>
                <a:cs typeface="Calibri"/>
              </a:rPr>
              <a:t>Review teaching materials and solutions beforehand, and prepare additional examples to reinforce learning.</a:t>
            </a:r>
          </a:p>
          <a:p>
            <a:pPr marL="285750" indent="-285750"/>
            <a:endParaRPr lang="en-US" sz="1800" dirty="0">
              <a:latin typeface="Calibri"/>
              <a:cs typeface="Calibri"/>
            </a:endParaRPr>
          </a:p>
          <a:p>
            <a:pPr marL="285750" indent="-285750"/>
            <a:r>
              <a:rPr lang="en-US" sz="1800" dirty="0">
                <a:latin typeface="Calibri"/>
                <a:cs typeface="Calibri"/>
              </a:rPr>
              <a:t>Ensure online students can hear you and see the screen clearly at all times.</a:t>
            </a:r>
          </a:p>
          <a:p>
            <a:pPr marL="285750" indent="-285750"/>
            <a:endParaRPr lang="en-US" sz="1800" dirty="0">
              <a:latin typeface="Calibri"/>
              <a:cs typeface="Calibri"/>
            </a:endParaRPr>
          </a:p>
          <a:p>
            <a:pPr marL="285750" indent="-285750"/>
            <a:r>
              <a:rPr lang="en-US" sz="1800" dirty="0">
                <a:latin typeface="Calibri"/>
                <a:cs typeface="Calibri"/>
              </a:rPr>
              <a:t>Test your computer and necessary software before class begins.</a:t>
            </a:r>
          </a:p>
          <a:p>
            <a:pPr marL="285750" indent="-285750"/>
            <a:endParaRPr lang="en-US" sz="1800" dirty="0">
              <a:latin typeface="Calibri"/>
              <a:cs typeface="Calibri"/>
            </a:endParaRPr>
          </a:p>
          <a:p>
            <a:pPr marL="285750" indent="-285750"/>
            <a:r>
              <a:rPr lang="en-US" sz="1800" dirty="0">
                <a:latin typeface="Calibri"/>
                <a:cs typeface="Calibri"/>
              </a:rPr>
              <a:t>Check with online students every 15-20 minutes to see if they understand the material and have any questions.</a:t>
            </a:r>
            <a:endParaRPr lang="en-US" sz="1800">
              <a:latin typeface="Calibri"/>
              <a:cs typeface="Calibri"/>
            </a:endParaRPr>
          </a:p>
        </p:txBody>
      </p:sp>
    </p:spTree>
    <p:extLst>
      <p:ext uri="{BB962C8B-B14F-4D97-AF65-F5344CB8AC3E}">
        <p14:creationId xmlns:p14="http://schemas.microsoft.com/office/powerpoint/2010/main" val="2172329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a:effectLst/>
                <a:latin typeface="Times New Roman" panose="02020603050405020304" pitchFamily="18" charset="0"/>
                <a:ea typeface="Calibri" panose="020F0502020204030204" pitchFamily="34" charset="0"/>
              </a:rPr>
              <a:t>Overview of Python and its applications in finance</a:t>
            </a:r>
            <a:endParaRPr lang="en-US"/>
          </a:p>
        </p:txBody>
      </p:sp>
      <p:grpSp>
        <p:nvGrpSpPr>
          <p:cNvPr id="6" name="Group 5">
            <a:extLst>
              <a:ext uri="{FF2B5EF4-FFF2-40B4-BE49-F238E27FC236}">
                <a16:creationId xmlns:a16="http://schemas.microsoft.com/office/drawing/2014/main" id="{F5412151-9BFD-4B8D-ADB1-88C4166F9075}"/>
              </a:ext>
            </a:extLst>
          </p:cNvPr>
          <p:cNvGrpSpPr/>
          <p:nvPr/>
        </p:nvGrpSpPr>
        <p:grpSpPr>
          <a:xfrm>
            <a:off x="545870" y="1230563"/>
            <a:ext cx="10967248" cy="4622296"/>
            <a:chOff x="661075" y="1659835"/>
            <a:chExt cx="10967248" cy="4622296"/>
          </a:xfrm>
        </p:grpSpPr>
        <p:sp>
          <p:nvSpPr>
            <p:cNvPr id="7" name="Freeform 6">
              <a:extLst>
                <a:ext uri="{FF2B5EF4-FFF2-40B4-BE49-F238E27FC236}">
                  <a16:creationId xmlns:a16="http://schemas.microsoft.com/office/drawing/2014/main" id="{B683487C-3716-4D33-8531-F930D0C8C868}"/>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8" name="Rectangle: Rounded Corners 7">
              <a:extLst>
                <a:ext uri="{FF2B5EF4-FFF2-40B4-BE49-F238E27FC236}">
                  <a16:creationId xmlns:a16="http://schemas.microsoft.com/office/drawing/2014/main" id="{A9D93FDA-339F-4FCA-949B-02D28244A466}"/>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a:solidFill>
                    <a:schemeClr val="tx1"/>
                  </a:solidFill>
                  <a:effectLst/>
                  <a:latin typeface="Times New Roman" panose="02020603050405020304" pitchFamily="18" charset="0"/>
                  <a:ea typeface="Calibri" panose="020F0502020204030204" pitchFamily="34" charset="0"/>
                </a:rPr>
                <a:t>Python's Role in Financial Analytics</a:t>
              </a:r>
              <a:endParaRPr lang="en-IN" sz="2200" b="1">
                <a:solidFill>
                  <a:schemeClr val="tx1"/>
                </a:solidFill>
                <a:latin typeface="Calibri" panose="020F0502020204030204" pitchFamily="34" charset="0"/>
              </a:endParaRPr>
            </a:p>
          </p:txBody>
        </p:sp>
        <p:sp>
          <p:nvSpPr>
            <p:cNvPr id="9" name="Content Placeholder 2">
              <a:extLst>
                <a:ext uri="{FF2B5EF4-FFF2-40B4-BE49-F238E27FC236}">
                  <a16:creationId xmlns:a16="http://schemas.microsoft.com/office/drawing/2014/main" id="{1F8736E4-B09E-4EBF-90EF-8B58C7FFA0E2}"/>
                </a:ext>
              </a:extLst>
            </p:cNvPr>
            <p:cNvSpPr txBox="1">
              <a:spLocks/>
            </p:cNvSpPr>
            <p:nvPr/>
          </p:nvSpPr>
          <p:spPr>
            <a:xfrm>
              <a:off x="661075" y="2814219"/>
              <a:ext cx="10834234" cy="3467912"/>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b="1">
                  <a:latin typeface="+mn-lt"/>
                </a:rPr>
                <a:t>Data Analysis:​</a:t>
              </a:r>
            </a:p>
            <a:p>
              <a:pPr lvl="1">
                <a:lnSpc>
                  <a:spcPct val="100000"/>
                </a:lnSpc>
                <a:spcBef>
                  <a:spcPts val="400"/>
                </a:spcBef>
                <a:spcAft>
                  <a:spcPts val="400"/>
                </a:spcAft>
                <a:buFont typeface="Wingdings" panose="05000000000000000000" pitchFamily="2" charset="2"/>
                <a:buChar char="Ø"/>
              </a:pPr>
              <a:r>
                <a:rPr lang="en-US" sz="1800">
                  <a:latin typeface="+mn-lt"/>
                </a:rPr>
                <a:t>Python is a preferred language for data analysis in finance due to its simplicity and readability.​</a:t>
              </a:r>
              <a:endParaRPr lang="en-US" sz="1800">
                <a:latin typeface="+mn-lt"/>
                <a:ea typeface="Calibri"/>
                <a:cs typeface="Calibri"/>
              </a:endParaRPr>
            </a:p>
            <a:p>
              <a:pPr lvl="1">
                <a:lnSpc>
                  <a:spcPct val="100000"/>
                </a:lnSpc>
                <a:spcBef>
                  <a:spcPts val="400"/>
                </a:spcBef>
                <a:spcAft>
                  <a:spcPts val="400"/>
                </a:spcAft>
                <a:buFont typeface="Wingdings" panose="05000000000000000000" pitchFamily="2" charset="2"/>
                <a:buChar char="Ø"/>
              </a:pPr>
              <a:r>
                <a:rPr lang="en-US" sz="1800">
                  <a:latin typeface="+mn-lt"/>
                </a:rPr>
                <a:t>Libraries like Pandas offer powerful tools for data manipulation and analysis.​</a:t>
              </a:r>
              <a:endParaRPr lang="en-US" sz="1800">
                <a:latin typeface="+mn-lt"/>
                <a:ea typeface="Calibri"/>
                <a:cs typeface="Calibri"/>
              </a:endParaRPr>
            </a:p>
            <a:p>
              <a:pPr marL="0" indent="0">
                <a:lnSpc>
                  <a:spcPct val="100000"/>
                </a:lnSpc>
                <a:spcBef>
                  <a:spcPts val="400"/>
                </a:spcBef>
                <a:spcAft>
                  <a:spcPts val="400"/>
                </a:spcAft>
                <a:buNone/>
              </a:pPr>
              <a:r>
                <a:rPr lang="en-US" sz="2200" b="1">
                  <a:latin typeface="+mn-lt"/>
                </a:rPr>
                <a:t>Financial Modeling:​</a:t>
              </a:r>
              <a:endParaRPr lang="en-US" sz="2200" b="1">
                <a:latin typeface="+mn-lt"/>
                <a:ea typeface="Calibri"/>
                <a:cs typeface="Calibri"/>
              </a:endParaRPr>
            </a:p>
            <a:p>
              <a:pPr lvl="1">
                <a:lnSpc>
                  <a:spcPct val="100000"/>
                </a:lnSpc>
                <a:spcBef>
                  <a:spcPts val="400"/>
                </a:spcBef>
                <a:spcAft>
                  <a:spcPts val="400"/>
                </a:spcAft>
                <a:buFont typeface="Wingdings" panose="05000000000000000000" pitchFamily="2" charset="2"/>
                <a:buChar char="Ø"/>
              </a:pPr>
              <a:r>
                <a:rPr lang="en-US" sz="1800">
                  <a:latin typeface="+mn-lt"/>
                </a:rPr>
                <a:t>Python is widely used for building complex financial models, including risk assessment, portfolio optimization, and valuation.​</a:t>
              </a:r>
              <a:endParaRPr lang="en-US" sz="1800">
                <a:latin typeface="+mn-lt"/>
                <a:ea typeface="Calibri"/>
                <a:cs typeface="Calibri"/>
              </a:endParaRPr>
            </a:p>
            <a:p>
              <a:pPr marL="0" indent="0">
                <a:lnSpc>
                  <a:spcPct val="100000"/>
                </a:lnSpc>
                <a:spcBef>
                  <a:spcPts val="400"/>
                </a:spcBef>
                <a:spcAft>
                  <a:spcPts val="400"/>
                </a:spcAft>
                <a:buNone/>
              </a:pPr>
              <a:r>
                <a:rPr lang="en-US" sz="2200" b="1">
                  <a:latin typeface="+mn-lt"/>
                  <a:ea typeface="Calibri"/>
                  <a:cs typeface="Calibri"/>
                </a:rPr>
                <a:t>Automation: </a:t>
              </a:r>
            </a:p>
            <a:p>
              <a:pPr lvl="1">
                <a:lnSpc>
                  <a:spcPct val="100000"/>
                </a:lnSpc>
                <a:spcBef>
                  <a:spcPts val="400"/>
                </a:spcBef>
                <a:spcAft>
                  <a:spcPts val="400"/>
                </a:spcAft>
                <a:buFont typeface="Wingdings,Sans-Serif" panose="05000000000000000000" pitchFamily="2" charset="2"/>
                <a:buChar char="Ø"/>
              </a:pPr>
              <a:r>
                <a:rPr lang="en-US" sz="1800">
                  <a:latin typeface="+mn-lt"/>
                  <a:ea typeface="Calibri"/>
                  <a:cs typeface="Calibri"/>
                </a:rPr>
                <a:t>Python enables the automation of repetitive tasks, saving time and reducing the risk of human error. </a:t>
              </a:r>
            </a:p>
            <a:p>
              <a:pPr lvl="1">
                <a:lnSpc>
                  <a:spcPct val="100000"/>
                </a:lnSpc>
                <a:spcBef>
                  <a:spcPts val="400"/>
                </a:spcBef>
                <a:spcAft>
                  <a:spcPts val="400"/>
                </a:spcAft>
                <a:buFont typeface="Wingdings,Sans-Serif" panose="05000000000000000000" pitchFamily="2" charset="2"/>
                <a:buChar char="Ø"/>
              </a:pPr>
              <a:r>
                <a:rPr lang="en-US" sz="1800">
                  <a:latin typeface="+mn-lt"/>
                  <a:ea typeface="Calibri"/>
                  <a:cs typeface="Calibri"/>
                </a:rPr>
                <a:t>Automation in financial analytics includes report generation, data extraction, and trade execution.</a:t>
              </a:r>
              <a:endParaRPr lang="en-US"/>
            </a:p>
            <a:p>
              <a:pPr>
                <a:lnSpc>
                  <a:spcPct val="100000"/>
                </a:lnSpc>
                <a:spcBef>
                  <a:spcPts val="400"/>
                </a:spcBef>
                <a:spcAft>
                  <a:spcPts val="400"/>
                </a:spcAft>
                <a:buFont typeface="Wingdings" panose="05000000000000000000" pitchFamily="2" charset="2"/>
                <a:buChar char="Ø"/>
              </a:pPr>
              <a:endParaRPr lang="en-US" sz="2200">
                <a:latin typeface="+mn-lt"/>
                <a:ea typeface="Calibri" panose="020F0502020204030204"/>
                <a:cs typeface="Calibri" panose="020F0502020204030204"/>
              </a:endParaRPr>
            </a:p>
          </p:txBody>
        </p:sp>
        <p:sp>
          <p:nvSpPr>
            <p:cNvPr id="10" name="Freeform 7">
              <a:extLst>
                <a:ext uri="{FF2B5EF4-FFF2-40B4-BE49-F238E27FC236}">
                  <a16:creationId xmlns:a16="http://schemas.microsoft.com/office/drawing/2014/main" id="{60C8FEB8-998B-4BBE-B921-6E7EB3DD5479}"/>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11" name="Oval 8">
              <a:extLst>
                <a:ext uri="{FF2B5EF4-FFF2-40B4-BE49-F238E27FC236}">
                  <a16:creationId xmlns:a16="http://schemas.microsoft.com/office/drawing/2014/main" id="{3AFF0686-D0F4-4479-ACC5-24B3375ED479}"/>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12" name="Shape 7784">
              <a:extLst>
                <a:ext uri="{FF2B5EF4-FFF2-40B4-BE49-F238E27FC236}">
                  <a16:creationId xmlns:a16="http://schemas.microsoft.com/office/drawing/2014/main" id="{CFACB513-5729-406A-9CAA-FD7850F922D1}"/>
                </a:ext>
              </a:extLst>
            </p:cNvPr>
            <p:cNvGrpSpPr/>
            <p:nvPr/>
          </p:nvGrpSpPr>
          <p:grpSpPr>
            <a:xfrm>
              <a:off x="1389773" y="2214880"/>
              <a:ext cx="330464" cy="352116"/>
              <a:chOff x="5538788" y="2417763"/>
              <a:chExt cx="557213" cy="593725"/>
            </a:xfrm>
            <a:solidFill>
              <a:schemeClr val="tx1"/>
            </a:solidFill>
          </p:grpSpPr>
          <p:sp>
            <p:nvSpPr>
              <p:cNvPr id="13" name="Shape 7785">
                <a:extLst>
                  <a:ext uri="{FF2B5EF4-FFF2-40B4-BE49-F238E27FC236}">
                    <a16:creationId xmlns:a16="http://schemas.microsoft.com/office/drawing/2014/main" id="{499D29CC-1A29-4774-8095-D273AB3B1A65}"/>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4" name="Shape 7786">
                <a:extLst>
                  <a:ext uri="{FF2B5EF4-FFF2-40B4-BE49-F238E27FC236}">
                    <a16:creationId xmlns:a16="http://schemas.microsoft.com/office/drawing/2014/main" id="{CC028885-77CE-4060-895F-99A2D1703B9E}"/>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5" name="Shape 7787">
                <a:extLst>
                  <a:ext uri="{FF2B5EF4-FFF2-40B4-BE49-F238E27FC236}">
                    <a16:creationId xmlns:a16="http://schemas.microsoft.com/office/drawing/2014/main" id="{D8DC1C87-0063-4D76-B2B4-7A912C6D65BA}"/>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6" name="Shape 7788">
                <a:extLst>
                  <a:ext uri="{FF2B5EF4-FFF2-40B4-BE49-F238E27FC236}">
                    <a16:creationId xmlns:a16="http://schemas.microsoft.com/office/drawing/2014/main" id="{BB517073-8815-46DA-9CEB-BDE22D609C91}"/>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7" name="Shape 7789">
                <a:extLst>
                  <a:ext uri="{FF2B5EF4-FFF2-40B4-BE49-F238E27FC236}">
                    <a16:creationId xmlns:a16="http://schemas.microsoft.com/office/drawing/2014/main" id="{BC1AEB5A-DD89-461A-AD7D-F2B2392C1D99}"/>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8" name="Shape 7790">
                <a:extLst>
                  <a:ext uri="{FF2B5EF4-FFF2-40B4-BE49-F238E27FC236}">
                    <a16:creationId xmlns:a16="http://schemas.microsoft.com/office/drawing/2014/main" id="{8A293577-F784-450D-A1A2-2F51D576E877}"/>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9" name="Shape 7791">
                <a:extLst>
                  <a:ext uri="{FF2B5EF4-FFF2-40B4-BE49-F238E27FC236}">
                    <a16:creationId xmlns:a16="http://schemas.microsoft.com/office/drawing/2014/main" id="{A20B9DB2-6DF7-4E28-9BF7-72C34F8CF98E}"/>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1" name="Shape 7792">
                <a:extLst>
                  <a:ext uri="{FF2B5EF4-FFF2-40B4-BE49-F238E27FC236}">
                    <a16:creationId xmlns:a16="http://schemas.microsoft.com/office/drawing/2014/main" id="{DAC2964D-BAD9-4BFF-BF2F-29A48A13610A}"/>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2" name="Shape 7793">
                <a:extLst>
                  <a:ext uri="{FF2B5EF4-FFF2-40B4-BE49-F238E27FC236}">
                    <a16:creationId xmlns:a16="http://schemas.microsoft.com/office/drawing/2014/main" id="{28F7CF2F-1D61-41EF-8AA5-56B72C66B691}"/>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3" name="Shape 7794">
                <a:extLst>
                  <a:ext uri="{FF2B5EF4-FFF2-40B4-BE49-F238E27FC236}">
                    <a16:creationId xmlns:a16="http://schemas.microsoft.com/office/drawing/2014/main" id="{172A1A42-59D1-4EB9-95C5-C702481201AC}"/>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4" name="Shape 7795">
                <a:extLst>
                  <a:ext uri="{FF2B5EF4-FFF2-40B4-BE49-F238E27FC236}">
                    <a16:creationId xmlns:a16="http://schemas.microsoft.com/office/drawing/2014/main" id="{94CB30F0-98D6-4F1E-876F-481D10337356}"/>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5" name="Shape 7796">
                <a:extLst>
                  <a:ext uri="{FF2B5EF4-FFF2-40B4-BE49-F238E27FC236}">
                    <a16:creationId xmlns:a16="http://schemas.microsoft.com/office/drawing/2014/main" id="{6DA7450B-43E2-4E06-BA1C-5A3EBEEEDF54}"/>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6" name="Shape 7797">
                <a:extLst>
                  <a:ext uri="{FF2B5EF4-FFF2-40B4-BE49-F238E27FC236}">
                    <a16:creationId xmlns:a16="http://schemas.microsoft.com/office/drawing/2014/main" id="{20B2DD9D-E10B-4925-A8DE-CFE1C9803F2F}"/>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7" name="Shape 7798">
                <a:extLst>
                  <a:ext uri="{FF2B5EF4-FFF2-40B4-BE49-F238E27FC236}">
                    <a16:creationId xmlns:a16="http://schemas.microsoft.com/office/drawing/2014/main" id="{693C647A-F689-4AF1-B922-7A7333B0051D}"/>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8" name="Shape 7799">
                <a:extLst>
                  <a:ext uri="{FF2B5EF4-FFF2-40B4-BE49-F238E27FC236}">
                    <a16:creationId xmlns:a16="http://schemas.microsoft.com/office/drawing/2014/main" id="{106841BD-409E-4CEE-986C-2E2ED764EF9A}"/>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9" name="Shape 7800">
                <a:extLst>
                  <a:ext uri="{FF2B5EF4-FFF2-40B4-BE49-F238E27FC236}">
                    <a16:creationId xmlns:a16="http://schemas.microsoft.com/office/drawing/2014/main" id="{5C5FE791-BEDF-481C-8F17-713C83FA7AB1}"/>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0" name="Shape 7801">
                <a:extLst>
                  <a:ext uri="{FF2B5EF4-FFF2-40B4-BE49-F238E27FC236}">
                    <a16:creationId xmlns:a16="http://schemas.microsoft.com/office/drawing/2014/main" id="{EC744E4F-66EA-4C47-9E00-0D182F7CCEB2}"/>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1" name="Shape 7802">
                <a:extLst>
                  <a:ext uri="{FF2B5EF4-FFF2-40B4-BE49-F238E27FC236}">
                    <a16:creationId xmlns:a16="http://schemas.microsoft.com/office/drawing/2014/main" id="{076E5520-CD63-4400-917C-0807C777C5D2}"/>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2" name="Shape 7803">
                <a:extLst>
                  <a:ext uri="{FF2B5EF4-FFF2-40B4-BE49-F238E27FC236}">
                    <a16:creationId xmlns:a16="http://schemas.microsoft.com/office/drawing/2014/main" id="{63C8B351-283B-48F8-8D49-AF615E48FCDB}"/>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3" name="Shape 7804">
                <a:extLst>
                  <a:ext uri="{FF2B5EF4-FFF2-40B4-BE49-F238E27FC236}">
                    <a16:creationId xmlns:a16="http://schemas.microsoft.com/office/drawing/2014/main" id="{E1FC3003-054D-4497-A29F-04AE52BBE8EA}"/>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4" name="Shape 7805">
                <a:extLst>
                  <a:ext uri="{FF2B5EF4-FFF2-40B4-BE49-F238E27FC236}">
                    <a16:creationId xmlns:a16="http://schemas.microsoft.com/office/drawing/2014/main" id="{A1ED541F-59F5-4F9C-9554-867F1083219B}"/>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5" name="Shape 7806">
                <a:extLst>
                  <a:ext uri="{FF2B5EF4-FFF2-40B4-BE49-F238E27FC236}">
                    <a16:creationId xmlns:a16="http://schemas.microsoft.com/office/drawing/2014/main" id="{D9CC6AC9-CD26-472B-B8D8-96D2D4BF287E}"/>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1575283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a:effectLst/>
                <a:latin typeface="Times New Roman" panose="02020603050405020304" pitchFamily="18" charset="0"/>
                <a:ea typeface="Calibri" panose="020F0502020204030204" pitchFamily="34" charset="0"/>
              </a:rPr>
              <a:t>Overview of Python and its applications in finance</a:t>
            </a:r>
            <a:endParaRPr lang="en-US"/>
          </a:p>
        </p:txBody>
      </p:sp>
      <p:grpSp>
        <p:nvGrpSpPr>
          <p:cNvPr id="6" name="Group 5">
            <a:extLst>
              <a:ext uri="{FF2B5EF4-FFF2-40B4-BE49-F238E27FC236}">
                <a16:creationId xmlns:a16="http://schemas.microsoft.com/office/drawing/2014/main" id="{F5412151-9BFD-4B8D-ADB1-88C4166F9075}"/>
              </a:ext>
            </a:extLst>
          </p:cNvPr>
          <p:cNvGrpSpPr/>
          <p:nvPr/>
        </p:nvGrpSpPr>
        <p:grpSpPr>
          <a:xfrm>
            <a:off x="545870" y="1230563"/>
            <a:ext cx="10967248" cy="2030423"/>
            <a:chOff x="661075" y="1659835"/>
            <a:chExt cx="10967248" cy="2030423"/>
          </a:xfrm>
        </p:grpSpPr>
        <p:sp>
          <p:nvSpPr>
            <p:cNvPr id="7" name="Freeform 6">
              <a:extLst>
                <a:ext uri="{FF2B5EF4-FFF2-40B4-BE49-F238E27FC236}">
                  <a16:creationId xmlns:a16="http://schemas.microsoft.com/office/drawing/2014/main" id="{B683487C-3716-4D33-8531-F930D0C8C868}"/>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8" name="Rectangle: Rounded Corners 7">
              <a:extLst>
                <a:ext uri="{FF2B5EF4-FFF2-40B4-BE49-F238E27FC236}">
                  <a16:creationId xmlns:a16="http://schemas.microsoft.com/office/drawing/2014/main" id="{A9D93FDA-339F-4FCA-949B-02D28244A466}"/>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a:solidFill>
                    <a:schemeClr val="tx1"/>
                  </a:solidFill>
                  <a:effectLst/>
                  <a:latin typeface="Times New Roman" panose="02020603050405020304" pitchFamily="18" charset="0"/>
                  <a:ea typeface="Calibri" panose="020F0502020204030204" pitchFamily="34" charset="0"/>
                </a:rPr>
                <a:t>Why Python in Financial Analytics?</a:t>
              </a:r>
              <a:endParaRPr lang="en-IN" sz="2200" b="1">
                <a:solidFill>
                  <a:schemeClr val="tx1"/>
                </a:solidFill>
                <a:latin typeface="Calibri" panose="020F0502020204030204" pitchFamily="34" charset="0"/>
              </a:endParaRPr>
            </a:p>
          </p:txBody>
        </p:sp>
        <p:sp>
          <p:nvSpPr>
            <p:cNvPr id="9" name="Content Placeholder 2">
              <a:extLst>
                <a:ext uri="{FF2B5EF4-FFF2-40B4-BE49-F238E27FC236}">
                  <a16:creationId xmlns:a16="http://schemas.microsoft.com/office/drawing/2014/main" id="{1F8736E4-B09E-4EBF-90EF-8B58C7FFA0E2}"/>
                </a:ext>
              </a:extLst>
            </p:cNvPr>
            <p:cNvSpPr txBox="1">
              <a:spLocks/>
            </p:cNvSpPr>
            <p:nvPr/>
          </p:nvSpPr>
          <p:spPr>
            <a:xfrm>
              <a:off x="661075" y="2814219"/>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spcAft>
                  <a:spcPts val="400"/>
                </a:spcAft>
                <a:buFont typeface="Wingdings" panose="05000000000000000000" pitchFamily="2" charset="2"/>
                <a:buChar char="Ø"/>
              </a:pPr>
              <a:r>
                <a:rPr lang="en-US" sz="2200" b="1">
                  <a:latin typeface="+mn-lt"/>
                </a:rPr>
                <a:t>Versatility: </a:t>
              </a:r>
              <a:r>
                <a:rPr lang="en-US" sz="2200">
                  <a:latin typeface="+mn-lt"/>
                </a:rPr>
                <a:t>Python is a versatile and high-level programming language that supports a wide range of applications, making it a powerful tool for financial analytics.​</a:t>
              </a:r>
            </a:p>
            <a:p>
              <a:pPr>
                <a:lnSpc>
                  <a:spcPct val="100000"/>
                </a:lnSpc>
                <a:spcBef>
                  <a:spcPts val="400"/>
                </a:spcBef>
                <a:spcAft>
                  <a:spcPts val="400"/>
                </a:spcAft>
                <a:buFont typeface="Wingdings" panose="05000000000000000000" pitchFamily="2" charset="2"/>
                <a:buChar char="Ø"/>
              </a:pPr>
              <a:r>
                <a:rPr lang="en-US" sz="2200" b="1">
                  <a:latin typeface="+mn-lt"/>
                </a:rPr>
                <a:t>Community Support: </a:t>
              </a:r>
              <a:r>
                <a:rPr lang="en-US" sz="2200">
                  <a:latin typeface="+mn-lt"/>
                </a:rPr>
                <a:t>Python has a large and active community, providing extensive support and a vast ecosystem of libraries specifically designed for financial tasks.​</a:t>
              </a:r>
            </a:p>
            <a:p>
              <a:pPr>
                <a:lnSpc>
                  <a:spcPct val="100000"/>
                </a:lnSpc>
                <a:spcBef>
                  <a:spcPts val="400"/>
                </a:spcBef>
                <a:spcAft>
                  <a:spcPts val="400"/>
                </a:spcAft>
                <a:buFont typeface="Wingdings" panose="05000000000000000000" pitchFamily="2" charset="2"/>
                <a:buChar char="Ø"/>
              </a:pPr>
              <a:r>
                <a:rPr lang="en-US" sz="2200" b="1">
                  <a:latin typeface="+mn-lt"/>
                </a:rPr>
                <a:t>Integration: </a:t>
              </a:r>
              <a:r>
                <a:rPr lang="en-US" sz="2200">
                  <a:latin typeface="+mn-lt"/>
                </a:rPr>
                <a:t>Python seamlessly integrates with various data sources, financial databases, and APIs, facilitating data retrieval and analysis.​</a:t>
              </a:r>
            </a:p>
            <a:p>
              <a:pPr marL="0" indent="0">
                <a:lnSpc>
                  <a:spcPct val="100000"/>
                </a:lnSpc>
                <a:spcBef>
                  <a:spcPts val="400"/>
                </a:spcBef>
                <a:spcAft>
                  <a:spcPts val="400"/>
                </a:spcAft>
                <a:buNone/>
              </a:pPr>
              <a:endParaRPr lang="en-US" sz="2200">
                <a:latin typeface="+mn-lt"/>
              </a:endParaRPr>
            </a:p>
            <a:p>
              <a:pPr>
                <a:lnSpc>
                  <a:spcPct val="100000"/>
                </a:lnSpc>
                <a:spcBef>
                  <a:spcPts val="400"/>
                </a:spcBef>
                <a:spcAft>
                  <a:spcPts val="400"/>
                </a:spcAft>
                <a:buFont typeface="Wingdings" panose="05000000000000000000" pitchFamily="2" charset="2"/>
                <a:buChar char="Ø"/>
              </a:pPr>
              <a:endParaRPr lang="en-US" sz="2200">
                <a:latin typeface="+mn-lt"/>
              </a:endParaRPr>
            </a:p>
          </p:txBody>
        </p:sp>
        <p:sp>
          <p:nvSpPr>
            <p:cNvPr id="10" name="Freeform 7">
              <a:extLst>
                <a:ext uri="{FF2B5EF4-FFF2-40B4-BE49-F238E27FC236}">
                  <a16:creationId xmlns:a16="http://schemas.microsoft.com/office/drawing/2014/main" id="{60C8FEB8-998B-4BBE-B921-6E7EB3DD5479}"/>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11" name="Oval 8">
              <a:extLst>
                <a:ext uri="{FF2B5EF4-FFF2-40B4-BE49-F238E27FC236}">
                  <a16:creationId xmlns:a16="http://schemas.microsoft.com/office/drawing/2014/main" id="{3AFF0686-D0F4-4479-ACC5-24B3375ED479}"/>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12" name="Shape 7784">
              <a:extLst>
                <a:ext uri="{FF2B5EF4-FFF2-40B4-BE49-F238E27FC236}">
                  <a16:creationId xmlns:a16="http://schemas.microsoft.com/office/drawing/2014/main" id="{CFACB513-5729-406A-9CAA-FD7850F922D1}"/>
                </a:ext>
              </a:extLst>
            </p:cNvPr>
            <p:cNvGrpSpPr/>
            <p:nvPr/>
          </p:nvGrpSpPr>
          <p:grpSpPr>
            <a:xfrm>
              <a:off x="1389773" y="2214880"/>
              <a:ext cx="330464" cy="352116"/>
              <a:chOff x="5538788" y="2417763"/>
              <a:chExt cx="557213" cy="593725"/>
            </a:xfrm>
            <a:solidFill>
              <a:schemeClr val="tx1"/>
            </a:solidFill>
          </p:grpSpPr>
          <p:sp>
            <p:nvSpPr>
              <p:cNvPr id="13" name="Shape 7785">
                <a:extLst>
                  <a:ext uri="{FF2B5EF4-FFF2-40B4-BE49-F238E27FC236}">
                    <a16:creationId xmlns:a16="http://schemas.microsoft.com/office/drawing/2014/main" id="{499D29CC-1A29-4774-8095-D273AB3B1A65}"/>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4" name="Shape 7786">
                <a:extLst>
                  <a:ext uri="{FF2B5EF4-FFF2-40B4-BE49-F238E27FC236}">
                    <a16:creationId xmlns:a16="http://schemas.microsoft.com/office/drawing/2014/main" id="{CC028885-77CE-4060-895F-99A2D1703B9E}"/>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5" name="Shape 7787">
                <a:extLst>
                  <a:ext uri="{FF2B5EF4-FFF2-40B4-BE49-F238E27FC236}">
                    <a16:creationId xmlns:a16="http://schemas.microsoft.com/office/drawing/2014/main" id="{D8DC1C87-0063-4D76-B2B4-7A912C6D65BA}"/>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6" name="Shape 7788">
                <a:extLst>
                  <a:ext uri="{FF2B5EF4-FFF2-40B4-BE49-F238E27FC236}">
                    <a16:creationId xmlns:a16="http://schemas.microsoft.com/office/drawing/2014/main" id="{BB517073-8815-46DA-9CEB-BDE22D609C91}"/>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7" name="Shape 7789">
                <a:extLst>
                  <a:ext uri="{FF2B5EF4-FFF2-40B4-BE49-F238E27FC236}">
                    <a16:creationId xmlns:a16="http://schemas.microsoft.com/office/drawing/2014/main" id="{BC1AEB5A-DD89-461A-AD7D-F2B2392C1D99}"/>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8" name="Shape 7790">
                <a:extLst>
                  <a:ext uri="{FF2B5EF4-FFF2-40B4-BE49-F238E27FC236}">
                    <a16:creationId xmlns:a16="http://schemas.microsoft.com/office/drawing/2014/main" id="{8A293577-F784-450D-A1A2-2F51D576E877}"/>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9" name="Shape 7791">
                <a:extLst>
                  <a:ext uri="{FF2B5EF4-FFF2-40B4-BE49-F238E27FC236}">
                    <a16:creationId xmlns:a16="http://schemas.microsoft.com/office/drawing/2014/main" id="{A20B9DB2-6DF7-4E28-9BF7-72C34F8CF98E}"/>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1" name="Shape 7792">
                <a:extLst>
                  <a:ext uri="{FF2B5EF4-FFF2-40B4-BE49-F238E27FC236}">
                    <a16:creationId xmlns:a16="http://schemas.microsoft.com/office/drawing/2014/main" id="{DAC2964D-BAD9-4BFF-BF2F-29A48A13610A}"/>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2" name="Shape 7793">
                <a:extLst>
                  <a:ext uri="{FF2B5EF4-FFF2-40B4-BE49-F238E27FC236}">
                    <a16:creationId xmlns:a16="http://schemas.microsoft.com/office/drawing/2014/main" id="{28F7CF2F-1D61-41EF-8AA5-56B72C66B691}"/>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3" name="Shape 7794">
                <a:extLst>
                  <a:ext uri="{FF2B5EF4-FFF2-40B4-BE49-F238E27FC236}">
                    <a16:creationId xmlns:a16="http://schemas.microsoft.com/office/drawing/2014/main" id="{172A1A42-59D1-4EB9-95C5-C702481201AC}"/>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4" name="Shape 7795">
                <a:extLst>
                  <a:ext uri="{FF2B5EF4-FFF2-40B4-BE49-F238E27FC236}">
                    <a16:creationId xmlns:a16="http://schemas.microsoft.com/office/drawing/2014/main" id="{94CB30F0-98D6-4F1E-876F-481D10337356}"/>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5" name="Shape 7796">
                <a:extLst>
                  <a:ext uri="{FF2B5EF4-FFF2-40B4-BE49-F238E27FC236}">
                    <a16:creationId xmlns:a16="http://schemas.microsoft.com/office/drawing/2014/main" id="{6DA7450B-43E2-4E06-BA1C-5A3EBEEEDF54}"/>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6" name="Shape 7797">
                <a:extLst>
                  <a:ext uri="{FF2B5EF4-FFF2-40B4-BE49-F238E27FC236}">
                    <a16:creationId xmlns:a16="http://schemas.microsoft.com/office/drawing/2014/main" id="{20B2DD9D-E10B-4925-A8DE-CFE1C9803F2F}"/>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7" name="Shape 7798">
                <a:extLst>
                  <a:ext uri="{FF2B5EF4-FFF2-40B4-BE49-F238E27FC236}">
                    <a16:creationId xmlns:a16="http://schemas.microsoft.com/office/drawing/2014/main" id="{693C647A-F689-4AF1-B922-7A7333B0051D}"/>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8" name="Shape 7799">
                <a:extLst>
                  <a:ext uri="{FF2B5EF4-FFF2-40B4-BE49-F238E27FC236}">
                    <a16:creationId xmlns:a16="http://schemas.microsoft.com/office/drawing/2014/main" id="{106841BD-409E-4CEE-986C-2E2ED764EF9A}"/>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9" name="Shape 7800">
                <a:extLst>
                  <a:ext uri="{FF2B5EF4-FFF2-40B4-BE49-F238E27FC236}">
                    <a16:creationId xmlns:a16="http://schemas.microsoft.com/office/drawing/2014/main" id="{5C5FE791-BEDF-481C-8F17-713C83FA7AB1}"/>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0" name="Shape 7801">
                <a:extLst>
                  <a:ext uri="{FF2B5EF4-FFF2-40B4-BE49-F238E27FC236}">
                    <a16:creationId xmlns:a16="http://schemas.microsoft.com/office/drawing/2014/main" id="{EC744E4F-66EA-4C47-9E00-0D182F7CCEB2}"/>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1" name="Shape 7802">
                <a:extLst>
                  <a:ext uri="{FF2B5EF4-FFF2-40B4-BE49-F238E27FC236}">
                    <a16:creationId xmlns:a16="http://schemas.microsoft.com/office/drawing/2014/main" id="{076E5520-CD63-4400-917C-0807C777C5D2}"/>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2" name="Shape 7803">
                <a:extLst>
                  <a:ext uri="{FF2B5EF4-FFF2-40B4-BE49-F238E27FC236}">
                    <a16:creationId xmlns:a16="http://schemas.microsoft.com/office/drawing/2014/main" id="{63C8B351-283B-48F8-8D49-AF615E48FCDB}"/>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3" name="Shape 7804">
                <a:extLst>
                  <a:ext uri="{FF2B5EF4-FFF2-40B4-BE49-F238E27FC236}">
                    <a16:creationId xmlns:a16="http://schemas.microsoft.com/office/drawing/2014/main" id="{E1FC3003-054D-4497-A29F-04AE52BBE8EA}"/>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4" name="Shape 7805">
                <a:extLst>
                  <a:ext uri="{FF2B5EF4-FFF2-40B4-BE49-F238E27FC236}">
                    <a16:creationId xmlns:a16="http://schemas.microsoft.com/office/drawing/2014/main" id="{A1ED541F-59F5-4F9C-9554-867F1083219B}"/>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5" name="Shape 7806">
                <a:extLst>
                  <a:ext uri="{FF2B5EF4-FFF2-40B4-BE49-F238E27FC236}">
                    <a16:creationId xmlns:a16="http://schemas.microsoft.com/office/drawing/2014/main" id="{D9CC6AC9-CD26-472B-B8D8-96D2D4BF287E}"/>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337097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t>Agenda</a:t>
            </a:r>
          </a:p>
        </p:txBody>
      </p:sp>
      <p:sp>
        <p:nvSpPr>
          <p:cNvPr id="5" name="Content Placeholder 2">
            <a:extLst>
              <a:ext uri="{FF2B5EF4-FFF2-40B4-BE49-F238E27FC236}">
                <a16:creationId xmlns:a16="http://schemas.microsoft.com/office/drawing/2014/main" id="{A9AAC721-0665-1382-22BD-DF794AA9B8D6}"/>
              </a:ext>
            </a:extLst>
          </p:cNvPr>
          <p:cNvSpPr txBox="1">
            <a:spLocks/>
          </p:cNvSpPr>
          <p:nvPr/>
        </p:nvSpPr>
        <p:spPr>
          <a:xfrm>
            <a:off x="679450" y="1660525"/>
            <a:ext cx="10833100" cy="3346373"/>
          </a:xfrm>
          <a:prstGeom prst="rect">
            <a:avLst/>
          </a:prstGeom>
        </p:spPr>
        <p:txBody>
          <a:bodyPr vert="horz" lIns="0" tIns="0" rIns="0" bIns="0" numCol="2" spcCol="720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b="1" dirty="0">
                <a:solidFill>
                  <a:schemeClr val="tx1"/>
                </a:solidFill>
              </a:rPr>
              <a:t>Introduction</a:t>
            </a:r>
            <a:r>
              <a:rPr lang="en-US" sz="2400" dirty="0"/>
              <a:t> To Python</a:t>
            </a:r>
          </a:p>
          <a:p>
            <a:pPr>
              <a:lnSpc>
                <a:spcPct val="100000"/>
              </a:lnSpc>
            </a:pPr>
            <a:r>
              <a:rPr lang="en-US" sz="2400" dirty="0"/>
              <a:t>Keywords, Identifiers, Comments, Statements, Indentation, Docstring</a:t>
            </a:r>
          </a:p>
          <a:p>
            <a:pPr>
              <a:lnSpc>
                <a:spcPct val="100000"/>
              </a:lnSpc>
            </a:pPr>
            <a:r>
              <a:rPr lang="en-US" sz="2400" b="1" dirty="0">
                <a:solidFill>
                  <a:schemeClr val="tx1"/>
                </a:solidFill>
              </a:rPr>
              <a:t>Variables</a:t>
            </a:r>
            <a:r>
              <a:rPr lang="en-US" sz="2400" dirty="0"/>
              <a:t> In Python</a:t>
            </a:r>
          </a:p>
          <a:p>
            <a:pPr>
              <a:lnSpc>
                <a:spcPct val="100000"/>
              </a:lnSpc>
            </a:pPr>
            <a:r>
              <a:rPr lang="en-US" sz="2400" dirty="0"/>
              <a:t>Operators In Python - Arithmetic, Comparison, Logical, Bitwise, Assignment, Membership</a:t>
            </a:r>
          </a:p>
          <a:p>
            <a:pPr>
              <a:lnSpc>
                <a:spcPct val="100000"/>
              </a:lnSpc>
            </a:pPr>
            <a:r>
              <a:rPr lang="en-US" sz="2400" b="1" dirty="0">
                <a:solidFill>
                  <a:schemeClr val="tx1"/>
                </a:solidFill>
              </a:rPr>
              <a:t>Data Types </a:t>
            </a:r>
            <a:r>
              <a:rPr lang="en-US" sz="2400" dirty="0"/>
              <a:t>In Python (Numeric Boolean &amp; String)</a:t>
            </a:r>
          </a:p>
          <a:p>
            <a:pPr>
              <a:lnSpc>
                <a:spcPct val="100000"/>
              </a:lnSpc>
            </a:pPr>
            <a:r>
              <a:rPr lang="en-US" sz="2400" dirty="0"/>
              <a:t>Arithmetic Operations, Logical Operations</a:t>
            </a:r>
          </a:p>
          <a:p>
            <a:pPr>
              <a:lnSpc>
                <a:spcPct val="100000"/>
              </a:lnSpc>
            </a:pPr>
            <a:r>
              <a:rPr lang="en-US" sz="2400" b="1" dirty="0">
                <a:solidFill>
                  <a:schemeClr val="tx1"/>
                </a:solidFill>
              </a:rPr>
              <a:t>Conditional Statements: </a:t>
            </a:r>
            <a:r>
              <a:rPr lang="en-US" sz="2400" dirty="0"/>
              <a:t>If-else Loops, For Loops, While Loops</a:t>
            </a:r>
          </a:p>
        </p:txBody>
      </p:sp>
    </p:spTree>
    <p:extLst>
      <p:ext uri="{BB962C8B-B14F-4D97-AF65-F5344CB8AC3E}">
        <p14:creationId xmlns:p14="http://schemas.microsoft.com/office/powerpoint/2010/main" val="2272459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Python</a:t>
            </a:r>
          </a:p>
        </p:txBody>
      </p:sp>
      <p:graphicFrame>
        <p:nvGraphicFramePr>
          <p:cNvPr id="2" name="Table 1">
            <a:extLst>
              <a:ext uri="{FF2B5EF4-FFF2-40B4-BE49-F238E27FC236}">
                <a16:creationId xmlns:a16="http://schemas.microsoft.com/office/drawing/2014/main" id="{5B6806B4-6F8C-EB91-FB81-8D5BC6968C1D}"/>
              </a:ext>
            </a:extLst>
          </p:cNvPr>
          <p:cNvGraphicFramePr>
            <a:graphicFrameLocks noGrp="1"/>
          </p:cNvGraphicFramePr>
          <p:nvPr/>
        </p:nvGraphicFramePr>
        <p:xfrm>
          <a:off x="678882" y="1660526"/>
          <a:ext cx="10834234" cy="4349268"/>
        </p:xfrm>
        <a:graphic>
          <a:graphicData uri="http://schemas.openxmlformats.org/drawingml/2006/table">
            <a:tbl>
              <a:tblPr firstRow="1" bandRow="1">
                <a:tableStyleId>{5C22544A-7EE6-4342-B048-85BDC9FD1C3A}</a:tableStyleId>
              </a:tblPr>
              <a:tblGrid>
                <a:gridCol w="5417117">
                  <a:extLst>
                    <a:ext uri="{9D8B030D-6E8A-4147-A177-3AD203B41FA5}">
                      <a16:colId xmlns:a16="http://schemas.microsoft.com/office/drawing/2014/main" val="942646441"/>
                    </a:ext>
                  </a:extLst>
                </a:gridCol>
                <a:gridCol w="5417117">
                  <a:extLst>
                    <a:ext uri="{9D8B030D-6E8A-4147-A177-3AD203B41FA5}">
                      <a16:colId xmlns:a16="http://schemas.microsoft.com/office/drawing/2014/main" val="963627355"/>
                    </a:ext>
                  </a:extLst>
                </a:gridCol>
              </a:tblGrid>
              <a:tr h="506395">
                <a:tc>
                  <a:txBody>
                    <a:bodyPr/>
                    <a:lstStyle/>
                    <a:p>
                      <a:pPr algn="l"/>
                      <a:r>
                        <a:rPr lang="en-US" sz="2800" b="1" kern="1200" dirty="0">
                          <a:solidFill>
                            <a:schemeClr val="tx1"/>
                          </a:solidFill>
                          <a:latin typeface="+mn-lt"/>
                          <a:ea typeface="+mn-ea"/>
                          <a:cs typeface="+mn-cs"/>
                        </a:rPr>
                        <a:t>Why Python</a:t>
                      </a:r>
                    </a:p>
                  </a:txBody>
                  <a:tcPr anchor="ctr">
                    <a:lnB w="12700" cap="flat" cmpd="sng" algn="ctr">
                      <a:solidFill>
                        <a:schemeClr val="bg2">
                          <a:lumMod val="50000"/>
                        </a:schemeClr>
                      </a:solidFill>
                      <a:prstDash val="solid"/>
                      <a:round/>
                      <a:headEnd type="none" w="med" len="med"/>
                      <a:tailEnd type="none" w="med" len="med"/>
                    </a:lnB>
                    <a:noFill/>
                  </a:tcPr>
                </a:tc>
                <a:tc>
                  <a:txBody>
                    <a:bodyPr/>
                    <a:lstStyle/>
                    <a:p>
                      <a:pPr algn="l"/>
                      <a:r>
                        <a:rPr lang="en-US" sz="2800" b="1" kern="1200" dirty="0">
                          <a:solidFill>
                            <a:schemeClr val="tx1"/>
                          </a:solidFill>
                          <a:latin typeface="+mn-lt"/>
                          <a:ea typeface="+mn-ea"/>
                          <a:cs typeface="+mn-cs"/>
                        </a:rPr>
                        <a:t>Application</a:t>
                      </a:r>
                    </a:p>
                  </a:txBody>
                  <a:tcPr anchor="ctr">
                    <a:lnB w="12700" cap="flat" cmpd="sng" algn="ctr">
                      <a:solidFill>
                        <a:schemeClr val="bg2">
                          <a:lumMod val="50000"/>
                        </a:schemeClr>
                      </a:solidFill>
                      <a:prstDash val="solid"/>
                      <a:round/>
                      <a:headEnd type="none" w="med" len="med"/>
                      <a:tailEnd type="none" w="med" len="med"/>
                    </a:lnB>
                    <a:noFill/>
                  </a:tcPr>
                </a:tc>
                <a:extLst>
                  <a:ext uri="{0D108BD9-81ED-4DB2-BD59-A6C34878D82A}">
                    <a16:rowId xmlns:a16="http://schemas.microsoft.com/office/drawing/2014/main" val="2719279010"/>
                  </a:ext>
                </a:extLst>
              </a:tr>
              <a:tr h="3831108">
                <a:tc>
                  <a:txBody>
                    <a:bodyPr/>
                    <a:lstStyle/>
                    <a:p>
                      <a:pPr marL="298450" indent="-285750">
                        <a:spcBef>
                          <a:spcPts val="805"/>
                        </a:spcBef>
                        <a:buFont typeface="Arial" panose="020B0604020202020204" pitchFamily="34" charset="0"/>
                        <a:buChar char="•"/>
                      </a:pPr>
                      <a:r>
                        <a:rPr lang="en-US" sz="1800" b="0" i="0" dirty="0">
                          <a:solidFill>
                            <a:srgbClr val="000000"/>
                          </a:solidFill>
                          <a:effectLst/>
                          <a:latin typeface="+mn-lt"/>
                        </a:rPr>
                        <a:t>Beginner Friendly</a:t>
                      </a:r>
                    </a:p>
                    <a:p>
                      <a:pPr marL="298450" indent="-285750">
                        <a:spcBef>
                          <a:spcPts val="805"/>
                        </a:spcBef>
                        <a:buFont typeface="Arial" panose="020B0604020202020204" pitchFamily="34" charset="0"/>
                        <a:buChar char="•"/>
                      </a:pPr>
                      <a:r>
                        <a:rPr lang="en-US" sz="1800" b="0" i="0" dirty="0">
                          <a:solidFill>
                            <a:srgbClr val="000000"/>
                          </a:solidFill>
                          <a:effectLst/>
                          <a:latin typeface="+mn-lt"/>
                        </a:rPr>
                        <a:t>Used in Industry in Data Science</a:t>
                      </a:r>
                    </a:p>
                    <a:p>
                      <a:pPr marL="298450" indent="-285750">
                        <a:spcBef>
                          <a:spcPts val="805"/>
                        </a:spcBef>
                        <a:buFont typeface="Arial" panose="020B0604020202020204" pitchFamily="34" charset="0"/>
                        <a:buChar char="•"/>
                      </a:pPr>
                      <a:r>
                        <a:rPr lang="en-US" sz="1800" b="0" i="0" dirty="0">
                          <a:solidFill>
                            <a:srgbClr val="000000"/>
                          </a:solidFill>
                          <a:effectLst/>
                          <a:latin typeface="+mn-lt"/>
                        </a:rPr>
                        <a:t>Portable and Platform Independent</a:t>
                      </a:r>
                    </a:p>
                    <a:p>
                      <a:pPr marL="298450" indent="-285750">
                        <a:spcBef>
                          <a:spcPts val="805"/>
                        </a:spcBef>
                        <a:buFont typeface="Arial" panose="020B0604020202020204" pitchFamily="34" charset="0"/>
                        <a:buChar char="•"/>
                      </a:pPr>
                      <a:r>
                        <a:rPr lang="en-US" sz="1800" b="0" i="0" dirty="0">
                          <a:solidFill>
                            <a:srgbClr val="000000"/>
                          </a:solidFill>
                          <a:effectLst/>
                          <a:latin typeface="+mn-lt"/>
                        </a:rPr>
                        <a:t>Python is easy to learn and Understand</a:t>
                      </a:r>
                    </a:p>
                    <a:p>
                      <a:pPr marL="298450" indent="-285750">
                        <a:spcBef>
                          <a:spcPts val="805"/>
                        </a:spcBef>
                        <a:buFont typeface="Arial" panose="020B0604020202020204" pitchFamily="34" charset="0"/>
                        <a:buChar char="•"/>
                      </a:pPr>
                      <a:r>
                        <a:rPr lang="en-US" sz="1800" b="0" i="0" dirty="0">
                          <a:solidFill>
                            <a:srgbClr val="000000"/>
                          </a:solidFill>
                          <a:effectLst/>
                          <a:latin typeface="+mn-lt"/>
                        </a:rPr>
                        <a:t>No of line can be drastically decreased </a:t>
                      </a:r>
                    </a:p>
                    <a:p>
                      <a:pPr marL="298450" indent="-285750">
                        <a:spcBef>
                          <a:spcPts val="805"/>
                        </a:spcBef>
                        <a:buFont typeface="Arial" panose="020B0604020202020204" pitchFamily="34" charset="0"/>
                        <a:buChar char="•"/>
                      </a:pPr>
                      <a:r>
                        <a:rPr lang="en-US" sz="1800" b="0" i="0" dirty="0">
                          <a:solidFill>
                            <a:srgbClr val="000000"/>
                          </a:solidFill>
                          <a:effectLst/>
                          <a:latin typeface="+mn-lt"/>
                        </a:rPr>
                        <a:t>Easy to debug and Less error prone</a:t>
                      </a:r>
                    </a:p>
                    <a:p>
                      <a:pPr marL="298450" indent="-285750">
                        <a:spcBef>
                          <a:spcPts val="805"/>
                        </a:spcBef>
                        <a:buFont typeface="Arial" panose="020B0604020202020204" pitchFamily="34" charset="0"/>
                        <a:buChar char="•"/>
                      </a:pPr>
                      <a:r>
                        <a:rPr lang="en-US" sz="1800" b="0" i="0" dirty="0">
                          <a:solidFill>
                            <a:srgbClr val="000000"/>
                          </a:solidFill>
                          <a:effectLst/>
                          <a:latin typeface="+mn-lt"/>
                        </a:rPr>
                        <a:t>Dynamically typed PL</a:t>
                      </a:r>
                    </a:p>
                    <a:p>
                      <a:pPr marL="298450" indent="-285750">
                        <a:spcBef>
                          <a:spcPts val="805"/>
                        </a:spcBef>
                        <a:buFont typeface="Arial" panose="020B0604020202020204" pitchFamily="34" charset="0"/>
                        <a:buChar char="•"/>
                      </a:pPr>
                      <a:r>
                        <a:rPr lang="en-US" sz="1800" b="0" i="0" dirty="0">
                          <a:solidFill>
                            <a:srgbClr val="000000"/>
                          </a:solidFill>
                          <a:effectLst/>
                          <a:latin typeface="+mn-lt"/>
                        </a:rPr>
                        <a:t>Interpreted</a:t>
                      </a:r>
                    </a:p>
                    <a:p>
                      <a:pPr marL="298450" indent="-285750">
                        <a:spcBef>
                          <a:spcPts val="805"/>
                        </a:spcBef>
                        <a:buFont typeface="Arial" panose="020B0604020202020204" pitchFamily="34" charset="0"/>
                        <a:buChar char="•"/>
                      </a:pPr>
                      <a:r>
                        <a:rPr lang="en-US" sz="1800" b="0" i="0" dirty="0">
                          <a:solidFill>
                            <a:srgbClr val="000000"/>
                          </a:solidFill>
                          <a:effectLst/>
                          <a:latin typeface="+mn-lt"/>
                        </a:rPr>
                        <a:t>Automatic memory management</a:t>
                      </a:r>
                    </a:p>
                    <a:p>
                      <a:pPr marL="298450" indent="-285750">
                        <a:spcBef>
                          <a:spcPts val="805"/>
                        </a:spcBef>
                        <a:buFont typeface="Arial" panose="020B0604020202020204" pitchFamily="34" charset="0"/>
                        <a:buChar char="•"/>
                      </a:pPr>
                      <a:r>
                        <a:rPr lang="en-US" sz="1800" b="0" i="0" dirty="0">
                          <a:solidFill>
                            <a:srgbClr val="000000"/>
                          </a:solidFill>
                          <a:effectLst/>
                          <a:latin typeface="+mn-lt"/>
                        </a:rPr>
                        <a:t>Free &amp; Open Source</a:t>
                      </a:r>
                    </a:p>
                  </a:txBody>
                  <a:tcPr marL="0" marR="0" marT="0" marB="0" anchor="ctr">
                    <a:lnT w="12700" cap="flat" cmpd="sng" algn="ctr">
                      <a:solidFill>
                        <a:schemeClr val="bg2">
                          <a:lumMod val="50000"/>
                        </a:schemeClr>
                      </a:solidFill>
                      <a:prstDash val="solid"/>
                      <a:round/>
                      <a:headEnd type="none" w="med" len="med"/>
                      <a:tailEnd type="none" w="med" len="med"/>
                    </a:lnT>
                    <a:noFill/>
                  </a:tcPr>
                </a:tc>
                <a:tc>
                  <a:txBody>
                    <a:bodyPr/>
                    <a:lstStyle/>
                    <a:p>
                      <a:pPr marL="298450" indent="-285750" algn="l" defTabSz="914400" rtl="0" eaLnBrk="1" latinLnBrk="0" hangingPunct="1">
                        <a:spcBef>
                          <a:spcPts val="805"/>
                        </a:spcBef>
                        <a:buFont typeface="Arial" panose="020B0604020202020204" pitchFamily="34" charset="0"/>
                        <a:buChar char="•"/>
                      </a:pPr>
                      <a:r>
                        <a:rPr lang="en-US" sz="1800" b="0" i="0" kern="1200" dirty="0">
                          <a:solidFill>
                            <a:srgbClr val="000000"/>
                          </a:solidFill>
                          <a:effectLst/>
                          <a:latin typeface="+mn-lt"/>
                          <a:ea typeface="+mn-ea"/>
                          <a:cs typeface="+mn-cs"/>
                        </a:rPr>
                        <a:t>Web Development</a:t>
                      </a:r>
                    </a:p>
                    <a:p>
                      <a:pPr marL="298450" indent="-285750" algn="l" defTabSz="914400" rtl="0" eaLnBrk="1" latinLnBrk="0" hangingPunct="1">
                        <a:spcBef>
                          <a:spcPts val="805"/>
                        </a:spcBef>
                        <a:buFont typeface="Arial" panose="020B0604020202020204" pitchFamily="34" charset="0"/>
                        <a:buChar char="•"/>
                      </a:pPr>
                      <a:r>
                        <a:rPr lang="en-US" sz="1800" b="0" i="0" kern="1200" dirty="0">
                          <a:solidFill>
                            <a:srgbClr val="000000"/>
                          </a:solidFill>
                          <a:effectLst/>
                          <a:latin typeface="+mn-lt"/>
                          <a:ea typeface="+mn-ea"/>
                          <a:cs typeface="+mn-cs"/>
                        </a:rPr>
                        <a:t>Data Science and Machine Learning</a:t>
                      </a:r>
                    </a:p>
                    <a:p>
                      <a:pPr marL="298450" indent="-285750" algn="l" defTabSz="914400" rtl="0" eaLnBrk="1" latinLnBrk="0" hangingPunct="1">
                        <a:spcBef>
                          <a:spcPts val="805"/>
                        </a:spcBef>
                        <a:buFont typeface="Arial" panose="020B0604020202020204" pitchFamily="34" charset="0"/>
                        <a:buChar char="•"/>
                      </a:pPr>
                      <a:r>
                        <a:rPr lang="en-US" sz="1800" b="0" i="0" kern="1200" dirty="0">
                          <a:solidFill>
                            <a:srgbClr val="000000"/>
                          </a:solidFill>
                          <a:effectLst/>
                          <a:latin typeface="+mn-lt"/>
                          <a:ea typeface="+mn-ea"/>
                          <a:cs typeface="+mn-cs"/>
                        </a:rPr>
                        <a:t>Scientific Computing</a:t>
                      </a:r>
                    </a:p>
                    <a:p>
                      <a:pPr marL="298450" indent="-285750" algn="l" defTabSz="914400" rtl="0" eaLnBrk="1" latinLnBrk="0" hangingPunct="1">
                        <a:spcBef>
                          <a:spcPts val="805"/>
                        </a:spcBef>
                        <a:buFont typeface="Arial" panose="020B0604020202020204" pitchFamily="34" charset="0"/>
                        <a:buChar char="•"/>
                      </a:pPr>
                      <a:r>
                        <a:rPr lang="en-US" sz="1800" b="0" i="0" kern="1200" dirty="0">
                          <a:solidFill>
                            <a:srgbClr val="000000"/>
                          </a:solidFill>
                          <a:effectLst/>
                          <a:latin typeface="+mn-lt"/>
                          <a:ea typeface="+mn-ea"/>
                          <a:cs typeface="+mn-cs"/>
                        </a:rPr>
                        <a:t>Automation and Scripting</a:t>
                      </a:r>
                    </a:p>
                    <a:p>
                      <a:pPr marL="298450" indent="-285750" algn="l" defTabSz="914400" rtl="0" eaLnBrk="1" latinLnBrk="0" hangingPunct="1">
                        <a:spcBef>
                          <a:spcPts val="805"/>
                        </a:spcBef>
                        <a:buFont typeface="Arial" panose="020B0604020202020204" pitchFamily="34" charset="0"/>
                        <a:buChar char="•"/>
                      </a:pPr>
                      <a:r>
                        <a:rPr lang="en-US" sz="1800" b="0" i="0" kern="1200" dirty="0">
                          <a:solidFill>
                            <a:srgbClr val="000000"/>
                          </a:solidFill>
                          <a:effectLst/>
                          <a:latin typeface="+mn-lt"/>
                          <a:ea typeface="+mn-ea"/>
                          <a:cs typeface="+mn-cs"/>
                        </a:rPr>
                        <a:t>Game Development</a:t>
                      </a:r>
                    </a:p>
                    <a:p>
                      <a:pPr marL="298450" indent="-285750" algn="l" defTabSz="914400" rtl="0" eaLnBrk="1" latinLnBrk="0" hangingPunct="1">
                        <a:spcBef>
                          <a:spcPts val="805"/>
                        </a:spcBef>
                        <a:buFont typeface="Arial" panose="020B0604020202020204" pitchFamily="34" charset="0"/>
                        <a:buChar char="•"/>
                      </a:pPr>
                      <a:r>
                        <a:rPr lang="en-US" sz="1800" b="0" i="0" kern="1200" dirty="0">
                          <a:solidFill>
                            <a:srgbClr val="000000"/>
                          </a:solidFill>
                          <a:effectLst/>
                          <a:latin typeface="+mn-lt"/>
                          <a:ea typeface="+mn-ea"/>
                          <a:cs typeface="+mn-cs"/>
                        </a:rPr>
                        <a:t>Internet of Things (IoT)</a:t>
                      </a:r>
                    </a:p>
                    <a:p>
                      <a:pPr marL="298450" indent="-285750" algn="l" defTabSz="914400" rtl="0" eaLnBrk="1" latinLnBrk="0" hangingPunct="1">
                        <a:spcBef>
                          <a:spcPts val="805"/>
                        </a:spcBef>
                        <a:buFont typeface="Arial" panose="020B0604020202020204" pitchFamily="34" charset="0"/>
                        <a:buChar char="•"/>
                      </a:pPr>
                      <a:r>
                        <a:rPr lang="en-US" sz="1800" b="0" i="0" kern="1200" dirty="0">
                          <a:solidFill>
                            <a:srgbClr val="000000"/>
                          </a:solidFill>
                          <a:effectLst/>
                          <a:latin typeface="+mn-lt"/>
                          <a:ea typeface="+mn-ea"/>
                          <a:cs typeface="+mn-cs"/>
                        </a:rPr>
                        <a:t>Finance</a:t>
                      </a:r>
                    </a:p>
                    <a:p>
                      <a:pPr marL="298450" indent="-285750" algn="l" defTabSz="914400" rtl="0" eaLnBrk="1" latinLnBrk="0" hangingPunct="1">
                        <a:spcBef>
                          <a:spcPts val="805"/>
                        </a:spcBef>
                        <a:buFont typeface="Arial" panose="020B0604020202020204" pitchFamily="34" charset="0"/>
                        <a:buChar char="•"/>
                      </a:pPr>
                      <a:r>
                        <a:rPr lang="en-US" sz="1800" b="0" i="0" kern="1200" dirty="0">
                          <a:solidFill>
                            <a:srgbClr val="000000"/>
                          </a:solidFill>
                          <a:effectLst/>
                          <a:latin typeface="+mn-lt"/>
                          <a:ea typeface="+mn-ea"/>
                          <a:cs typeface="+mn-cs"/>
                        </a:rPr>
                        <a:t>Education</a:t>
                      </a:r>
                    </a:p>
                    <a:p>
                      <a:pPr marL="298450" indent="-285750" algn="l" defTabSz="914400" rtl="0" eaLnBrk="1" latinLnBrk="0" hangingPunct="1">
                        <a:spcBef>
                          <a:spcPts val="805"/>
                        </a:spcBef>
                        <a:buFont typeface="Arial" panose="020B0604020202020204" pitchFamily="34" charset="0"/>
                        <a:buChar char="•"/>
                      </a:pPr>
                      <a:r>
                        <a:rPr lang="en-US" sz="1800" b="0" i="0" kern="1200" dirty="0">
                          <a:solidFill>
                            <a:srgbClr val="000000"/>
                          </a:solidFill>
                          <a:effectLst/>
                          <a:latin typeface="+mn-lt"/>
                          <a:ea typeface="+mn-ea"/>
                          <a:cs typeface="+mn-cs"/>
                        </a:rPr>
                        <a:t>Healthcare</a:t>
                      </a:r>
                    </a:p>
                    <a:p>
                      <a:pPr marL="298450" indent="-285750" algn="l" defTabSz="914400" rtl="0" eaLnBrk="1" latinLnBrk="0" hangingPunct="1">
                        <a:spcBef>
                          <a:spcPts val="805"/>
                        </a:spcBef>
                        <a:buFont typeface="Arial" panose="020B0604020202020204" pitchFamily="34" charset="0"/>
                        <a:buChar char="•"/>
                      </a:pPr>
                      <a:r>
                        <a:rPr lang="en-US" sz="1800" b="0" i="0" kern="1200" dirty="0">
                          <a:solidFill>
                            <a:srgbClr val="000000"/>
                          </a:solidFill>
                          <a:effectLst/>
                          <a:latin typeface="+mn-lt"/>
                          <a:ea typeface="+mn-ea"/>
                          <a:cs typeface="+mn-cs"/>
                        </a:rPr>
                        <a:t>Natural Language Processing (NLP)</a:t>
                      </a:r>
                    </a:p>
                  </a:txBody>
                  <a:tcPr marL="0" marR="0" marT="0" marB="0" anchor="ctr">
                    <a:lnT w="12700" cap="flat" cmpd="sng" algn="ctr">
                      <a:solidFill>
                        <a:schemeClr val="bg2">
                          <a:lumMod val="50000"/>
                        </a:schemeClr>
                      </a:solidFill>
                      <a:prstDash val="solid"/>
                      <a:round/>
                      <a:headEnd type="none" w="med" len="med"/>
                      <a:tailEnd type="none" w="med" len="med"/>
                    </a:lnT>
                    <a:noFill/>
                  </a:tcPr>
                </a:tc>
                <a:extLst>
                  <a:ext uri="{0D108BD9-81ED-4DB2-BD59-A6C34878D82A}">
                    <a16:rowId xmlns:a16="http://schemas.microsoft.com/office/drawing/2014/main" val="3293529267"/>
                  </a:ext>
                </a:extLst>
              </a:tr>
            </a:tbl>
          </a:graphicData>
        </a:graphic>
      </p:graphicFrame>
    </p:spTree>
    <p:extLst>
      <p:ext uri="{BB962C8B-B14F-4D97-AF65-F5344CB8AC3E}">
        <p14:creationId xmlns:p14="http://schemas.microsoft.com/office/powerpoint/2010/main" val="3124510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Google </a:t>
            </a:r>
            <a:r>
              <a:rPr lang="en-US" dirty="0" err="1"/>
              <a:t>Colab</a:t>
            </a:r>
            <a:endParaRPr lang="en-US" dirty="0"/>
          </a:p>
        </p:txBody>
      </p:sp>
      <p:sp>
        <p:nvSpPr>
          <p:cNvPr id="5" name="Content Placeholder 4">
            <a:extLst>
              <a:ext uri="{FF2B5EF4-FFF2-40B4-BE49-F238E27FC236}">
                <a16:creationId xmlns:a16="http://schemas.microsoft.com/office/drawing/2014/main" id="{5A276575-74F5-59E0-142C-5FD4846D5105}"/>
              </a:ext>
            </a:extLst>
          </p:cNvPr>
          <p:cNvSpPr>
            <a:spLocks noGrp="1"/>
          </p:cNvSpPr>
          <p:nvPr>
            <p:ph sz="half" idx="1"/>
          </p:nvPr>
        </p:nvSpPr>
        <p:spPr>
          <a:xfrm>
            <a:off x="678881" y="1381929"/>
            <a:ext cx="11051437" cy="4399442"/>
          </a:xfrm>
        </p:spPr>
        <p:txBody>
          <a:bodyPr lIns="0" tIns="0" rIns="0" bIns="0" numCol="1" spcCol="180000">
            <a:normAutofit lnSpcReduction="10000"/>
          </a:bodyPr>
          <a:lstStyle/>
          <a:p>
            <a:pPr marL="0" indent="0">
              <a:lnSpc>
                <a:spcPct val="110000"/>
              </a:lnSpc>
              <a:spcBef>
                <a:spcPts val="600"/>
              </a:spcBef>
              <a:spcAft>
                <a:spcPts val="600"/>
              </a:spcAft>
              <a:buNone/>
            </a:pPr>
            <a:r>
              <a:rPr lang="en-US" sz="2000" b="0" i="0" dirty="0">
                <a:solidFill>
                  <a:srgbClr val="0F0F0F"/>
                </a:solidFill>
                <a:effectLst/>
                <a:latin typeface="+mn-lt"/>
              </a:rPr>
              <a:t>Google </a:t>
            </a:r>
            <a:r>
              <a:rPr lang="en-US" sz="2000" b="0" i="0" dirty="0" err="1">
                <a:solidFill>
                  <a:srgbClr val="0F0F0F"/>
                </a:solidFill>
                <a:effectLst/>
                <a:latin typeface="+mn-lt"/>
              </a:rPr>
              <a:t>Colab</a:t>
            </a:r>
            <a:r>
              <a:rPr lang="en-US" sz="2000" b="0" i="0" dirty="0">
                <a:solidFill>
                  <a:srgbClr val="0F0F0F"/>
                </a:solidFill>
                <a:effectLst/>
                <a:latin typeface="+mn-lt"/>
              </a:rPr>
              <a:t>, also known as Google </a:t>
            </a:r>
            <a:r>
              <a:rPr lang="en-US" sz="2000" b="0" i="0" dirty="0" err="1">
                <a:solidFill>
                  <a:srgbClr val="0F0F0F"/>
                </a:solidFill>
                <a:effectLst/>
                <a:latin typeface="+mn-lt"/>
              </a:rPr>
              <a:t>Colaboratory</a:t>
            </a:r>
            <a:r>
              <a:rPr lang="en-US" sz="2000" b="0" i="0" dirty="0">
                <a:solidFill>
                  <a:srgbClr val="0F0F0F"/>
                </a:solidFill>
                <a:effectLst/>
                <a:latin typeface="+mn-lt"/>
              </a:rPr>
              <a:t>, is a hosted </a:t>
            </a:r>
            <a:r>
              <a:rPr lang="en-US" sz="2000" b="0" i="0" dirty="0" err="1">
                <a:solidFill>
                  <a:srgbClr val="0F0F0F"/>
                </a:solidFill>
                <a:effectLst/>
                <a:latin typeface="+mn-lt"/>
              </a:rPr>
              <a:t>Jupyter</a:t>
            </a:r>
            <a:r>
              <a:rPr lang="en-US" sz="2000" b="0" i="0" dirty="0">
                <a:solidFill>
                  <a:srgbClr val="0F0F0F"/>
                </a:solidFill>
                <a:effectLst/>
                <a:latin typeface="+mn-lt"/>
              </a:rPr>
              <a:t> notebook environment that allows you to write and execute Python code in your browser. It is completely free to use and requires no setup, making it a popular platform for machine learning, data science, and education.</a:t>
            </a:r>
          </a:p>
          <a:p>
            <a:pPr marL="457200" indent="-457200" algn="l">
              <a:buFont typeface="+mj-lt"/>
              <a:buAutoNum type="arabicPeriod"/>
            </a:pPr>
            <a:r>
              <a:rPr lang="en-US" sz="2000" b="1" i="0" dirty="0">
                <a:solidFill>
                  <a:srgbClr val="374151"/>
                </a:solidFill>
                <a:effectLst/>
                <a:latin typeface="+mn-lt"/>
              </a:rPr>
              <a:t>Cloud-based:</a:t>
            </a:r>
            <a:r>
              <a:rPr lang="en-US" sz="2000" b="0" i="0" dirty="0">
                <a:solidFill>
                  <a:srgbClr val="374151"/>
                </a:solidFill>
                <a:effectLst/>
                <a:latin typeface="+mn-lt"/>
              </a:rPr>
              <a:t> No need to install software; runs on Google's servers with access to GPUs and TPUs.</a:t>
            </a:r>
          </a:p>
          <a:p>
            <a:pPr marL="457200" indent="-457200" algn="l">
              <a:buFont typeface="+mj-lt"/>
              <a:buAutoNum type="arabicPeriod"/>
            </a:pPr>
            <a:r>
              <a:rPr lang="en-US" sz="2000" b="1" i="0" dirty="0">
                <a:solidFill>
                  <a:srgbClr val="374151"/>
                </a:solidFill>
                <a:effectLst/>
                <a:latin typeface="+mn-lt"/>
              </a:rPr>
              <a:t>Free to use:</a:t>
            </a:r>
            <a:r>
              <a:rPr lang="en-US" sz="2000" b="0" i="0" dirty="0">
                <a:solidFill>
                  <a:srgbClr val="374151"/>
                </a:solidFill>
                <a:effectLst/>
                <a:latin typeface="+mn-lt"/>
              </a:rPr>
              <a:t> No usage limits or cost; accessible to everyone.</a:t>
            </a:r>
          </a:p>
          <a:p>
            <a:pPr marL="457200" indent="-457200" algn="l">
              <a:buFont typeface="+mj-lt"/>
              <a:buAutoNum type="arabicPeriod"/>
            </a:pPr>
            <a:r>
              <a:rPr lang="en-US" sz="2000" b="1" i="0" dirty="0" err="1">
                <a:solidFill>
                  <a:srgbClr val="374151"/>
                </a:solidFill>
                <a:effectLst/>
                <a:latin typeface="+mn-lt"/>
              </a:rPr>
              <a:t>Jupyter</a:t>
            </a:r>
            <a:r>
              <a:rPr lang="en-US" sz="2000" b="1" i="0" dirty="0">
                <a:solidFill>
                  <a:srgbClr val="374151"/>
                </a:solidFill>
                <a:effectLst/>
                <a:latin typeface="+mn-lt"/>
              </a:rPr>
              <a:t> notebooks:</a:t>
            </a:r>
            <a:r>
              <a:rPr lang="en-US" sz="2000" b="0" i="0" dirty="0">
                <a:solidFill>
                  <a:srgbClr val="374151"/>
                </a:solidFill>
                <a:effectLst/>
                <a:latin typeface="+mn-lt"/>
              </a:rPr>
              <a:t> Supports code, text, images, and multimedia in a single interactive document.</a:t>
            </a:r>
          </a:p>
          <a:p>
            <a:pPr marL="457200" indent="-457200" algn="l">
              <a:buFont typeface="+mj-lt"/>
              <a:buAutoNum type="arabicPeriod"/>
            </a:pPr>
            <a:r>
              <a:rPr lang="en-US" sz="2000" b="1" i="0" dirty="0">
                <a:solidFill>
                  <a:srgbClr val="374151"/>
                </a:solidFill>
                <a:effectLst/>
                <a:latin typeface="+mn-lt"/>
              </a:rPr>
              <a:t>Easy sharing:</a:t>
            </a:r>
            <a:r>
              <a:rPr lang="en-US" sz="2000" b="0" i="0" dirty="0">
                <a:solidFill>
                  <a:srgbClr val="374151"/>
                </a:solidFill>
                <a:effectLst/>
                <a:latin typeface="+mn-lt"/>
              </a:rPr>
              <a:t> Share notebooks via link for seamless collaboration.</a:t>
            </a:r>
          </a:p>
          <a:p>
            <a:pPr marL="457200" indent="-457200" algn="l">
              <a:buFont typeface="+mj-lt"/>
              <a:buAutoNum type="arabicPeriod"/>
            </a:pPr>
            <a:r>
              <a:rPr lang="en-US" sz="2000" b="1" i="0" dirty="0">
                <a:solidFill>
                  <a:srgbClr val="374151"/>
                </a:solidFill>
                <a:effectLst/>
                <a:latin typeface="+mn-lt"/>
              </a:rPr>
              <a:t>Pre-installed libraries:</a:t>
            </a:r>
            <a:r>
              <a:rPr lang="en-US" sz="2000" b="0" i="0" dirty="0">
                <a:solidFill>
                  <a:srgbClr val="374151"/>
                </a:solidFill>
                <a:effectLst/>
                <a:latin typeface="+mn-lt"/>
              </a:rPr>
              <a:t> Comes with popular ML and data science libraries, saving installation time.</a:t>
            </a:r>
          </a:p>
          <a:p>
            <a:pPr marL="457200" indent="-457200" algn="l">
              <a:buFont typeface="+mj-lt"/>
              <a:buAutoNum type="arabicPeriod"/>
            </a:pPr>
            <a:r>
              <a:rPr lang="en-US" sz="2000" b="1" i="0" dirty="0">
                <a:solidFill>
                  <a:srgbClr val="374151"/>
                </a:solidFill>
                <a:effectLst/>
                <a:latin typeface="+mn-lt"/>
              </a:rPr>
              <a:t>Automatic version control:</a:t>
            </a:r>
            <a:r>
              <a:rPr lang="en-US" sz="2000" b="0" i="0" dirty="0">
                <a:solidFill>
                  <a:srgbClr val="374151"/>
                </a:solidFill>
                <a:effectLst/>
                <a:latin typeface="+mn-lt"/>
              </a:rPr>
              <a:t> Saves work to Google Drive for easy progress tracking and collaboration.</a:t>
            </a:r>
          </a:p>
          <a:p>
            <a:pPr marL="457200" indent="-457200" algn="l">
              <a:buFont typeface="+mj-lt"/>
              <a:buAutoNum type="arabicPeriod"/>
            </a:pPr>
            <a:r>
              <a:rPr lang="en-US" sz="2000" b="1" i="0" dirty="0">
                <a:solidFill>
                  <a:srgbClr val="374151"/>
                </a:solidFill>
                <a:effectLst/>
                <a:latin typeface="+mn-lt"/>
              </a:rPr>
              <a:t>Open source:</a:t>
            </a:r>
            <a:r>
              <a:rPr lang="en-US" sz="2000" b="0" i="0" dirty="0">
                <a:solidFill>
                  <a:srgbClr val="374151"/>
                </a:solidFill>
                <a:effectLst/>
                <a:latin typeface="+mn-lt"/>
              </a:rPr>
              <a:t> An open-source project, continuously improved and updated by contributors.</a:t>
            </a:r>
          </a:p>
          <a:p>
            <a:pPr marL="457200" indent="-457200" algn="l">
              <a:buFont typeface="+mj-lt"/>
              <a:buAutoNum type="arabicPeriod"/>
            </a:pPr>
            <a:endParaRPr lang="en-US" sz="2000" dirty="0">
              <a:solidFill>
                <a:srgbClr val="374151"/>
              </a:solidFill>
              <a:latin typeface="+mn-lt"/>
            </a:endParaRPr>
          </a:p>
          <a:p>
            <a:pPr marL="0" indent="0" algn="l">
              <a:buNone/>
            </a:pPr>
            <a:r>
              <a:rPr lang="en-US" sz="2000" b="0" i="0" dirty="0">
                <a:solidFill>
                  <a:srgbClr val="374151"/>
                </a:solidFill>
                <a:effectLst/>
                <a:latin typeface="+mn-lt"/>
                <a:hlinkClick r:id="rId3"/>
              </a:rPr>
              <a:t>Launch Google </a:t>
            </a:r>
            <a:r>
              <a:rPr lang="en-US" sz="2000" b="0" i="0" dirty="0" err="1">
                <a:solidFill>
                  <a:srgbClr val="374151"/>
                </a:solidFill>
                <a:effectLst/>
                <a:latin typeface="+mn-lt"/>
                <a:hlinkClick r:id="rId3"/>
              </a:rPr>
              <a:t>Colab</a:t>
            </a:r>
            <a:endParaRPr lang="en-US" sz="2000" b="0" i="0" dirty="0">
              <a:solidFill>
                <a:srgbClr val="374151"/>
              </a:solidFill>
              <a:effectLst/>
              <a:latin typeface="+mn-lt"/>
            </a:endParaRPr>
          </a:p>
        </p:txBody>
      </p:sp>
      <p:pic>
        <p:nvPicPr>
          <p:cNvPr id="9218" name="Picture 2">
            <a:extLst>
              <a:ext uri="{FF2B5EF4-FFF2-40B4-BE49-F238E27FC236}">
                <a16:creationId xmlns:a16="http://schemas.microsoft.com/office/drawing/2014/main" id="{A3BACF2A-0495-1755-B120-89472676CC1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8104" t="14882" r="18580" b="17866"/>
          <a:stretch/>
        </p:blipFill>
        <p:spPr bwMode="auto">
          <a:xfrm>
            <a:off x="10369775" y="536125"/>
            <a:ext cx="1143339" cy="747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4969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dirty="0"/>
              <a:t>Fundamental Elements in Python</a:t>
            </a:r>
          </a:p>
        </p:txBody>
      </p:sp>
      <p:sp>
        <p:nvSpPr>
          <p:cNvPr id="33" name="Arrow: Pentagon 32">
            <a:extLst>
              <a:ext uri="{FF2B5EF4-FFF2-40B4-BE49-F238E27FC236}">
                <a16:creationId xmlns:a16="http://schemas.microsoft.com/office/drawing/2014/main" id="{6FA83EE6-ED47-79E6-A90E-611F28472AC8}"/>
              </a:ext>
            </a:extLst>
          </p:cNvPr>
          <p:cNvSpPr/>
          <p:nvPr/>
        </p:nvSpPr>
        <p:spPr>
          <a:xfrm>
            <a:off x="678882" y="1670986"/>
            <a:ext cx="1539385" cy="684000"/>
          </a:xfrm>
          <a:prstGeom prst="homePlate">
            <a:avLst>
              <a:gd name="adj" fmla="val 76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Arrow: Pentagon 33">
            <a:extLst>
              <a:ext uri="{FF2B5EF4-FFF2-40B4-BE49-F238E27FC236}">
                <a16:creationId xmlns:a16="http://schemas.microsoft.com/office/drawing/2014/main" id="{E9689A53-E9D4-9BD4-A4D5-698C7DDEDD23}"/>
              </a:ext>
            </a:extLst>
          </p:cNvPr>
          <p:cNvSpPr/>
          <p:nvPr/>
        </p:nvSpPr>
        <p:spPr>
          <a:xfrm>
            <a:off x="678882" y="2393649"/>
            <a:ext cx="1539385" cy="684000"/>
          </a:xfrm>
          <a:prstGeom prst="homePlate">
            <a:avLst>
              <a:gd name="adj" fmla="val 76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Arrow: Pentagon 34">
            <a:extLst>
              <a:ext uri="{FF2B5EF4-FFF2-40B4-BE49-F238E27FC236}">
                <a16:creationId xmlns:a16="http://schemas.microsoft.com/office/drawing/2014/main" id="{4557E811-9965-90FE-2306-7ECAD2F130AD}"/>
              </a:ext>
            </a:extLst>
          </p:cNvPr>
          <p:cNvSpPr/>
          <p:nvPr/>
        </p:nvSpPr>
        <p:spPr>
          <a:xfrm>
            <a:off x="678882" y="3116312"/>
            <a:ext cx="1539385" cy="684000"/>
          </a:xfrm>
          <a:prstGeom prst="homePlate">
            <a:avLst>
              <a:gd name="adj" fmla="val 76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Arrow: Pentagon 35">
            <a:extLst>
              <a:ext uri="{FF2B5EF4-FFF2-40B4-BE49-F238E27FC236}">
                <a16:creationId xmlns:a16="http://schemas.microsoft.com/office/drawing/2014/main" id="{91D129B7-EC3B-7289-AF30-2D5AAE7DF555}"/>
              </a:ext>
            </a:extLst>
          </p:cNvPr>
          <p:cNvSpPr/>
          <p:nvPr/>
        </p:nvSpPr>
        <p:spPr>
          <a:xfrm>
            <a:off x="678882" y="3838975"/>
            <a:ext cx="1539385" cy="684000"/>
          </a:xfrm>
          <a:prstGeom prst="homePlate">
            <a:avLst>
              <a:gd name="adj" fmla="val 76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Arrow: Pentagon 36">
            <a:extLst>
              <a:ext uri="{FF2B5EF4-FFF2-40B4-BE49-F238E27FC236}">
                <a16:creationId xmlns:a16="http://schemas.microsoft.com/office/drawing/2014/main" id="{34539C6B-2E32-E56D-CB8E-3385D3A72728}"/>
              </a:ext>
            </a:extLst>
          </p:cNvPr>
          <p:cNvSpPr/>
          <p:nvPr/>
        </p:nvSpPr>
        <p:spPr>
          <a:xfrm>
            <a:off x="678882" y="4561638"/>
            <a:ext cx="1539385" cy="684000"/>
          </a:xfrm>
          <a:prstGeom prst="homePlate">
            <a:avLst>
              <a:gd name="adj" fmla="val 76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Arrow: Pentagon 37">
            <a:extLst>
              <a:ext uri="{FF2B5EF4-FFF2-40B4-BE49-F238E27FC236}">
                <a16:creationId xmlns:a16="http://schemas.microsoft.com/office/drawing/2014/main" id="{6F27B8BA-26BF-6AC6-CFA8-160E5A30BCF8}"/>
              </a:ext>
            </a:extLst>
          </p:cNvPr>
          <p:cNvSpPr/>
          <p:nvPr/>
        </p:nvSpPr>
        <p:spPr>
          <a:xfrm>
            <a:off x="678882" y="5284299"/>
            <a:ext cx="1539385" cy="684000"/>
          </a:xfrm>
          <a:prstGeom prst="homePlate">
            <a:avLst>
              <a:gd name="adj" fmla="val 76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0" name="Table 29">
            <a:extLst>
              <a:ext uri="{FF2B5EF4-FFF2-40B4-BE49-F238E27FC236}">
                <a16:creationId xmlns:a16="http://schemas.microsoft.com/office/drawing/2014/main" id="{32734F1B-E228-AA85-AD9A-EFAC30804E57}"/>
              </a:ext>
            </a:extLst>
          </p:cNvPr>
          <p:cNvGraphicFramePr>
            <a:graphicFrameLocks noGrp="1"/>
          </p:cNvGraphicFramePr>
          <p:nvPr/>
        </p:nvGraphicFramePr>
        <p:xfrm>
          <a:off x="678883" y="1659835"/>
          <a:ext cx="10833100" cy="4317216"/>
        </p:xfrm>
        <a:graphic>
          <a:graphicData uri="http://schemas.openxmlformats.org/drawingml/2006/table">
            <a:tbl>
              <a:tblPr firstRow="1" bandRow="1">
                <a:tableStyleId>{5C22544A-7EE6-4342-B048-85BDC9FD1C3A}</a:tableStyleId>
              </a:tblPr>
              <a:tblGrid>
                <a:gridCol w="1592513">
                  <a:extLst>
                    <a:ext uri="{9D8B030D-6E8A-4147-A177-3AD203B41FA5}">
                      <a16:colId xmlns:a16="http://schemas.microsoft.com/office/drawing/2014/main" val="2879270592"/>
                    </a:ext>
                  </a:extLst>
                </a:gridCol>
                <a:gridCol w="9240587">
                  <a:extLst>
                    <a:ext uri="{9D8B030D-6E8A-4147-A177-3AD203B41FA5}">
                      <a16:colId xmlns:a16="http://schemas.microsoft.com/office/drawing/2014/main" val="4086406982"/>
                    </a:ext>
                  </a:extLst>
                </a:gridCol>
              </a:tblGrid>
              <a:tr h="719536">
                <a:tc>
                  <a:txBody>
                    <a:bodyPr/>
                    <a:lstStyle/>
                    <a:p>
                      <a:r>
                        <a:rPr lang="en-US" sz="2000" b="1" i="0" kern="1200" dirty="0">
                          <a:solidFill>
                            <a:schemeClr val="bg1"/>
                          </a:solidFill>
                          <a:effectLst/>
                          <a:latin typeface="+mn-lt"/>
                          <a:ea typeface="+mn-ea"/>
                          <a:cs typeface="+mn-cs"/>
                        </a:rPr>
                        <a:t>Keywords</a:t>
                      </a:r>
                      <a:endParaRPr lang="en-US" sz="2000" b="1" dirty="0">
                        <a:solidFill>
                          <a:schemeClr val="bg1"/>
                        </a:solidFill>
                        <a:latin typeface="+mn-lt"/>
                      </a:endParaRPr>
                    </a:p>
                  </a:txBody>
                  <a:tcPr anchor="ctr">
                    <a:lnL w="12700" cmpd="sng">
                      <a:noFill/>
                    </a:lnL>
                    <a:lnR w="12700" cmpd="sng">
                      <a:noFill/>
                    </a:lnR>
                    <a:lnT w="12700" cmpd="sng">
                      <a:noFill/>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342900" indent="-342900">
                        <a:buFont typeface="Arial" panose="020B0604020202020204" pitchFamily="34" charset="0"/>
                        <a:buChar char="•"/>
                      </a:pPr>
                      <a:r>
                        <a:rPr lang="en-US" sz="1900" b="0" i="0" kern="1200" dirty="0">
                          <a:solidFill>
                            <a:schemeClr val="tx1"/>
                          </a:solidFill>
                          <a:effectLst/>
                          <a:latin typeface="+mn-lt"/>
                          <a:ea typeface="+mn-ea"/>
                          <a:cs typeface="+mn-cs"/>
                        </a:rPr>
                        <a:t>Keywords are reserved words in Python, cannot be used as identifiers </a:t>
                      </a:r>
                    </a:p>
                    <a:p>
                      <a:pPr marL="342900" indent="-342900">
                        <a:buFont typeface="Arial" panose="020B0604020202020204" pitchFamily="34" charset="0"/>
                        <a:buChar char="•"/>
                      </a:pPr>
                      <a:r>
                        <a:rPr lang="en-US" sz="1900" b="0" i="0" kern="1200" dirty="0">
                          <a:solidFill>
                            <a:schemeClr val="tx1"/>
                          </a:solidFill>
                          <a:effectLst/>
                          <a:latin typeface="+mn-lt"/>
                          <a:ea typeface="+mn-ea"/>
                          <a:cs typeface="+mn-cs"/>
                        </a:rPr>
                        <a:t>Examples: </a:t>
                      </a:r>
                      <a:r>
                        <a:rPr lang="en-US" sz="1900" dirty="0">
                          <a:solidFill>
                            <a:schemeClr val="tx1"/>
                          </a:solidFill>
                          <a:latin typeface="+mn-lt"/>
                        </a:rPr>
                        <a:t>if</a:t>
                      </a:r>
                      <a:r>
                        <a:rPr lang="en-US" sz="1900" b="0" i="0" kern="1200" dirty="0">
                          <a:solidFill>
                            <a:schemeClr val="tx1"/>
                          </a:solidFill>
                          <a:effectLst/>
                          <a:latin typeface="+mn-lt"/>
                          <a:ea typeface="+mn-ea"/>
                          <a:cs typeface="+mn-cs"/>
                        </a:rPr>
                        <a:t>, </a:t>
                      </a:r>
                      <a:r>
                        <a:rPr lang="en-US" sz="1900" dirty="0">
                          <a:solidFill>
                            <a:schemeClr val="tx1"/>
                          </a:solidFill>
                          <a:latin typeface="+mn-lt"/>
                        </a:rPr>
                        <a:t>else</a:t>
                      </a:r>
                      <a:r>
                        <a:rPr lang="en-US" sz="1900" b="0" i="0" kern="1200" dirty="0">
                          <a:solidFill>
                            <a:schemeClr val="tx1"/>
                          </a:solidFill>
                          <a:effectLst/>
                          <a:latin typeface="+mn-lt"/>
                          <a:ea typeface="+mn-ea"/>
                          <a:cs typeface="+mn-cs"/>
                        </a:rPr>
                        <a:t>, </a:t>
                      </a:r>
                      <a:r>
                        <a:rPr lang="en-US" sz="1900" dirty="0">
                          <a:solidFill>
                            <a:schemeClr val="tx1"/>
                          </a:solidFill>
                          <a:latin typeface="+mn-lt"/>
                        </a:rPr>
                        <a:t>while</a:t>
                      </a:r>
                      <a:r>
                        <a:rPr lang="en-US" sz="1900" b="0" i="0" kern="1200" dirty="0">
                          <a:solidFill>
                            <a:schemeClr val="tx1"/>
                          </a:solidFill>
                          <a:effectLst/>
                          <a:latin typeface="+mn-lt"/>
                          <a:ea typeface="+mn-ea"/>
                          <a:cs typeface="+mn-cs"/>
                        </a:rPr>
                        <a:t>, </a:t>
                      </a:r>
                      <a:r>
                        <a:rPr lang="en-US" sz="1900" dirty="0">
                          <a:solidFill>
                            <a:schemeClr val="tx1"/>
                          </a:solidFill>
                          <a:latin typeface="+mn-lt"/>
                        </a:rPr>
                        <a:t>for</a:t>
                      </a:r>
                      <a:r>
                        <a:rPr lang="en-US" sz="1900" b="0" i="0" kern="1200" dirty="0">
                          <a:solidFill>
                            <a:schemeClr val="tx1"/>
                          </a:solidFill>
                          <a:effectLst/>
                          <a:latin typeface="+mn-lt"/>
                          <a:ea typeface="+mn-ea"/>
                          <a:cs typeface="+mn-cs"/>
                        </a:rPr>
                        <a:t>, </a:t>
                      </a:r>
                      <a:r>
                        <a:rPr lang="en-US" sz="1900" dirty="0">
                          <a:solidFill>
                            <a:schemeClr val="tx1"/>
                          </a:solidFill>
                          <a:latin typeface="+mn-lt"/>
                        </a:rPr>
                        <a:t>def</a:t>
                      </a:r>
                      <a:r>
                        <a:rPr lang="en-US" sz="1900" b="0" i="0" kern="1200" dirty="0">
                          <a:solidFill>
                            <a:schemeClr val="tx1"/>
                          </a:solidFill>
                          <a:effectLst/>
                          <a:latin typeface="+mn-lt"/>
                          <a:ea typeface="+mn-ea"/>
                          <a:cs typeface="+mn-cs"/>
                        </a:rPr>
                        <a:t>, and </a:t>
                      </a:r>
                      <a:r>
                        <a:rPr lang="en-US" sz="1900" dirty="0">
                          <a:solidFill>
                            <a:schemeClr val="tx1"/>
                          </a:solidFill>
                          <a:latin typeface="+mn-lt"/>
                        </a:rPr>
                        <a:t>class</a:t>
                      </a:r>
                      <a:r>
                        <a:rPr lang="en-US" sz="1900" b="0" i="0" kern="1200" dirty="0">
                          <a:solidFill>
                            <a:schemeClr val="tx1"/>
                          </a:solidFill>
                          <a:effectLst/>
                          <a:latin typeface="+mn-lt"/>
                          <a:ea typeface="+mn-ea"/>
                          <a:cs typeface="+mn-cs"/>
                        </a:rPr>
                        <a:t>.</a:t>
                      </a:r>
                    </a:p>
                  </a:txBody>
                  <a:tcPr marL="0" marR="0" marT="0" marB="0" anchor="ctr">
                    <a:lnL w="12700" cmpd="sng">
                      <a:noFill/>
                    </a:lnL>
                    <a:lnR w="12700" cmpd="sng">
                      <a:noFill/>
                    </a:lnR>
                    <a:lnT w="12700" cmpd="sng">
                      <a:noFill/>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273301"/>
                  </a:ext>
                </a:extLst>
              </a:tr>
              <a:tr h="719536">
                <a:tc>
                  <a:txBody>
                    <a:bodyPr/>
                    <a:lstStyle/>
                    <a:p>
                      <a:r>
                        <a:rPr lang="en-US" sz="2000" b="1" i="0" kern="1200" dirty="0">
                          <a:solidFill>
                            <a:schemeClr val="bg1"/>
                          </a:solidFill>
                          <a:effectLst/>
                          <a:latin typeface="+mn-lt"/>
                          <a:ea typeface="+mn-ea"/>
                          <a:cs typeface="+mn-cs"/>
                        </a:rPr>
                        <a:t>Identifiers</a:t>
                      </a:r>
                      <a:endParaRPr lang="en-US" sz="2000" b="1" dirty="0">
                        <a:solidFill>
                          <a:schemeClr val="bg1"/>
                        </a:solidFill>
                        <a:latin typeface="+mn-lt"/>
                      </a:endParaRPr>
                    </a:p>
                  </a:txBody>
                  <a:tcPr anchor="ctr">
                    <a:lnL w="12700" cmpd="sng">
                      <a:noFill/>
                    </a:lnL>
                    <a:lnR w="12700" cmpd="sng">
                      <a:noFill/>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342900" indent="-342900">
                        <a:buFont typeface="Arial" panose="020B0604020202020204" pitchFamily="34" charset="0"/>
                        <a:buChar char="•"/>
                      </a:pPr>
                      <a:r>
                        <a:rPr lang="en-US" sz="1900" b="0" i="0" kern="1200" dirty="0">
                          <a:solidFill>
                            <a:schemeClr val="tx1"/>
                          </a:solidFill>
                          <a:effectLst/>
                          <a:latin typeface="+mn-lt"/>
                          <a:ea typeface="+mn-ea"/>
                          <a:cs typeface="+mn-cs"/>
                        </a:rPr>
                        <a:t>Names given to variables, functions, classes</a:t>
                      </a:r>
                    </a:p>
                    <a:p>
                      <a:pPr marL="342900" indent="-342900">
                        <a:buFont typeface="Arial" panose="020B0604020202020204" pitchFamily="34" charset="0"/>
                        <a:buChar char="•"/>
                      </a:pPr>
                      <a:r>
                        <a:rPr lang="en-US" sz="1900" b="0" i="0" kern="1200" dirty="0">
                          <a:solidFill>
                            <a:schemeClr val="tx1"/>
                          </a:solidFill>
                          <a:effectLst/>
                          <a:latin typeface="+mn-lt"/>
                          <a:ea typeface="+mn-ea"/>
                          <a:cs typeface="+mn-cs"/>
                        </a:rPr>
                        <a:t>Cannot start with a letter or underscore and containing letters, digits, and underscores.</a:t>
                      </a:r>
                    </a:p>
                  </a:txBody>
                  <a:tcPr marL="0" marR="0" marT="0" marB="0" anchor="ctr">
                    <a:lnL w="12700" cmpd="sng">
                      <a:noFill/>
                    </a:lnL>
                    <a:lnR w="12700" cmpd="sng">
                      <a:noFill/>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4919405"/>
                  </a:ext>
                </a:extLst>
              </a:tr>
              <a:tr h="719536">
                <a:tc>
                  <a:txBody>
                    <a:bodyPr/>
                    <a:lstStyle/>
                    <a:p>
                      <a:r>
                        <a:rPr lang="en-US" sz="2000" b="1" i="0" kern="1200" dirty="0">
                          <a:solidFill>
                            <a:schemeClr val="bg1"/>
                          </a:solidFill>
                          <a:effectLst/>
                          <a:latin typeface="+mn-lt"/>
                          <a:ea typeface="+mn-ea"/>
                          <a:cs typeface="+mn-cs"/>
                        </a:rPr>
                        <a:t>Comments</a:t>
                      </a:r>
                      <a:endParaRPr lang="en-US" sz="2000" b="1" dirty="0">
                        <a:solidFill>
                          <a:schemeClr val="bg1"/>
                        </a:solidFill>
                        <a:latin typeface="+mn-lt"/>
                      </a:endParaRPr>
                    </a:p>
                  </a:txBody>
                  <a:tcPr anchor="ctr">
                    <a:lnL w="12700" cmpd="sng">
                      <a:noFill/>
                    </a:lnL>
                    <a:lnR w="12700" cmpd="sng">
                      <a:noFill/>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342900" indent="-342900">
                        <a:buFont typeface="Arial" panose="020B0604020202020204" pitchFamily="34" charset="0"/>
                        <a:buChar char="•"/>
                      </a:pPr>
                      <a:r>
                        <a:rPr lang="en-US" sz="1900" b="0" i="0" kern="1200" dirty="0">
                          <a:solidFill>
                            <a:schemeClr val="tx1"/>
                          </a:solidFill>
                          <a:effectLst/>
                          <a:latin typeface="+mn-lt"/>
                          <a:ea typeface="+mn-ea"/>
                          <a:cs typeface="+mn-cs"/>
                        </a:rPr>
                        <a:t>Non-executable lines in your code used to provide explanations or notes.</a:t>
                      </a:r>
                    </a:p>
                    <a:p>
                      <a:pPr marL="342900" indent="-342900">
                        <a:buFont typeface="Arial" panose="020B0604020202020204" pitchFamily="34" charset="0"/>
                        <a:buChar char="•"/>
                      </a:pPr>
                      <a:r>
                        <a:rPr lang="en-US" sz="1900" b="0" i="0" kern="1200" dirty="0">
                          <a:solidFill>
                            <a:schemeClr val="tx1"/>
                          </a:solidFill>
                          <a:effectLst/>
                          <a:latin typeface="+mn-lt"/>
                          <a:ea typeface="+mn-ea"/>
                          <a:cs typeface="+mn-cs"/>
                        </a:rPr>
                        <a:t>Example:  </a:t>
                      </a:r>
                      <a:r>
                        <a:rPr lang="en-US" sz="1900" b="1" i="0" kern="1200" dirty="0">
                          <a:solidFill>
                            <a:schemeClr val="tx1"/>
                          </a:solidFill>
                          <a:effectLst/>
                          <a:latin typeface="+mn-lt"/>
                          <a:ea typeface="+mn-ea"/>
                          <a:cs typeface="+mn-cs"/>
                        </a:rPr>
                        <a:t># This is a single-line comment</a:t>
                      </a:r>
                    </a:p>
                  </a:txBody>
                  <a:tcPr marL="0" marR="0" marT="0" marB="0" anchor="ctr">
                    <a:lnL w="12700" cmpd="sng">
                      <a:noFill/>
                    </a:lnL>
                    <a:lnR w="12700" cmpd="sng">
                      <a:noFill/>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9988887"/>
                  </a:ext>
                </a:extLst>
              </a:tr>
              <a:tr h="719536">
                <a:tc>
                  <a:txBody>
                    <a:bodyPr/>
                    <a:lstStyle/>
                    <a:p>
                      <a:r>
                        <a:rPr lang="en-US" sz="2000" b="1" i="0" kern="1200" dirty="0">
                          <a:solidFill>
                            <a:schemeClr val="bg1"/>
                          </a:solidFill>
                          <a:effectLst/>
                          <a:latin typeface="+mn-lt"/>
                          <a:ea typeface="+mn-ea"/>
                          <a:cs typeface="+mn-cs"/>
                        </a:rPr>
                        <a:t>Statements</a:t>
                      </a:r>
                    </a:p>
                  </a:txBody>
                  <a:tcPr anchor="ctr">
                    <a:lnL w="12700" cmpd="sng">
                      <a:noFill/>
                    </a:lnL>
                    <a:lnR w="12700" cmpd="sng">
                      <a:noFill/>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342900" indent="-342900">
                        <a:buFont typeface="Arial" panose="020B0604020202020204" pitchFamily="34" charset="0"/>
                        <a:buChar char="•"/>
                      </a:pPr>
                      <a:r>
                        <a:rPr lang="en-US" sz="1900" b="0" i="0" kern="1200" dirty="0">
                          <a:solidFill>
                            <a:schemeClr val="tx1"/>
                          </a:solidFill>
                          <a:effectLst/>
                          <a:latin typeface="+mn-lt"/>
                          <a:ea typeface="+mn-ea"/>
                          <a:cs typeface="+mn-cs"/>
                        </a:rPr>
                        <a:t>Line of code that performs a specific action</a:t>
                      </a:r>
                    </a:p>
                    <a:p>
                      <a:pPr marL="342900" indent="-342900">
                        <a:buFont typeface="Arial" panose="020B0604020202020204" pitchFamily="34" charset="0"/>
                        <a:buChar char="•"/>
                      </a:pPr>
                      <a:r>
                        <a:rPr lang="en-US" sz="1900" b="0" i="0" kern="1200" spc="-30" baseline="0" dirty="0">
                          <a:solidFill>
                            <a:schemeClr val="tx1"/>
                          </a:solidFill>
                          <a:effectLst/>
                          <a:latin typeface="+mn-lt"/>
                          <a:ea typeface="+mn-ea"/>
                          <a:cs typeface="+mn-cs"/>
                        </a:rPr>
                        <a:t>Examples: assignment statements, function calls, and control flow statements (</a:t>
                      </a:r>
                      <a:r>
                        <a:rPr lang="en-US" sz="1900" spc="-30" baseline="0" dirty="0">
                          <a:solidFill>
                            <a:schemeClr val="tx1"/>
                          </a:solidFill>
                          <a:latin typeface="+mn-lt"/>
                        </a:rPr>
                        <a:t>if</a:t>
                      </a:r>
                      <a:r>
                        <a:rPr lang="en-US" sz="1900" b="0" i="0" kern="1200" spc="-30" baseline="0" dirty="0">
                          <a:solidFill>
                            <a:schemeClr val="tx1"/>
                          </a:solidFill>
                          <a:effectLst/>
                          <a:latin typeface="+mn-lt"/>
                          <a:ea typeface="+mn-ea"/>
                          <a:cs typeface="+mn-cs"/>
                        </a:rPr>
                        <a:t> and </a:t>
                      </a:r>
                      <a:r>
                        <a:rPr lang="en-US" sz="1900" spc="-30" baseline="0" dirty="0">
                          <a:solidFill>
                            <a:schemeClr val="tx1"/>
                          </a:solidFill>
                          <a:latin typeface="+mn-lt"/>
                        </a:rPr>
                        <a:t>while)</a:t>
                      </a:r>
                      <a:r>
                        <a:rPr lang="en-US" sz="1900" b="0" i="0" kern="1200" spc="-30" baseline="0" dirty="0">
                          <a:solidFill>
                            <a:schemeClr val="tx1"/>
                          </a:solidFill>
                          <a:effectLst/>
                          <a:latin typeface="+mn-lt"/>
                          <a:ea typeface="+mn-ea"/>
                          <a:cs typeface="+mn-cs"/>
                        </a:rPr>
                        <a:t>.</a:t>
                      </a:r>
                    </a:p>
                  </a:txBody>
                  <a:tcPr marL="0" marR="0" marT="0" marB="0" anchor="ctr">
                    <a:lnL w="12700" cmpd="sng">
                      <a:noFill/>
                    </a:lnL>
                    <a:lnR w="12700" cmpd="sng">
                      <a:noFill/>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103289"/>
                  </a:ext>
                </a:extLst>
              </a:tr>
              <a:tr h="719536">
                <a:tc>
                  <a:txBody>
                    <a:bodyPr/>
                    <a:lstStyle/>
                    <a:p>
                      <a:r>
                        <a:rPr lang="en-US" sz="2000" b="1" i="0" kern="1200" dirty="0">
                          <a:solidFill>
                            <a:schemeClr val="bg1"/>
                          </a:solidFill>
                          <a:effectLst/>
                          <a:latin typeface="+mn-lt"/>
                          <a:ea typeface="+mn-ea"/>
                          <a:cs typeface="+mn-cs"/>
                        </a:rPr>
                        <a:t>Indentation</a:t>
                      </a:r>
                      <a:endParaRPr lang="en-US" sz="2000" b="1" dirty="0">
                        <a:solidFill>
                          <a:schemeClr val="bg1"/>
                        </a:solidFill>
                        <a:latin typeface="+mn-lt"/>
                      </a:endParaRPr>
                    </a:p>
                  </a:txBody>
                  <a:tcPr anchor="ctr">
                    <a:lnL w="12700" cmpd="sng">
                      <a:noFill/>
                    </a:lnL>
                    <a:lnR w="12700" cmpd="sng">
                      <a:noFill/>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342900" indent="-342900">
                        <a:buFont typeface="Arial" panose="020B0604020202020204" pitchFamily="34" charset="0"/>
                        <a:buChar char="•"/>
                      </a:pPr>
                      <a:r>
                        <a:rPr lang="en-US" sz="1900" b="0" i="0" kern="1200" dirty="0">
                          <a:solidFill>
                            <a:schemeClr val="tx1"/>
                          </a:solidFill>
                          <a:effectLst/>
                          <a:latin typeface="+mn-lt"/>
                          <a:ea typeface="+mn-ea"/>
                          <a:cs typeface="+mn-cs"/>
                        </a:rPr>
                        <a:t>Spaces or tabs at the beginning of a line to indicate a block of code.</a:t>
                      </a:r>
                    </a:p>
                    <a:p>
                      <a:pPr marL="342900" indent="-342900">
                        <a:buFont typeface="Arial" panose="020B0604020202020204" pitchFamily="34" charset="0"/>
                        <a:buChar char="•"/>
                      </a:pPr>
                      <a:r>
                        <a:rPr lang="en-US" sz="1900" b="0" i="0" kern="1200" dirty="0">
                          <a:solidFill>
                            <a:schemeClr val="tx1"/>
                          </a:solidFill>
                          <a:effectLst/>
                          <a:latin typeface="+mn-lt"/>
                          <a:ea typeface="+mn-ea"/>
                          <a:cs typeface="+mn-cs"/>
                        </a:rPr>
                        <a:t>Used in loops and functions</a:t>
                      </a:r>
                    </a:p>
                  </a:txBody>
                  <a:tcPr marL="0" marR="0" marT="0" marB="0" anchor="ctr">
                    <a:lnL w="12700" cmpd="sng">
                      <a:noFill/>
                    </a:lnL>
                    <a:lnR w="12700" cmpd="sng">
                      <a:noFill/>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7650676"/>
                  </a:ext>
                </a:extLst>
              </a:tr>
              <a:tr h="719536">
                <a:tc>
                  <a:txBody>
                    <a:bodyPr/>
                    <a:lstStyle/>
                    <a:p>
                      <a:r>
                        <a:rPr lang="en-US" sz="2000" b="1" i="0" kern="1200" dirty="0">
                          <a:solidFill>
                            <a:schemeClr val="bg1"/>
                          </a:solidFill>
                          <a:effectLst/>
                          <a:latin typeface="+mn-lt"/>
                          <a:ea typeface="+mn-ea"/>
                          <a:cs typeface="+mn-cs"/>
                        </a:rPr>
                        <a:t>Docstring</a:t>
                      </a:r>
                      <a:endParaRPr lang="en-US" sz="2000" b="1" dirty="0">
                        <a:solidFill>
                          <a:schemeClr val="bg1"/>
                        </a:solidFill>
                        <a:latin typeface="+mn-lt"/>
                      </a:endParaRPr>
                    </a:p>
                  </a:txBody>
                  <a:tcPr anchor="ctr">
                    <a:lnL w="12700" cmpd="sng">
                      <a:noFill/>
                    </a:lnL>
                    <a:lnR w="12700" cmpd="sng">
                      <a:noFill/>
                    </a:lnR>
                    <a:lnT w="12700" cap="flat" cmpd="sng" algn="ctr">
                      <a:solidFill>
                        <a:schemeClr val="bg2">
                          <a:lumMod val="50000"/>
                        </a:schemeClr>
                      </a:solidFill>
                      <a:prstDash val="sysDot"/>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342900" indent="-342900">
                        <a:buFont typeface="Arial" panose="020B0604020202020204" pitchFamily="34" charset="0"/>
                        <a:buChar char="•"/>
                      </a:pPr>
                      <a:r>
                        <a:rPr lang="en-US" sz="1900" b="0" i="0" kern="1200" dirty="0">
                          <a:solidFill>
                            <a:schemeClr val="tx1"/>
                          </a:solidFill>
                          <a:effectLst/>
                          <a:latin typeface="+mn-lt"/>
                          <a:ea typeface="+mn-ea"/>
                          <a:cs typeface="+mn-cs"/>
                        </a:rPr>
                        <a:t>A docstring is a string enclosed in triple quotes (either single or double) </a:t>
                      </a:r>
                    </a:p>
                    <a:p>
                      <a:pPr marL="342900" indent="-342900">
                        <a:buFont typeface="Arial" panose="020B0604020202020204" pitchFamily="34" charset="0"/>
                        <a:buChar char="•"/>
                      </a:pPr>
                      <a:r>
                        <a:rPr lang="en-US" sz="1900" b="0" i="0" kern="1200" dirty="0">
                          <a:solidFill>
                            <a:schemeClr val="tx1"/>
                          </a:solidFill>
                          <a:effectLst/>
                          <a:latin typeface="+mn-lt"/>
                          <a:ea typeface="+mn-ea"/>
                          <a:cs typeface="+mn-cs"/>
                        </a:rPr>
                        <a:t>Used to explain the purpose, usage, and other details of the code.</a:t>
                      </a:r>
                    </a:p>
                  </a:txBody>
                  <a:tcPr marL="0" marR="0" marT="0" marB="0" anchor="ctr">
                    <a:lnL w="12700" cmpd="sng">
                      <a:noFill/>
                    </a:lnL>
                    <a:lnR w="12700" cmpd="sng">
                      <a:noFill/>
                    </a:lnR>
                    <a:lnT w="12700" cap="flat" cmpd="sng" algn="ctr">
                      <a:solidFill>
                        <a:schemeClr val="bg2">
                          <a:lumMod val="50000"/>
                        </a:schemeClr>
                      </a:solidFill>
                      <a:prstDash val="sysDot"/>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60557622"/>
                  </a:ext>
                </a:extLst>
              </a:tr>
            </a:tbl>
          </a:graphicData>
        </a:graphic>
      </p:graphicFrame>
    </p:spTree>
    <p:extLst>
      <p:ext uri="{BB962C8B-B14F-4D97-AF65-F5344CB8AC3E}">
        <p14:creationId xmlns:p14="http://schemas.microsoft.com/office/powerpoint/2010/main" val="2173820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8D95E-E6D5-C672-0AC6-C24131738FE1}"/>
              </a:ext>
            </a:extLst>
          </p:cNvPr>
          <p:cNvSpPr>
            <a:spLocks noGrp="1"/>
          </p:cNvSpPr>
          <p:nvPr>
            <p:ph type="title"/>
          </p:nvPr>
        </p:nvSpPr>
        <p:spPr/>
        <p:txBody>
          <a:bodyPr/>
          <a:lstStyle/>
          <a:p>
            <a:r>
              <a:rPr lang="en-IN" dirty="0"/>
              <a:t>Variables in Python</a:t>
            </a:r>
          </a:p>
        </p:txBody>
      </p:sp>
      <p:sp>
        <p:nvSpPr>
          <p:cNvPr id="6" name="Text Placeholder 5">
            <a:extLst>
              <a:ext uri="{FF2B5EF4-FFF2-40B4-BE49-F238E27FC236}">
                <a16:creationId xmlns:a16="http://schemas.microsoft.com/office/drawing/2014/main" id="{504BD3BC-F2CE-2DB5-FD98-BC61ACAD9F30}"/>
              </a:ext>
            </a:extLst>
          </p:cNvPr>
          <p:cNvSpPr>
            <a:spLocks noGrp="1"/>
          </p:cNvSpPr>
          <p:nvPr>
            <p:ph type="body" idx="1"/>
          </p:nvPr>
        </p:nvSpPr>
        <p:spPr>
          <a:xfrm>
            <a:off x="678881" y="1659835"/>
            <a:ext cx="10834234" cy="380838"/>
          </a:xfrm>
        </p:spPr>
        <p:txBody>
          <a:bodyPr lIns="0" tIns="0" rIns="0" bIns="0">
            <a:normAutofit/>
          </a:bodyPr>
          <a:lstStyle/>
          <a:p>
            <a:r>
              <a:rPr lang="en-US" sz="2400" dirty="0">
                <a:solidFill>
                  <a:schemeClr val="tx1"/>
                </a:solidFill>
              </a:rPr>
              <a:t>Variables in Python are used to store data values</a:t>
            </a:r>
          </a:p>
        </p:txBody>
      </p:sp>
      <p:sp>
        <p:nvSpPr>
          <p:cNvPr id="4" name="Content Placeholder 3">
            <a:extLst>
              <a:ext uri="{FF2B5EF4-FFF2-40B4-BE49-F238E27FC236}">
                <a16:creationId xmlns:a16="http://schemas.microsoft.com/office/drawing/2014/main" id="{FB4CBA20-1396-515D-A074-F67738672985}"/>
              </a:ext>
            </a:extLst>
          </p:cNvPr>
          <p:cNvSpPr>
            <a:spLocks noGrp="1"/>
          </p:cNvSpPr>
          <p:nvPr>
            <p:ph sz="half" idx="2"/>
          </p:nvPr>
        </p:nvSpPr>
        <p:spPr>
          <a:xfrm>
            <a:off x="678881" y="2354580"/>
            <a:ext cx="5318693" cy="3703320"/>
          </a:xfrm>
        </p:spPr>
        <p:txBody>
          <a:bodyPr lIns="0" tIns="0" rIns="0" bIns="0">
            <a:normAutofit/>
          </a:bodyPr>
          <a:lstStyle/>
          <a:p>
            <a:pPr marL="0" indent="0">
              <a:lnSpc>
                <a:spcPct val="100000"/>
              </a:lnSpc>
              <a:spcBef>
                <a:spcPts val="400"/>
              </a:spcBef>
              <a:spcAft>
                <a:spcPts val="400"/>
              </a:spcAft>
              <a:buNone/>
            </a:pPr>
            <a:r>
              <a:rPr lang="en-US" sz="2400" b="1" dirty="0">
                <a:solidFill>
                  <a:schemeClr val="tx1"/>
                </a:solidFill>
                <a:latin typeface="+mn-lt"/>
              </a:rPr>
              <a:t>Variable Declaration</a:t>
            </a:r>
          </a:p>
          <a:p>
            <a:pPr marL="0" indent="0">
              <a:lnSpc>
                <a:spcPct val="100000"/>
              </a:lnSpc>
              <a:spcBef>
                <a:spcPts val="400"/>
              </a:spcBef>
              <a:spcAft>
                <a:spcPts val="400"/>
              </a:spcAft>
              <a:buNone/>
            </a:pPr>
            <a:r>
              <a:rPr lang="en-US" sz="2200" dirty="0"/>
              <a:t>	name = </a:t>
            </a:r>
            <a:r>
              <a:rPr lang="en-US" sz="2200" b="1" dirty="0">
                <a:solidFill>
                  <a:schemeClr val="tx1"/>
                </a:solidFill>
                <a:latin typeface="+mn-lt"/>
              </a:rPr>
              <a:t>"John“</a:t>
            </a:r>
          </a:p>
          <a:p>
            <a:pPr marL="0" indent="0">
              <a:lnSpc>
                <a:spcPct val="100000"/>
              </a:lnSpc>
              <a:spcBef>
                <a:spcPts val="400"/>
              </a:spcBef>
              <a:spcAft>
                <a:spcPts val="400"/>
              </a:spcAft>
              <a:buNone/>
            </a:pPr>
            <a:r>
              <a:rPr lang="en-US" sz="2200" dirty="0"/>
              <a:t>	age = 30</a:t>
            </a:r>
          </a:p>
          <a:p>
            <a:pPr marL="0" indent="0">
              <a:lnSpc>
                <a:spcPct val="100000"/>
              </a:lnSpc>
              <a:spcBef>
                <a:spcPts val="400"/>
              </a:spcBef>
              <a:spcAft>
                <a:spcPts val="400"/>
              </a:spcAft>
              <a:buNone/>
            </a:pPr>
            <a:r>
              <a:rPr lang="en-US" sz="2200" dirty="0"/>
              <a:t>Here, </a:t>
            </a:r>
            <a:r>
              <a:rPr lang="en-US" sz="2200" b="1" dirty="0">
                <a:solidFill>
                  <a:schemeClr val="tx1"/>
                </a:solidFill>
                <a:latin typeface="+mn-lt"/>
              </a:rPr>
              <a:t>‘name’ &amp; ‘age’ </a:t>
            </a:r>
            <a:r>
              <a:rPr lang="en-US" sz="2200" dirty="0"/>
              <a:t>are variables which stores the values – </a:t>
            </a:r>
            <a:r>
              <a:rPr lang="en-US" sz="2200" b="1" dirty="0">
                <a:solidFill>
                  <a:schemeClr val="tx1"/>
                </a:solidFill>
                <a:latin typeface="+mn-lt"/>
              </a:rPr>
              <a:t>“John” </a:t>
            </a:r>
            <a:r>
              <a:rPr lang="en-US" sz="2200" dirty="0"/>
              <a:t>&amp; 30 resp.</a:t>
            </a:r>
          </a:p>
        </p:txBody>
      </p:sp>
      <p:sp>
        <p:nvSpPr>
          <p:cNvPr id="8" name="Content Placeholder 7">
            <a:extLst>
              <a:ext uri="{FF2B5EF4-FFF2-40B4-BE49-F238E27FC236}">
                <a16:creationId xmlns:a16="http://schemas.microsoft.com/office/drawing/2014/main" id="{DD668C94-96DF-DEB4-8FC2-642B272241C2}"/>
              </a:ext>
            </a:extLst>
          </p:cNvPr>
          <p:cNvSpPr>
            <a:spLocks noGrp="1"/>
          </p:cNvSpPr>
          <p:nvPr>
            <p:ph sz="quarter" idx="4"/>
          </p:nvPr>
        </p:nvSpPr>
        <p:spPr>
          <a:xfrm>
            <a:off x="6172202" y="2354580"/>
            <a:ext cx="5340914" cy="3703320"/>
          </a:xfrm>
        </p:spPr>
        <p:txBody>
          <a:bodyPr lIns="0" tIns="0" rIns="0" bIns="0"/>
          <a:lstStyle/>
          <a:p>
            <a:pPr marL="0" indent="0">
              <a:lnSpc>
                <a:spcPct val="100000"/>
              </a:lnSpc>
              <a:spcBef>
                <a:spcPts val="400"/>
              </a:spcBef>
              <a:spcAft>
                <a:spcPts val="400"/>
              </a:spcAft>
              <a:buNone/>
            </a:pPr>
            <a:r>
              <a:rPr lang="en-US" sz="2400" b="1" dirty="0">
                <a:solidFill>
                  <a:schemeClr val="tx1"/>
                </a:solidFill>
                <a:latin typeface="+mn-lt"/>
              </a:rPr>
              <a:t>Variable Names Rules</a:t>
            </a:r>
            <a:endParaRPr lang="en-US" sz="2000" dirty="0"/>
          </a:p>
          <a:p>
            <a:pPr lvl="1">
              <a:lnSpc>
                <a:spcPct val="100000"/>
              </a:lnSpc>
              <a:spcBef>
                <a:spcPts val="400"/>
              </a:spcBef>
              <a:spcAft>
                <a:spcPts val="400"/>
              </a:spcAft>
            </a:pPr>
            <a:r>
              <a:rPr lang="en-US" sz="2200" dirty="0"/>
              <a:t>They can contain letters, digits, and underscores.</a:t>
            </a:r>
          </a:p>
          <a:p>
            <a:pPr lvl="1">
              <a:lnSpc>
                <a:spcPct val="100000"/>
              </a:lnSpc>
              <a:spcBef>
                <a:spcPts val="400"/>
              </a:spcBef>
              <a:spcAft>
                <a:spcPts val="400"/>
              </a:spcAft>
            </a:pPr>
            <a:r>
              <a:rPr lang="en-US" sz="2200" dirty="0"/>
              <a:t>They must start with a letter or an underscore (but not a digit).</a:t>
            </a:r>
          </a:p>
          <a:p>
            <a:pPr lvl="1">
              <a:lnSpc>
                <a:spcPct val="100000"/>
              </a:lnSpc>
              <a:spcBef>
                <a:spcPts val="400"/>
              </a:spcBef>
              <a:spcAft>
                <a:spcPts val="400"/>
              </a:spcAft>
            </a:pPr>
            <a:r>
              <a:rPr lang="en-US" sz="2200" dirty="0"/>
              <a:t>Variable names are case-sensitive.</a:t>
            </a:r>
          </a:p>
          <a:p>
            <a:pPr lvl="1">
              <a:lnSpc>
                <a:spcPct val="100000"/>
              </a:lnSpc>
              <a:spcBef>
                <a:spcPts val="400"/>
              </a:spcBef>
              <a:spcAft>
                <a:spcPts val="400"/>
              </a:spcAft>
            </a:pPr>
            <a:r>
              <a:rPr lang="en-US" sz="2200" dirty="0"/>
              <a:t>Avoid using Python keywords (reserved words) as variable names.</a:t>
            </a:r>
          </a:p>
        </p:txBody>
      </p:sp>
    </p:spTree>
    <p:extLst>
      <p:ext uri="{BB962C8B-B14F-4D97-AF65-F5344CB8AC3E}">
        <p14:creationId xmlns:p14="http://schemas.microsoft.com/office/powerpoint/2010/main" val="3918745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8D95E-E6D5-C672-0AC6-C24131738FE1}"/>
              </a:ext>
            </a:extLst>
          </p:cNvPr>
          <p:cNvSpPr>
            <a:spLocks noGrp="1"/>
          </p:cNvSpPr>
          <p:nvPr>
            <p:ph type="title"/>
          </p:nvPr>
        </p:nvSpPr>
        <p:spPr/>
        <p:txBody>
          <a:bodyPr/>
          <a:lstStyle/>
          <a:p>
            <a:r>
              <a:rPr lang="en-IN" dirty="0"/>
              <a:t>Cont…</a:t>
            </a:r>
          </a:p>
        </p:txBody>
      </p:sp>
      <p:sp>
        <p:nvSpPr>
          <p:cNvPr id="6" name="Text Placeholder 5">
            <a:extLst>
              <a:ext uri="{FF2B5EF4-FFF2-40B4-BE49-F238E27FC236}">
                <a16:creationId xmlns:a16="http://schemas.microsoft.com/office/drawing/2014/main" id="{504BD3BC-F2CE-2DB5-FD98-BC61ACAD9F30}"/>
              </a:ext>
            </a:extLst>
          </p:cNvPr>
          <p:cNvSpPr>
            <a:spLocks noGrp="1"/>
          </p:cNvSpPr>
          <p:nvPr>
            <p:ph type="body" idx="1"/>
          </p:nvPr>
        </p:nvSpPr>
        <p:spPr>
          <a:xfrm>
            <a:off x="678881" y="1659835"/>
            <a:ext cx="10834234" cy="380838"/>
          </a:xfrm>
        </p:spPr>
        <p:txBody>
          <a:bodyPr lIns="0" tIns="0" rIns="0" bIns="0">
            <a:normAutofit/>
          </a:bodyPr>
          <a:lstStyle/>
          <a:p>
            <a:r>
              <a:rPr lang="en-US" sz="2400" dirty="0">
                <a:solidFill>
                  <a:schemeClr val="tx1"/>
                </a:solidFill>
              </a:rPr>
              <a:t>Variables in Python are used to store data values</a:t>
            </a:r>
          </a:p>
        </p:txBody>
      </p:sp>
      <p:sp>
        <p:nvSpPr>
          <p:cNvPr id="4" name="Content Placeholder 3">
            <a:extLst>
              <a:ext uri="{FF2B5EF4-FFF2-40B4-BE49-F238E27FC236}">
                <a16:creationId xmlns:a16="http://schemas.microsoft.com/office/drawing/2014/main" id="{FB4CBA20-1396-515D-A074-F67738672985}"/>
              </a:ext>
            </a:extLst>
          </p:cNvPr>
          <p:cNvSpPr>
            <a:spLocks noGrp="1"/>
          </p:cNvSpPr>
          <p:nvPr>
            <p:ph sz="half" idx="2"/>
          </p:nvPr>
        </p:nvSpPr>
        <p:spPr>
          <a:xfrm>
            <a:off x="678881" y="2354580"/>
            <a:ext cx="5318693" cy="3703320"/>
          </a:xfrm>
        </p:spPr>
        <p:txBody>
          <a:bodyPr lIns="0" tIns="0" rIns="0" bIns="0">
            <a:normAutofit/>
          </a:bodyPr>
          <a:lstStyle/>
          <a:p>
            <a:pPr marL="0" indent="0">
              <a:lnSpc>
                <a:spcPct val="100000"/>
              </a:lnSpc>
              <a:spcBef>
                <a:spcPts val="400"/>
              </a:spcBef>
              <a:spcAft>
                <a:spcPts val="400"/>
              </a:spcAft>
              <a:buNone/>
            </a:pPr>
            <a:r>
              <a:rPr lang="en-US" sz="2400" b="1" dirty="0">
                <a:solidFill>
                  <a:schemeClr val="tx1"/>
                </a:solidFill>
                <a:latin typeface="+mn-lt"/>
              </a:rPr>
              <a:t>Multiple Assignments</a:t>
            </a:r>
          </a:p>
          <a:p>
            <a:pPr marL="0" indent="0">
              <a:lnSpc>
                <a:spcPct val="100000"/>
              </a:lnSpc>
              <a:spcBef>
                <a:spcPts val="400"/>
              </a:spcBef>
              <a:spcAft>
                <a:spcPts val="400"/>
              </a:spcAft>
              <a:buNone/>
            </a:pPr>
            <a:r>
              <a:rPr lang="en-US" sz="2200" dirty="0"/>
              <a:t>x, y, z = 10, 20, 30</a:t>
            </a:r>
          </a:p>
          <a:p>
            <a:pPr marL="0" indent="0">
              <a:lnSpc>
                <a:spcPct val="100000"/>
              </a:lnSpc>
              <a:spcBef>
                <a:spcPts val="400"/>
              </a:spcBef>
              <a:spcAft>
                <a:spcPts val="400"/>
              </a:spcAft>
              <a:buNone/>
            </a:pPr>
            <a:r>
              <a:rPr lang="en-US" sz="2200" dirty="0"/>
              <a:t>This assigns 10 to x, 20 to y, and 30 to </a:t>
            </a:r>
          </a:p>
        </p:txBody>
      </p:sp>
      <p:sp>
        <p:nvSpPr>
          <p:cNvPr id="8" name="Content Placeholder 7">
            <a:extLst>
              <a:ext uri="{FF2B5EF4-FFF2-40B4-BE49-F238E27FC236}">
                <a16:creationId xmlns:a16="http://schemas.microsoft.com/office/drawing/2014/main" id="{DD668C94-96DF-DEB4-8FC2-642B272241C2}"/>
              </a:ext>
            </a:extLst>
          </p:cNvPr>
          <p:cNvSpPr>
            <a:spLocks noGrp="1"/>
          </p:cNvSpPr>
          <p:nvPr>
            <p:ph sz="quarter" idx="4"/>
          </p:nvPr>
        </p:nvSpPr>
        <p:spPr>
          <a:xfrm>
            <a:off x="6172202" y="2354580"/>
            <a:ext cx="5340914" cy="3703320"/>
          </a:xfrm>
        </p:spPr>
        <p:txBody>
          <a:bodyPr lIns="0" tIns="0" rIns="0" bIns="0"/>
          <a:lstStyle/>
          <a:p>
            <a:pPr marL="0" indent="0">
              <a:lnSpc>
                <a:spcPct val="100000"/>
              </a:lnSpc>
              <a:spcBef>
                <a:spcPts val="400"/>
              </a:spcBef>
              <a:spcAft>
                <a:spcPts val="400"/>
              </a:spcAft>
              <a:buNone/>
            </a:pPr>
            <a:r>
              <a:rPr lang="en-US" sz="2400" b="1" dirty="0">
                <a:solidFill>
                  <a:schemeClr val="tx1"/>
                </a:solidFill>
                <a:latin typeface="+mn-lt"/>
              </a:rPr>
              <a:t>Variable Reuse</a:t>
            </a:r>
          </a:p>
          <a:p>
            <a:pPr marL="0" indent="0">
              <a:lnSpc>
                <a:spcPct val="100000"/>
              </a:lnSpc>
              <a:spcBef>
                <a:spcPts val="400"/>
              </a:spcBef>
              <a:spcAft>
                <a:spcPts val="400"/>
              </a:spcAft>
              <a:buNone/>
            </a:pPr>
            <a:r>
              <a:rPr lang="en-US" sz="2200" dirty="0"/>
              <a:t>x = 5</a:t>
            </a:r>
          </a:p>
          <a:p>
            <a:pPr marL="0" indent="0">
              <a:lnSpc>
                <a:spcPct val="100000"/>
              </a:lnSpc>
              <a:spcBef>
                <a:spcPts val="400"/>
              </a:spcBef>
              <a:spcAft>
                <a:spcPts val="400"/>
              </a:spcAft>
              <a:buNone/>
            </a:pPr>
            <a:r>
              <a:rPr lang="en-US" sz="2200" dirty="0"/>
              <a:t>x = "Hello“</a:t>
            </a:r>
          </a:p>
          <a:p>
            <a:pPr marL="0" indent="0">
              <a:lnSpc>
                <a:spcPct val="100000"/>
              </a:lnSpc>
              <a:spcBef>
                <a:spcPts val="400"/>
              </a:spcBef>
              <a:spcAft>
                <a:spcPts val="400"/>
              </a:spcAft>
              <a:buNone/>
            </a:pPr>
            <a:r>
              <a:rPr lang="en-US" sz="2200" dirty="0"/>
              <a:t>In this example, x initially holds an integer but is later assigned a string.</a:t>
            </a:r>
          </a:p>
        </p:txBody>
      </p:sp>
    </p:spTree>
    <p:extLst>
      <p:ext uri="{BB962C8B-B14F-4D97-AF65-F5344CB8AC3E}">
        <p14:creationId xmlns:p14="http://schemas.microsoft.com/office/powerpoint/2010/main" val="1780480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8D95E-E6D5-C672-0AC6-C24131738FE1}"/>
              </a:ext>
            </a:extLst>
          </p:cNvPr>
          <p:cNvSpPr>
            <a:spLocks noGrp="1"/>
          </p:cNvSpPr>
          <p:nvPr>
            <p:ph type="title"/>
          </p:nvPr>
        </p:nvSpPr>
        <p:spPr/>
        <p:txBody>
          <a:bodyPr/>
          <a:lstStyle/>
          <a:p>
            <a:r>
              <a:rPr lang="en-IN" dirty="0"/>
              <a:t>Operators in Python</a:t>
            </a:r>
          </a:p>
        </p:txBody>
      </p:sp>
      <p:sp>
        <p:nvSpPr>
          <p:cNvPr id="13" name="Rectangle: Rounded Corners 12">
            <a:extLst>
              <a:ext uri="{FF2B5EF4-FFF2-40B4-BE49-F238E27FC236}">
                <a16:creationId xmlns:a16="http://schemas.microsoft.com/office/drawing/2014/main" id="{B5D23439-5951-EC8D-5CE3-9C706CD6C147}"/>
              </a:ext>
            </a:extLst>
          </p:cNvPr>
          <p:cNvSpPr/>
          <p:nvPr/>
        </p:nvSpPr>
        <p:spPr>
          <a:xfrm>
            <a:off x="678881" y="2925766"/>
            <a:ext cx="3902400" cy="940506"/>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i="0" dirty="0">
                <a:solidFill>
                  <a:schemeClr val="bg2">
                    <a:lumMod val="10000"/>
                  </a:schemeClr>
                </a:solidFill>
                <a:effectLst/>
              </a:rPr>
              <a:t>Arithmetic Operators</a:t>
            </a:r>
          </a:p>
        </p:txBody>
      </p:sp>
      <p:sp>
        <p:nvSpPr>
          <p:cNvPr id="14" name="Rectangle: Rounded Corners 13">
            <a:extLst>
              <a:ext uri="{FF2B5EF4-FFF2-40B4-BE49-F238E27FC236}">
                <a16:creationId xmlns:a16="http://schemas.microsoft.com/office/drawing/2014/main" id="{21C8FD4A-7704-C314-D89A-21110BF1A957}"/>
              </a:ext>
            </a:extLst>
          </p:cNvPr>
          <p:cNvSpPr/>
          <p:nvPr/>
        </p:nvSpPr>
        <p:spPr>
          <a:xfrm>
            <a:off x="678880" y="3959597"/>
            <a:ext cx="3902400" cy="940506"/>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i="0" dirty="0">
                <a:solidFill>
                  <a:schemeClr val="bg2">
                    <a:lumMod val="10000"/>
                  </a:schemeClr>
                </a:solidFill>
                <a:effectLst/>
              </a:rPr>
              <a:t>Comparison Operators </a:t>
            </a:r>
          </a:p>
        </p:txBody>
      </p:sp>
      <p:sp>
        <p:nvSpPr>
          <p:cNvPr id="15" name="Rectangle: Rounded Corners 14">
            <a:extLst>
              <a:ext uri="{FF2B5EF4-FFF2-40B4-BE49-F238E27FC236}">
                <a16:creationId xmlns:a16="http://schemas.microsoft.com/office/drawing/2014/main" id="{BCD78F5C-3235-CDE7-4F16-82FD7F68BD12}"/>
              </a:ext>
            </a:extLst>
          </p:cNvPr>
          <p:cNvSpPr/>
          <p:nvPr/>
        </p:nvSpPr>
        <p:spPr>
          <a:xfrm>
            <a:off x="678880" y="4993429"/>
            <a:ext cx="3902400" cy="940506"/>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i="0" dirty="0">
                <a:solidFill>
                  <a:schemeClr val="bg2">
                    <a:lumMod val="10000"/>
                  </a:schemeClr>
                </a:solidFill>
                <a:effectLst/>
              </a:rPr>
              <a:t>Logical</a:t>
            </a:r>
            <a:br>
              <a:rPr lang="en-US" sz="2400" i="0" dirty="0">
                <a:solidFill>
                  <a:schemeClr val="bg2">
                    <a:lumMod val="10000"/>
                  </a:schemeClr>
                </a:solidFill>
                <a:effectLst/>
              </a:rPr>
            </a:br>
            <a:r>
              <a:rPr lang="en-US" sz="2400" i="0" dirty="0">
                <a:solidFill>
                  <a:schemeClr val="bg2">
                    <a:lumMod val="10000"/>
                  </a:schemeClr>
                </a:solidFill>
                <a:effectLst/>
              </a:rPr>
              <a:t>Operators </a:t>
            </a:r>
          </a:p>
        </p:txBody>
      </p:sp>
      <p:sp>
        <p:nvSpPr>
          <p:cNvPr id="16" name="Rectangle: Rounded Corners 15">
            <a:extLst>
              <a:ext uri="{FF2B5EF4-FFF2-40B4-BE49-F238E27FC236}">
                <a16:creationId xmlns:a16="http://schemas.microsoft.com/office/drawing/2014/main" id="{81ABB20B-CF37-759D-83EB-0002334CD6FF}"/>
              </a:ext>
            </a:extLst>
          </p:cNvPr>
          <p:cNvSpPr/>
          <p:nvPr/>
        </p:nvSpPr>
        <p:spPr>
          <a:xfrm>
            <a:off x="7609114" y="4993429"/>
            <a:ext cx="3904001" cy="940506"/>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i="0" dirty="0">
                <a:solidFill>
                  <a:schemeClr val="bg2">
                    <a:lumMod val="10000"/>
                  </a:schemeClr>
                </a:solidFill>
                <a:effectLst/>
              </a:rPr>
              <a:t>Membership Operators</a:t>
            </a:r>
            <a:endParaRPr lang="en-US" sz="2400" dirty="0">
              <a:solidFill>
                <a:schemeClr val="bg2">
                  <a:lumMod val="10000"/>
                </a:schemeClr>
              </a:solidFill>
            </a:endParaRPr>
          </a:p>
        </p:txBody>
      </p:sp>
      <p:sp>
        <p:nvSpPr>
          <p:cNvPr id="17" name="Rectangle: Rounded Corners 16">
            <a:extLst>
              <a:ext uri="{FF2B5EF4-FFF2-40B4-BE49-F238E27FC236}">
                <a16:creationId xmlns:a16="http://schemas.microsoft.com/office/drawing/2014/main" id="{035FB58F-5F04-8FF5-4908-1B04AB1C525C}"/>
              </a:ext>
            </a:extLst>
          </p:cNvPr>
          <p:cNvSpPr/>
          <p:nvPr/>
        </p:nvSpPr>
        <p:spPr>
          <a:xfrm>
            <a:off x="7609114" y="3956571"/>
            <a:ext cx="3904001" cy="940506"/>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lvl="1" algn="ctr"/>
            <a:r>
              <a:rPr lang="en-US" sz="2400" i="0" dirty="0">
                <a:solidFill>
                  <a:schemeClr val="bg2">
                    <a:lumMod val="10000"/>
                  </a:schemeClr>
                </a:solidFill>
                <a:effectLst/>
              </a:rPr>
              <a:t>Bitwise Operator </a:t>
            </a:r>
          </a:p>
        </p:txBody>
      </p:sp>
      <p:sp>
        <p:nvSpPr>
          <p:cNvPr id="18" name="Rectangle: Rounded Corners 17">
            <a:extLst>
              <a:ext uri="{FF2B5EF4-FFF2-40B4-BE49-F238E27FC236}">
                <a16:creationId xmlns:a16="http://schemas.microsoft.com/office/drawing/2014/main" id="{6D5165E2-22DD-6B4E-E7CC-473DEBE0648F}"/>
              </a:ext>
            </a:extLst>
          </p:cNvPr>
          <p:cNvSpPr/>
          <p:nvPr/>
        </p:nvSpPr>
        <p:spPr>
          <a:xfrm>
            <a:off x="7609114" y="2925766"/>
            <a:ext cx="3904001" cy="940506"/>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i="0" dirty="0">
                <a:solidFill>
                  <a:schemeClr val="bg2">
                    <a:lumMod val="10000"/>
                  </a:schemeClr>
                </a:solidFill>
                <a:effectLst/>
              </a:rPr>
              <a:t>Assignment Operators </a:t>
            </a:r>
          </a:p>
        </p:txBody>
      </p:sp>
      <p:sp>
        <p:nvSpPr>
          <p:cNvPr id="19" name="Rectangle: Rounded Corners 18">
            <a:extLst>
              <a:ext uri="{FF2B5EF4-FFF2-40B4-BE49-F238E27FC236}">
                <a16:creationId xmlns:a16="http://schemas.microsoft.com/office/drawing/2014/main" id="{D8D3ECE7-5FE3-28ED-FEB8-31859BF99A41}"/>
              </a:ext>
            </a:extLst>
          </p:cNvPr>
          <p:cNvSpPr/>
          <p:nvPr/>
        </p:nvSpPr>
        <p:spPr>
          <a:xfrm>
            <a:off x="3527329" y="1659835"/>
            <a:ext cx="5137342" cy="940506"/>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i="0" dirty="0">
                <a:solidFill>
                  <a:schemeClr val="bg1"/>
                </a:solidFill>
                <a:effectLst/>
              </a:rPr>
              <a:t>Operators in Python</a:t>
            </a:r>
          </a:p>
        </p:txBody>
      </p:sp>
      <p:cxnSp>
        <p:nvCxnSpPr>
          <p:cNvPr id="21" name="Straight Connector 20">
            <a:extLst>
              <a:ext uri="{FF2B5EF4-FFF2-40B4-BE49-F238E27FC236}">
                <a16:creationId xmlns:a16="http://schemas.microsoft.com/office/drawing/2014/main" id="{324AE924-9E26-0D9D-F1CA-8742E36743D0}"/>
              </a:ext>
            </a:extLst>
          </p:cNvPr>
          <p:cNvCxnSpPr>
            <a:cxnSpLocks/>
            <a:stCxn id="18" idx="1"/>
            <a:endCxn id="19" idx="2"/>
          </p:cNvCxnSpPr>
          <p:nvPr/>
        </p:nvCxnSpPr>
        <p:spPr>
          <a:xfrm rot="10800000">
            <a:off x="6096000" y="2600341"/>
            <a:ext cx="1513114" cy="795678"/>
          </a:xfrm>
          <a:prstGeom prst="bentConnector2">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53D561E-BA9B-B116-BC47-EFCFCC0ECDC8}"/>
              </a:ext>
            </a:extLst>
          </p:cNvPr>
          <p:cNvCxnSpPr>
            <a:cxnSpLocks/>
            <a:stCxn id="16" idx="1"/>
            <a:endCxn id="19" idx="2"/>
          </p:cNvCxnSpPr>
          <p:nvPr/>
        </p:nvCxnSpPr>
        <p:spPr>
          <a:xfrm rot="10800000">
            <a:off x="6096000" y="2600342"/>
            <a:ext cx="1513114" cy="2863341"/>
          </a:xfrm>
          <a:prstGeom prst="bentConnector2">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1">
            <a:extLst>
              <a:ext uri="{FF2B5EF4-FFF2-40B4-BE49-F238E27FC236}">
                <a16:creationId xmlns:a16="http://schemas.microsoft.com/office/drawing/2014/main" id="{074E751B-0250-CCFA-74A9-4577508B1BBE}"/>
              </a:ext>
            </a:extLst>
          </p:cNvPr>
          <p:cNvCxnSpPr>
            <a:cxnSpLocks/>
            <a:stCxn id="17" idx="1"/>
            <a:endCxn id="19" idx="2"/>
          </p:cNvCxnSpPr>
          <p:nvPr/>
        </p:nvCxnSpPr>
        <p:spPr>
          <a:xfrm rot="10800000">
            <a:off x="6096000" y="2600342"/>
            <a:ext cx="1513114" cy="1826483"/>
          </a:xfrm>
          <a:prstGeom prst="bentConnector2">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21">
            <a:extLst>
              <a:ext uri="{FF2B5EF4-FFF2-40B4-BE49-F238E27FC236}">
                <a16:creationId xmlns:a16="http://schemas.microsoft.com/office/drawing/2014/main" id="{1E2282C8-2403-16B9-E46C-22070632DD84}"/>
              </a:ext>
            </a:extLst>
          </p:cNvPr>
          <p:cNvCxnSpPr>
            <a:cxnSpLocks/>
            <a:stCxn id="14" idx="3"/>
            <a:endCxn id="19" idx="2"/>
          </p:cNvCxnSpPr>
          <p:nvPr/>
        </p:nvCxnSpPr>
        <p:spPr>
          <a:xfrm flipV="1">
            <a:off x="4581280" y="2600341"/>
            <a:ext cx="1514720" cy="1829509"/>
          </a:xfrm>
          <a:prstGeom prst="bentConnector2">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21">
            <a:extLst>
              <a:ext uri="{FF2B5EF4-FFF2-40B4-BE49-F238E27FC236}">
                <a16:creationId xmlns:a16="http://schemas.microsoft.com/office/drawing/2014/main" id="{47B8403E-AC2D-B687-12B4-64D67C304626}"/>
              </a:ext>
            </a:extLst>
          </p:cNvPr>
          <p:cNvCxnSpPr>
            <a:cxnSpLocks/>
            <a:stCxn id="13" idx="3"/>
            <a:endCxn id="19" idx="2"/>
          </p:cNvCxnSpPr>
          <p:nvPr/>
        </p:nvCxnSpPr>
        <p:spPr>
          <a:xfrm flipV="1">
            <a:off x="4581281" y="2600341"/>
            <a:ext cx="1514719" cy="795678"/>
          </a:xfrm>
          <a:prstGeom prst="bentConnector2">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21">
            <a:extLst>
              <a:ext uri="{FF2B5EF4-FFF2-40B4-BE49-F238E27FC236}">
                <a16:creationId xmlns:a16="http://schemas.microsoft.com/office/drawing/2014/main" id="{6D4DB43A-C477-39D4-A934-6B02744A988A}"/>
              </a:ext>
            </a:extLst>
          </p:cNvPr>
          <p:cNvCxnSpPr>
            <a:cxnSpLocks/>
            <a:stCxn id="15" idx="3"/>
            <a:endCxn id="19" idx="2"/>
          </p:cNvCxnSpPr>
          <p:nvPr/>
        </p:nvCxnSpPr>
        <p:spPr>
          <a:xfrm flipV="1">
            <a:off x="4581280" y="2600341"/>
            <a:ext cx="1514720" cy="2863341"/>
          </a:xfrm>
          <a:prstGeom prst="bentConnector2">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7004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Operators in Python</a:t>
            </a:r>
          </a:p>
        </p:txBody>
      </p:sp>
      <p:graphicFrame>
        <p:nvGraphicFramePr>
          <p:cNvPr id="7" name="Table 6">
            <a:extLst>
              <a:ext uri="{FF2B5EF4-FFF2-40B4-BE49-F238E27FC236}">
                <a16:creationId xmlns:a16="http://schemas.microsoft.com/office/drawing/2014/main" id="{4CE63CD3-889F-D273-720C-9A13991D189F}"/>
              </a:ext>
            </a:extLst>
          </p:cNvPr>
          <p:cNvGraphicFramePr>
            <a:graphicFrameLocks noGrp="1"/>
          </p:cNvGraphicFramePr>
          <p:nvPr/>
        </p:nvGraphicFramePr>
        <p:xfrm>
          <a:off x="678882" y="1659835"/>
          <a:ext cx="10834233" cy="4588031"/>
        </p:xfrm>
        <a:graphic>
          <a:graphicData uri="http://schemas.openxmlformats.org/drawingml/2006/table">
            <a:tbl>
              <a:tblPr firstRow="1" bandRow="1">
                <a:tableStyleId>{5C22544A-7EE6-4342-B048-85BDC9FD1C3A}</a:tableStyleId>
              </a:tblPr>
              <a:tblGrid>
                <a:gridCol w="3611411">
                  <a:extLst>
                    <a:ext uri="{9D8B030D-6E8A-4147-A177-3AD203B41FA5}">
                      <a16:colId xmlns:a16="http://schemas.microsoft.com/office/drawing/2014/main" val="1870373805"/>
                    </a:ext>
                  </a:extLst>
                </a:gridCol>
                <a:gridCol w="3611411">
                  <a:extLst>
                    <a:ext uri="{9D8B030D-6E8A-4147-A177-3AD203B41FA5}">
                      <a16:colId xmlns:a16="http://schemas.microsoft.com/office/drawing/2014/main" val="769262636"/>
                    </a:ext>
                  </a:extLst>
                </a:gridCol>
                <a:gridCol w="3611411">
                  <a:extLst>
                    <a:ext uri="{9D8B030D-6E8A-4147-A177-3AD203B41FA5}">
                      <a16:colId xmlns:a16="http://schemas.microsoft.com/office/drawing/2014/main" val="1316046281"/>
                    </a:ext>
                  </a:extLst>
                </a:gridCol>
              </a:tblGrid>
              <a:tr h="2078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latin typeface="+mn-lt"/>
                        </a:rPr>
                        <a:t>Arithmetic Operators</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Addition: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Subtraction: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Multiplication: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Division: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Modulus (remainder):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Exponentiation: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Bitwise Operators</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Bitwise AND: &amp;</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Bitwise OR: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Bitwise XOR: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Bitwise NOT: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Left Shift: &lt;&lt;</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Right Shift: &gt;&gt;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Logical Operators</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Logical AND: and</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Logical OR: or</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Logical NOT: not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519928"/>
                  </a:ext>
                </a:extLst>
              </a:tr>
              <a:tr h="23629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500" b="1" dirty="0">
                        <a:solidFill>
                          <a:schemeClr val="bg2">
                            <a:lumMod val="10000"/>
                          </a:schemeClr>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Comparison Operator</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Equal to: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Not equal to: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Greater than: &gt;</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Less than: &lt;</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Greater than or equal to: &gt;=</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Less than or equal to: &lt;=</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500" b="1" dirty="0">
                        <a:solidFill>
                          <a:schemeClr val="bg2">
                            <a:lumMod val="10000"/>
                          </a:schemeClr>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Assignment Operators</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Assignment: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Addition assignment: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Subtraction assignment: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Multiplication assignment: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Division assignment: /=</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Modulus assignment: %=</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500" b="1" dirty="0">
                        <a:solidFill>
                          <a:schemeClr val="bg2">
                            <a:lumMod val="10000"/>
                          </a:schemeClr>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Membership Operators</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In: in</a:t>
                      </a:r>
                    </a:p>
                    <a:p>
                      <a:pPr marL="285750" indent="-285750">
                        <a:buFont typeface="Arial" panose="020B0604020202020204" pitchFamily="34" charset="0"/>
                        <a:buChar char="•"/>
                      </a:pPr>
                      <a:r>
                        <a:rPr lang="en-US" sz="2000" b="0" i="0" kern="1200" dirty="0">
                          <a:solidFill>
                            <a:schemeClr val="bg2">
                              <a:lumMod val="10000"/>
                            </a:schemeClr>
                          </a:solidFill>
                          <a:effectLst/>
                          <a:latin typeface="+mn-lt"/>
                          <a:ea typeface="+mn-ea"/>
                          <a:cs typeface="+mn-cs"/>
                        </a:rPr>
                        <a:t>Not In: not in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62426717"/>
                  </a:ext>
                </a:extLst>
              </a:tr>
            </a:tbl>
          </a:graphicData>
        </a:graphic>
      </p:graphicFrame>
    </p:spTree>
    <p:extLst>
      <p:ext uri="{BB962C8B-B14F-4D97-AF65-F5344CB8AC3E}">
        <p14:creationId xmlns:p14="http://schemas.microsoft.com/office/powerpoint/2010/main" val="3968465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dirty="0"/>
              <a:t>Data Types in Python</a:t>
            </a:r>
          </a:p>
        </p:txBody>
      </p:sp>
      <p:graphicFrame>
        <p:nvGraphicFramePr>
          <p:cNvPr id="8" name="Table 7">
            <a:extLst>
              <a:ext uri="{FF2B5EF4-FFF2-40B4-BE49-F238E27FC236}">
                <a16:creationId xmlns:a16="http://schemas.microsoft.com/office/drawing/2014/main" id="{8C555930-FD82-B701-F7EF-02B07FEDB885}"/>
              </a:ext>
            </a:extLst>
          </p:cNvPr>
          <p:cNvGraphicFramePr>
            <a:graphicFrameLocks noGrp="1"/>
          </p:cNvGraphicFramePr>
          <p:nvPr/>
        </p:nvGraphicFramePr>
        <p:xfrm>
          <a:off x="678883" y="1659835"/>
          <a:ext cx="10834234" cy="4458008"/>
        </p:xfrm>
        <a:graphic>
          <a:graphicData uri="http://schemas.openxmlformats.org/drawingml/2006/table">
            <a:tbl>
              <a:tblPr firstRow="1" bandRow="1">
                <a:tableStyleId>{5C22544A-7EE6-4342-B048-85BDC9FD1C3A}</a:tableStyleId>
              </a:tblPr>
              <a:tblGrid>
                <a:gridCol w="2718835">
                  <a:extLst>
                    <a:ext uri="{9D8B030D-6E8A-4147-A177-3AD203B41FA5}">
                      <a16:colId xmlns:a16="http://schemas.microsoft.com/office/drawing/2014/main" val="578491948"/>
                    </a:ext>
                  </a:extLst>
                </a:gridCol>
                <a:gridCol w="3608873">
                  <a:extLst>
                    <a:ext uri="{9D8B030D-6E8A-4147-A177-3AD203B41FA5}">
                      <a16:colId xmlns:a16="http://schemas.microsoft.com/office/drawing/2014/main" val="2185468354"/>
                    </a:ext>
                  </a:extLst>
                </a:gridCol>
                <a:gridCol w="4506526">
                  <a:extLst>
                    <a:ext uri="{9D8B030D-6E8A-4147-A177-3AD203B41FA5}">
                      <a16:colId xmlns:a16="http://schemas.microsoft.com/office/drawing/2014/main" val="258052584"/>
                    </a:ext>
                  </a:extLst>
                </a:gridCol>
              </a:tblGrid>
              <a:tr h="432000">
                <a:tc>
                  <a:txBody>
                    <a:bodyPr/>
                    <a:lstStyle/>
                    <a:p>
                      <a:pPr algn="l"/>
                      <a:r>
                        <a:rPr lang="en-US" sz="2000" b="1" dirty="0">
                          <a:solidFill>
                            <a:schemeClr val="tx1"/>
                          </a:solidFill>
                          <a:latin typeface="+mn-lt"/>
                        </a:rPr>
                        <a:t>Fundamental Data Type</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2000" b="1" dirty="0">
                          <a:solidFill>
                            <a:schemeClr val="tx1"/>
                          </a:solidFill>
                          <a:latin typeface="+mn-lt"/>
                        </a:rPr>
                        <a:t>Description</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2000" b="1" dirty="0">
                          <a:solidFill>
                            <a:schemeClr val="tx1"/>
                          </a:solidFill>
                          <a:latin typeface="+mn-lt"/>
                        </a:rPr>
                        <a:t>Example</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9017131"/>
                  </a:ext>
                </a:extLst>
              </a:tr>
              <a:tr h="953408">
                <a:tc>
                  <a:txBody>
                    <a:bodyPr/>
                    <a:lstStyle/>
                    <a:p>
                      <a:pPr algn="l"/>
                      <a:r>
                        <a:rPr lang="en-US" sz="1600" kern="1200" dirty="0">
                          <a:solidFill>
                            <a:srgbClr val="000000"/>
                          </a:solidFill>
                          <a:latin typeface="+mn-lt"/>
                          <a:ea typeface="+mn-ea"/>
                          <a:cs typeface="+mn-cs"/>
                        </a:rPr>
                        <a:t>Integer (int)</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Represents whole numbers</a:t>
                      </a:r>
                      <a:endParaRPr lang="en-US" sz="1600" kern="1200" dirty="0">
                        <a:solidFill>
                          <a:srgbClr val="000000"/>
                        </a:solidFill>
                        <a:latin typeface="+mn-lt"/>
                        <a:ea typeface="+mn-ea"/>
                        <a:cs typeface="+mn-cs"/>
                      </a:endParaRP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age = 25</a:t>
                      </a:r>
                    </a:p>
                    <a:p>
                      <a:pPr algn="l"/>
                      <a:r>
                        <a:rPr lang="en-US" sz="1600" b="0" i="0" kern="1200" dirty="0">
                          <a:solidFill>
                            <a:schemeClr val="dk1"/>
                          </a:solidFill>
                          <a:effectLst/>
                          <a:latin typeface="+mn-lt"/>
                          <a:ea typeface="+mn-ea"/>
                          <a:cs typeface="+mn-cs"/>
                        </a:rPr>
                        <a:t>quantity = -10</a:t>
                      </a:r>
                    </a:p>
                    <a:p>
                      <a:pPr algn="l"/>
                      <a:r>
                        <a:rPr lang="en-US" sz="1600" b="0" i="0" kern="1200" dirty="0">
                          <a:solidFill>
                            <a:schemeClr val="dk1"/>
                          </a:solidFill>
                          <a:effectLst/>
                          <a:latin typeface="+mn-lt"/>
                          <a:ea typeface="+mn-ea"/>
                          <a:cs typeface="+mn-cs"/>
                        </a:rPr>
                        <a:t>population = 7890000</a:t>
                      </a:r>
                    </a:p>
                    <a:p>
                      <a:pPr algn="l"/>
                      <a:r>
                        <a:rPr lang="en-US" sz="1600" b="0" i="0" kern="1200" dirty="0">
                          <a:solidFill>
                            <a:schemeClr val="dk1"/>
                          </a:solidFill>
                          <a:effectLst/>
                          <a:latin typeface="+mn-lt"/>
                          <a:ea typeface="+mn-ea"/>
                          <a:cs typeface="+mn-cs"/>
                        </a:rPr>
                        <a:t>employees = 42</a:t>
                      </a:r>
                    </a:p>
                  </a:txBody>
                  <a:tcPr marL="10800" marR="10800" marT="10800" marB="1080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3426934"/>
                  </a:ext>
                </a:extLst>
              </a:tr>
              <a:tr h="953408">
                <a:tc>
                  <a:txBody>
                    <a:bodyPr/>
                    <a:lstStyle/>
                    <a:p>
                      <a:pPr algn="l"/>
                      <a:r>
                        <a:rPr lang="en-US" sz="1600" kern="1200" dirty="0">
                          <a:solidFill>
                            <a:srgbClr val="000000"/>
                          </a:solidFill>
                          <a:latin typeface="+mn-lt"/>
                          <a:ea typeface="+mn-ea"/>
                          <a:cs typeface="+mn-cs"/>
                        </a:rPr>
                        <a:t>Float (float)</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Represents numbers with a</a:t>
                      </a:r>
                      <a:br>
                        <a:rPr lang="en-US" sz="1600" b="0" i="0" kern="1200" dirty="0">
                          <a:solidFill>
                            <a:schemeClr val="dk1"/>
                          </a:solidFill>
                          <a:effectLst/>
                          <a:latin typeface="+mn-lt"/>
                          <a:ea typeface="+mn-ea"/>
                          <a:cs typeface="+mn-cs"/>
                        </a:rPr>
                      </a:br>
                      <a:r>
                        <a:rPr lang="en-US" sz="1600" b="0" i="0" kern="1200" dirty="0">
                          <a:solidFill>
                            <a:schemeClr val="dk1"/>
                          </a:solidFill>
                          <a:effectLst/>
                          <a:latin typeface="+mn-lt"/>
                          <a:ea typeface="+mn-ea"/>
                          <a:cs typeface="+mn-cs"/>
                        </a:rPr>
                        <a:t>decimal point</a:t>
                      </a:r>
                      <a:endParaRPr lang="en-US" sz="1600" kern="1200" dirty="0">
                        <a:solidFill>
                          <a:srgbClr val="000000"/>
                        </a:solidFill>
                        <a:latin typeface="+mn-lt"/>
                        <a:ea typeface="+mn-ea"/>
                        <a:cs typeface="+mn-cs"/>
                      </a:endParaRP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pi = 3.14159</a:t>
                      </a:r>
                    </a:p>
                    <a:p>
                      <a:pPr algn="l"/>
                      <a:r>
                        <a:rPr lang="en-US" sz="1600" b="0" i="0" kern="1200" dirty="0">
                          <a:solidFill>
                            <a:schemeClr val="dk1"/>
                          </a:solidFill>
                          <a:effectLst/>
                          <a:latin typeface="+mn-lt"/>
                          <a:ea typeface="+mn-ea"/>
                          <a:cs typeface="+mn-cs"/>
                        </a:rPr>
                        <a:t>temperature = 98.6</a:t>
                      </a:r>
                    </a:p>
                    <a:p>
                      <a:pPr algn="l"/>
                      <a:r>
                        <a:rPr lang="en-US" sz="1600" b="0" i="0" kern="1200" dirty="0">
                          <a:solidFill>
                            <a:schemeClr val="dk1"/>
                          </a:solidFill>
                          <a:effectLst/>
                          <a:latin typeface="+mn-lt"/>
                          <a:ea typeface="+mn-ea"/>
                          <a:cs typeface="+mn-cs"/>
                        </a:rPr>
                        <a:t>price = 19.99</a:t>
                      </a:r>
                    </a:p>
                    <a:p>
                      <a:pPr algn="l"/>
                      <a:r>
                        <a:rPr lang="en-US" sz="1600" b="0" i="0" kern="1200" dirty="0" err="1">
                          <a:solidFill>
                            <a:schemeClr val="dk1"/>
                          </a:solidFill>
                          <a:effectLst/>
                          <a:latin typeface="+mn-lt"/>
                          <a:ea typeface="+mn-ea"/>
                          <a:cs typeface="+mn-cs"/>
                        </a:rPr>
                        <a:t>gpa</a:t>
                      </a:r>
                      <a:r>
                        <a:rPr lang="en-US" sz="1600" b="0" i="0" kern="1200" dirty="0">
                          <a:solidFill>
                            <a:schemeClr val="dk1"/>
                          </a:solidFill>
                          <a:effectLst/>
                          <a:latin typeface="+mn-lt"/>
                          <a:ea typeface="+mn-ea"/>
                          <a:cs typeface="+mn-cs"/>
                        </a:rPr>
                        <a:t> = 3.75</a:t>
                      </a:r>
                    </a:p>
                  </a:txBody>
                  <a:tcPr marL="10800" marR="10800" marT="10800" marB="1080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2709966"/>
                  </a:ext>
                </a:extLst>
              </a:tr>
              <a:tr h="517564">
                <a:tc>
                  <a:txBody>
                    <a:bodyPr/>
                    <a:lstStyle/>
                    <a:p>
                      <a:pPr algn="l"/>
                      <a:r>
                        <a:rPr lang="en-US" sz="1600" kern="1200" dirty="0">
                          <a:solidFill>
                            <a:srgbClr val="000000"/>
                          </a:solidFill>
                          <a:latin typeface="+mn-lt"/>
                          <a:ea typeface="+mn-ea"/>
                          <a:cs typeface="+mn-cs"/>
                        </a:rPr>
                        <a:t>Complex (complex)</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Represents complex number</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z = 3 + 4j </a:t>
                      </a:r>
                    </a:p>
                    <a:p>
                      <a:pPr algn="l"/>
                      <a:r>
                        <a:rPr lang="en-US" sz="1600" b="0" i="0" kern="1200" dirty="0">
                          <a:solidFill>
                            <a:schemeClr val="dk1"/>
                          </a:solidFill>
                          <a:effectLst/>
                          <a:latin typeface="+mn-lt"/>
                          <a:ea typeface="+mn-ea"/>
                          <a:cs typeface="+mn-cs"/>
                        </a:rPr>
                        <a:t>Where 3 is the real part, and 4 is the imaginary part</a:t>
                      </a:r>
                    </a:p>
                  </a:txBody>
                  <a:tcPr marL="10800" marR="10800" marT="10800" marB="1080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2577525"/>
                  </a:ext>
                </a:extLst>
              </a:tr>
              <a:tr h="953408">
                <a:tc>
                  <a:txBody>
                    <a:bodyPr/>
                    <a:lstStyle/>
                    <a:p>
                      <a:pPr algn="l"/>
                      <a:r>
                        <a:rPr lang="en-US" sz="1600" kern="1200" dirty="0">
                          <a:solidFill>
                            <a:srgbClr val="000000"/>
                          </a:solidFill>
                          <a:latin typeface="+mn-lt"/>
                          <a:ea typeface="+mn-ea"/>
                          <a:cs typeface="+mn-cs"/>
                        </a:rPr>
                        <a:t>Boolean (bool)</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Represents Boolean values</a:t>
                      </a:r>
                      <a:br>
                        <a:rPr lang="en-US" sz="1600" b="0" i="0" kern="1200" dirty="0">
                          <a:solidFill>
                            <a:schemeClr val="dk1"/>
                          </a:solidFill>
                          <a:effectLst/>
                          <a:latin typeface="+mn-lt"/>
                          <a:ea typeface="+mn-ea"/>
                          <a:cs typeface="+mn-cs"/>
                        </a:rPr>
                      </a:br>
                      <a:r>
                        <a:rPr lang="en-US" sz="1600" b="0" i="0" kern="1200" dirty="0">
                          <a:solidFill>
                            <a:schemeClr val="dk1"/>
                          </a:solidFill>
                          <a:effectLst/>
                          <a:latin typeface="+mn-lt"/>
                          <a:ea typeface="+mn-ea"/>
                          <a:cs typeface="+mn-cs"/>
                        </a:rPr>
                        <a:t>(True or False)</a:t>
                      </a:r>
                      <a:endParaRPr lang="en-US" sz="1600" kern="1200" dirty="0">
                        <a:solidFill>
                          <a:srgbClr val="000000"/>
                        </a:solidFill>
                        <a:latin typeface="+mn-lt"/>
                        <a:ea typeface="+mn-ea"/>
                        <a:cs typeface="+mn-cs"/>
                      </a:endParaRP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err="1">
                          <a:solidFill>
                            <a:schemeClr val="dk1"/>
                          </a:solidFill>
                          <a:effectLst/>
                          <a:latin typeface="+mn-lt"/>
                          <a:ea typeface="+mn-ea"/>
                          <a:cs typeface="+mn-cs"/>
                        </a:rPr>
                        <a:t>is_raining</a:t>
                      </a:r>
                      <a:r>
                        <a:rPr lang="en-US" sz="1600" b="0" i="0" kern="1200" dirty="0">
                          <a:solidFill>
                            <a:schemeClr val="dk1"/>
                          </a:solidFill>
                          <a:effectLst/>
                          <a:latin typeface="+mn-lt"/>
                          <a:ea typeface="+mn-ea"/>
                          <a:cs typeface="+mn-cs"/>
                        </a:rPr>
                        <a:t> = True</a:t>
                      </a:r>
                    </a:p>
                    <a:p>
                      <a:pPr algn="l"/>
                      <a:r>
                        <a:rPr lang="en-US" sz="1600" b="0" i="0" kern="1200" dirty="0" err="1">
                          <a:solidFill>
                            <a:schemeClr val="dk1"/>
                          </a:solidFill>
                          <a:effectLst/>
                          <a:latin typeface="+mn-lt"/>
                          <a:ea typeface="+mn-ea"/>
                          <a:cs typeface="+mn-cs"/>
                        </a:rPr>
                        <a:t>is_sunny</a:t>
                      </a:r>
                      <a:r>
                        <a:rPr lang="en-US" sz="1600" b="0" i="0" kern="1200" dirty="0">
                          <a:solidFill>
                            <a:schemeClr val="dk1"/>
                          </a:solidFill>
                          <a:effectLst/>
                          <a:latin typeface="+mn-lt"/>
                          <a:ea typeface="+mn-ea"/>
                          <a:cs typeface="+mn-cs"/>
                        </a:rPr>
                        <a:t> = False</a:t>
                      </a:r>
                    </a:p>
                    <a:p>
                      <a:pPr algn="l"/>
                      <a:r>
                        <a:rPr lang="en-US" sz="1600" b="0" i="0" kern="1200" dirty="0" err="1">
                          <a:solidFill>
                            <a:schemeClr val="dk1"/>
                          </a:solidFill>
                          <a:effectLst/>
                          <a:latin typeface="+mn-lt"/>
                          <a:ea typeface="+mn-ea"/>
                          <a:cs typeface="+mn-cs"/>
                        </a:rPr>
                        <a:t>has_passed_exam</a:t>
                      </a:r>
                      <a:r>
                        <a:rPr lang="en-US" sz="1600" b="0" i="0" kern="1200" dirty="0">
                          <a:solidFill>
                            <a:schemeClr val="dk1"/>
                          </a:solidFill>
                          <a:effectLst/>
                          <a:latin typeface="+mn-lt"/>
                          <a:ea typeface="+mn-ea"/>
                          <a:cs typeface="+mn-cs"/>
                        </a:rPr>
                        <a:t> = True</a:t>
                      </a:r>
                    </a:p>
                    <a:p>
                      <a:pPr algn="l"/>
                      <a:r>
                        <a:rPr lang="en-US" sz="1600" b="0" i="0" kern="1200" dirty="0" err="1">
                          <a:solidFill>
                            <a:schemeClr val="dk1"/>
                          </a:solidFill>
                          <a:effectLst/>
                          <a:latin typeface="+mn-lt"/>
                          <a:ea typeface="+mn-ea"/>
                          <a:cs typeface="+mn-cs"/>
                        </a:rPr>
                        <a:t>has_subscription</a:t>
                      </a:r>
                      <a:r>
                        <a:rPr lang="en-US" sz="1600" b="0" i="0" kern="1200" dirty="0">
                          <a:solidFill>
                            <a:schemeClr val="dk1"/>
                          </a:solidFill>
                          <a:effectLst/>
                          <a:latin typeface="+mn-lt"/>
                          <a:ea typeface="+mn-ea"/>
                          <a:cs typeface="+mn-cs"/>
                        </a:rPr>
                        <a:t> = False</a:t>
                      </a:r>
                    </a:p>
                  </a:txBody>
                  <a:tcPr marL="10800" marR="10800" marT="10800" marB="1080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939407"/>
                  </a:ext>
                </a:extLst>
              </a:tr>
              <a:tr h="517564">
                <a:tc>
                  <a:txBody>
                    <a:bodyPr/>
                    <a:lstStyle/>
                    <a:p>
                      <a:pPr algn="l"/>
                      <a:r>
                        <a:rPr lang="en-US" sz="1600" kern="1200" dirty="0">
                          <a:solidFill>
                            <a:srgbClr val="000000"/>
                          </a:solidFill>
                          <a:latin typeface="+mn-lt"/>
                          <a:ea typeface="+mn-ea"/>
                          <a:cs typeface="+mn-cs"/>
                        </a:rPr>
                        <a:t>None Type (None)</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Represents the absence of a value</a:t>
                      </a:r>
                      <a:endParaRPr lang="en-US" sz="1600" kern="1200" dirty="0">
                        <a:solidFill>
                          <a:srgbClr val="000000"/>
                        </a:solidFill>
                        <a:latin typeface="+mn-lt"/>
                        <a:ea typeface="+mn-ea"/>
                        <a:cs typeface="+mn-cs"/>
                      </a:endParaRP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err="1">
                          <a:solidFill>
                            <a:schemeClr val="dk1"/>
                          </a:solidFill>
                          <a:effectLst/>
                          <a:latin typeface="+mn-lt"/>
                          <a:ea typeface="+mn-ea"/>
                          <a:cs typeface="+mn-cs"/>
                        </a:rPr>
                        <a:t>no_value</a:t>
                      </a:r>
                      <a:r>
                        <a:rPr lang="en-US" sz="1600" b="0" i="0" kern="1200" dirty="0">
                          <a:solidFill>
                            <a:schemeClr val="dk1"/>
                          </a:solidFill>
                          <a:effectLst/>
                          <a:latin typeface="+mn-lt"/>
                          <a:ea typeface="+mn-ea"/>
                          <a:cs typeface="+mn-cs"/>
                        </a:rPr>
                        <a:t> = None</a:t>
                      </a:r>
                    </a:p>
                    <a:p>
                      <a:pPr algn="l"/>
                      <a:r>
                        <a:rPr lang="en-US" sz="1600" b="0" i="0" kern="1200" dirty="0" err="1">
                          <a:solidFill>
                            <a:schemeClr val="dk1"/>
                          </a:solidFill>
                          <a:effectLst/>
                          <a:latin typeface="+mn-lt"/>
                          <a:ea typeface="+mn-ea"/>
                          <a:cs typeface="+mn-cs"/>
                        </a:rPr>
                        <a:t>empty_variable</a:t>
                      </a:r>
                      <a:r>
                        <a:rPr lang="en-US" sz="1600" b="0" i="0" kern="1200" dirty="0">
                          <a:solidFill>
                            <a:schemeClr val="dk1"/>
                          </a:solidFill>
                          <a:effectLst/>
                          <a:latin typeface="+mn-lt"/>
                          <a:ea typeface="+mn-ea"/>
                          <a:cs typeface="+mn-cs"/>
                        </a:rPr>
                        <a:t> = None</a:t>
                      </a:r>
                    </a:p>
                  </a:txBody>
                  <a:tcPr marL="10800" marR="10800" marT="10800" marB="1080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4484263"/>
                  </a:ext>
                </a:extLst>
              </a:tr>
            </a:tbl>
          </a:graphicData>
        </a:graphic>
      </p:graphicFrame>
    </p:spTree>
    <p:extLst>
      <p:ext uri="{BB962C8B-B14F-4D97-AF65-F5344CB8AC3E}">
        <p14:creationId xmlns:p14="http://schemas.microsoft.com/office/powerpoint/2010/main" val="2170063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dirty="0"/>
              <a:t>Cont…</a:t>
            </a:r>
          </a:p>
        </p:txBody>
      </p:sp>
      <p:graphicFrame>
        <p:nvGraphicFramePr>
          <p:cNvPr id="8" name="Table 7">
            <a:extLst>
              <a:ext uri="{FF2B5EF4-FFF2-40B4-BE49-F238E27FC236}">
                <a16:creationId xmlns:a16="http://schemas.microsoft.com/office/drawing/2014/main" id="{8C555930-FD82-B701-F7EF-02B07FEDB885}"/>
              </a:ext>
            </a:extLst>
          </p:cNvPr>
          <p:cNvGraphicFramePr>
            <a:graphicFrameLocks noGrp="1"/>
          </p:cNvGraphicFramePr>
          <p:nvPr/>
        </p:nvGraphicFramePr>
        <p:xfrm>
          <a:off x="678883" y="1659835"/>
          <a:ext cx="10834234" cy="4606460"/>
        </p:xfrm>
        <a:graphic>
          <a:graphicData uri="http://schemas.openxmlformats.org/drawingml/2006/table">
            <a:tbl>
              <a:tblPr firstRow="1" bandRow="1">
                <a:tableStyleId>{5C22544A-7EE6-4342-B048-85BDC9FD1C3A}</a:tableStyleId>
              </a:tblPr>
              <a:tblGrid>
                <a:gridCol w="2718835">
                  <a:extLst>
                    <a:ext uri="{9D8B030D-6E8A-4147-A177-3AD203B41FA5}">
                      <a16:colId xmlns:a16="http://schemas.microsoft.com/office/drawing/2014/main" val="578491948"/>
                    </a:ext>
                  </a:extLst>
                </a:gridCol>
                <a:gridCol w="3608873">
                  <a:extLst>
                    <a:ext uri="{9D8B030D-6E8A-4147-A177-3AD203B41FA5}">
                      <a16:colId xmlns:a16="http://schemas.microsoft.com/office/drawing/2014/main" val="2185468354"/>
                    </a:ext>
                  </a:extLst>
                </a:gridCol>
                <a:gridCol w="4506526">
                  <a:extLst>
                    <a:ext uri="{9D8B030D-6E8A-4147-A177-3AD203B41FA5}">
                      <a16:colId xmlns:a16="http://schemas.microsoft.com/office/drawing/2014/main" val="258052584"/>
                    </a:ext>
                  </a:extLst>
                </a:gridCol>
              </a:tblGrid>
              <a:tr h="432000">
                <a:tc>
                  <a:txBody>
                    <a:bodyPr/>
                    <a:lstStyle/>
                    <a:p>
                      <a:pPr algn="l"/>
                      <a:r>
                        <a:rPr lang="en-US" sz="2000" b="1" dirty="0">
                          <a:solidFill>
                            <a:schemeClr val="tx1"/>
                          </a:solidFill>
                          <a:latin typeface="+mn-lt"/>
                        </a:rPr>
                        <a:t>Derived Data Type</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2000" b="1" dirty="0">
                          <a:solidFill>
                            <a:schemeClr val="tx1"/>
                          </a:solidFill>
                          <a:latin typeface="+mn-lt"/>
                        </a:rPr>
                        <a:t>Description</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2000" b="1" dirty="0">
                          <a:solidFill>
                            <a:schemeClr val="tx1"/>
                          </a:solidFill>
                          <a:latin typeface="+mn-lt"/>
                        </a:rPr>
                        <a:t>Example</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9017131"/>
                  </a:ext>
                </a:extLst>
              </a:tr>
              <a:tr h="953408">
                <a:tc>
                  <a:txBody>
                    <a:bodyPr/>
                    <a:lstStyle/>
                    <a:p>
                      <a:pPr algn="l"/>
                      <a:r>
                        <a:rPr lang="en-US" sz="1600" kern="1200" dirty="0">
                          <a:solidFill>
                            <a:srgbClr val="000000"/>
                          </a:solidFill>
                          <a:latin typeface="+mn-lt"/>
                          <a:ea typeface="+mn-ea"/>
                          <a:cs typeface="+mn-cs"/>
                        </a:rPr>
                        <a:t>String (str)</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Represents sequences of characters</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greeting = "Hello, World!"</a:t>
                      </a:r>
                    </a:p>
                    <a:p>
                      <a:pPr algn="l"/>
                      <a:r>
                        <a:rPr lang="en-US" sz="1600" b="0" i="0" kern="1200" dirty="0">
                          <a:solidFill>
                            <a:schemeClr val="dk1"/>
                          </a:solidFill>
                          <a:effectLst/>
                          <a:latin typeface="+mn-lt"/>
                          <a:ea typeface="+mn-ea"/>
                          <a:cs typeface="+mn-cs"/>
                        </a:rPr>
                        <a:t>name = "Alice"</a:t>
                      </a:r>
                    </a:p>
                    <a:p>
                      <a:pPr algn="l"/>
                      <a:r>
                        <a:rPr lang="en-US" sz="1600" b="0" i="0" kern="1200" dirty="0">
                          <a:solidFill>
                            <a:schemeClr val="dk1"/>
                          </a:solidFill>
                          <a:effectLst/>
                          <a:latin typeface="+mn-lt"/>
                          <a:ea typeface="+mn-ea"/>
                          <a:cs typeface="+mn-cs"/>
                        </a:rPr>
                        <a:t>message = "Python is fun!"</a:t>
                      </a:r>
                    </a:p>
                  </a:txBody>
                  <a:tcPr marL="10800" marR="10800" marT="10800" marB="1080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3426934"/>
                  </a:ext>
                </a:extLst>
              </a:tr>
              <a:tr h="953408">
                <a:tc>
                  <a:txBody>
                    <a:bodyPr/>
                    <a:lstStyle/>
                    <a:p>
                      <a:pPr algn="l"/>
                      <a:r>
                        <a:rPr lang="en-US" sz="1600" kern="1200" dirty="0">
                          <a:solidFill>
                            <a:srgbClr val="000000"/>
                          </a:solidFill>
                          <a:latin typeface="+mn-lt"/>
                          <a:ea typeface="+mn-ea"/>
                          <a:cs typeface="+mn-cs"/>
                        </a:rPr>
                        <a:t>List (list)</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Represents ordered collections of items</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numbers = [1, 2, 3, 4, 5]</a:t>
                      </a:r>
                    </a:p>
                    <a:p>
                      <a:pPr algn="l"/>
                      <a:r>
                        <a:rPr lang="en-US" sz="1600" b="0" i="0" kern="1200" dirty="0">
                          <a:solidFill>
                            <a:schemeClr val="dk1"/>
                          </a:solidFill>
                          <a:effectLst/>
                          <a:latin typeface="+mn-lt"/>
                          <a:ea typeface="+mn-ea"/>
                          <a:cs typeface="+mn-cs"/>
                        </a:rPr>
                        <a:t>fruits = ["apple", "banana", "cherry"]</a:t>
                      </a:r>
                    </a:p>
                    <a:p>
                      <a:pPr algn="l"/>
                      <a:r>
                        <a:rPr lang="en-US" sz="1600" b="0" i="0" kern="1200" dirty="0">
                          <a:solidFill>
                            <a:schemeClr val="dk1"/>
                          </a:solidFill>
                          <a:effectLst/>
                          <a:latin typeface="+mn-lt"/>
                          <a:ea typeface="+mn-ea"/>
                          <a:cs typeface="+mn-cs"/>
                        </a:rPr>
                        <a:t>grades = [85, 92, 78, 95, 88]</a:t>
                      </a:r>
                    </a:p>
                  </a:txBody>
                  <a:tcPr marL="10800" marR="10800" marT="10800" marB="1080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2709966"/>
                  </a:ext>
                </a:extLst>
              </a:tr>
              <a:tr h="517564">
                <a:tc>
                  <a:txBody>
                    <a:bodyPr/>
                    <a:lstStyle/>
                    <a:p>
                      <a:pPr algn="l"/>
                      <a:r>
                        <a:rPr lang="en-US" sz="1600" kern="1200" dirty="0">
                          <a:solidFill>
                            <a:srgbClr val="000000"/>
                          </a:solidFill>
                          <a:latin typeface="+mn-lt"/>
                          <a:ea typeface="+mn-ea"/>
                          <a:cs typeface="+mn-cs"/>
                        </a:rPr>
                        <a:t>Tuple (tuple)</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Represents immutable ordered</a:t>
                      </a:r>
                      <a:br>
                        <a:rPr lang="en-US" sz="1600" b="0" i="0" kern="1200" dirty="0">
                          <a:solidFill>
                            <a:schemeClr val="dk1"/>
                          </a:solidFill>
                          <a:effectLst/>
                          <a:latin typeface="+mn-lt"/>
                          <a:ea typeface="+mn-ea"/>
                          <a:cs typeface="+mn-cs"/>
                        </a:rPr>
                      </a:br>
                      <a:r>
                        <a:rPr lang="en-US" sz="1600" b="0" i="0" kern="1200" dirty="0">
                          <a:solidFill>
                            <a:schemeClr val="dk1"/>
                          </a:solidFill>
                          <a:effectLst/>
                          <a:latin typeface="+mn-lt"/>
                          <a:ea typeface="+mn-ea"/>
                          <a:cs typeface="+mn-cs"/>
                        </a:rPr>
                        <a:t>collections of items</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coordinates = (3, 4)</a:t>
                      </a:r>
                    </a:p>
                    <a:p>
                      <a:pPr algn="l"/>
                      <a:r>
                        <a:rPr lang="en-US" sz="1600" b="0" i="0" kern="1200" dirty="0" err="1">
                          <a:solidFill>
                            <a:schemeClr val="dk1"/>
                          </a:solidFill>
                          <a:effectLst/>
                          <a:latin typeface="+mn-lt"/>
                          <a:ea typeface="+mn-ea"/>
                          <a:cs typeface="+mn-cs"/>
                        </a:rPr>
                        <a:t>rgb_color</a:t>
                      </a:r>
                      <a:r>
                        <a:rPr lang="en-US" sz="1600" b="0" i="0" kern="1200" dirty="0">
                          <a:solidFill>
                            <a:schemeClr val="dk1"/>
                          </a:solidFill>
                          <a:effectLst/>
                          <a:latin typeface="+mn-lt"/>
                          <a:ea typeface="+mn-ea"/>
                          <a:cs typeface="+mn-cs"/>
                        </a:rPr>
                        <a:t> = (255, 0, 0)</a:t>
                      </a:r>
                    </a:p>
                    <a:p>
                      <a:pPr algn="l"/>
                      <a:r>
                        <a:rPr lang="en-US" sz="1600" b="0" i="0" kern="1200" dirty="0" err="1">
                          <a:solidFill>
                            <a:schemeClr val="dk1"/>
                          </a:solidFill>
                          <a:effectLst/>
                          <a:latin typeface="+mn-lt"/>
                          <a:ea typeface="+mn-ea"/>
                          <a:cs typeface="+mn-cs"/>
                        </a:rPr>
                        <a:t>person_info</a:t>
                      </a:r>
                      <a:r>
                        <a:rPr lang="en-US" sz="1600" b="0" i="0" kern="1200" dirty="0">
                          <a:solidFill>
                            <a:schemeClr val="dk1"/>
                          </a:solidFill>
                          <a:effectLst/>
                          <a:latin typeface="+mn-lt"/>
                          <a:ea typeface="+mn-ea"/>
                          <a:cs typeface="+mn-cs"/>
                        </a:rPr>
                        <a:t> = ("John", 30, "New York")</a:t>
                      </a:r>
                    </a:p>
                  </a:txBody>
                  <a:tcPr marL="10800" marR="10800" marT="10800" marB="1080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2577525"/>
                  </a:ext>
                </a:extLst>
              </a:tr>
              <a:tr h="953408">
                <a:tc>
                  <a:txBody>
                    <a:bodyPr/>
                    <a:lstStyle/>
                    <a:p>
                      <a:pPr algn="l"/>
                      <a:r>
                        <a:rPr lang="en-US" sz="1600" kern="1200" dirty="0">
                          <a:solidFill>
                            <a:srgbClr val="000000"/>
                          </a:solidFill>
                          <a:latin typeface="+mn-lt"/>
                          <a:ea typeface="+mn-ea"/>
                          <a:cs typeface="+mn-cs"/>
                        </a:rPr>
                        <a:t>Dictionary (</a:t>
                      </a:r>
                      <a:r>
                        <a:rPr lang="en-US" sz="1600" kern="1200" dirty="0" err="1">
                          <a:solidFill>
                            <a:srgbClr val="000000"/>
                          </a:solidFill>
                          <a:latin typeface="+mn-lt"/>
                          <a:ea typeface="+mn-ea"/>
                          <a:cs typeface="+mn-cs"/>
                        </a:rPr>
                        <a:t>dict</a:t>
                      </a:r>
                      <a:r>
                        <a:rPr lang="en-US" sz="1600" kern="1200" dirty="0">
                          <a:solidFill>
                            <a:srgbClr val="000000"/>
                          </a:solidFill>
                          <a:latin typeface="+mn-lt"/>
                          <a:ea typeface="+mn-ea"/>
                          <a:cs typeface="+mn-cs"/>
                        </a:rPr>
                        <a:t>)</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Represents dictionaries, which are collections of key-value pairs.</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person = {"name": "John", "age": 30, "city": "New York"}</a:t>
                      </a:r>
                    </a:p>
                    <a:p>
                      <a:pPr algn="l"/>
                      <a:r>
                        <a:rPr lang="en-US" sz="1600" b="0" i="0" kern="1200" dirty="0">
                          <a:solidFill>
                            <a:schemeClr val="dk1"/>
                          </a:solidFill>
                          <a:effectLst/>
                          <a:latin typeface="+mn-lt"/>
                          <a:ea typeface="+mn-ea"/>
                          <a:cs typeface="+mn-cs"/>
                        </a:rPr>
                        <a:t>student = {"name": "Alice", "age": 25, "major": "Computer Science"}</a:t>
                      </a:r>
                    </a:p>
                  </a:txBody>
                  <a:tcPr marL="10800" marR="10800" marT="10800" marB="1080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939407"/>
                  </a:ext>
                </a:extLst>
              </a:tr>
              <a:tr h="517564">
                <a:tc>
                  <a:txBody>
                    <a:bodyPr/>
                    <a:lstStyle/>
                    <a:p>
                      <a:pPr algn="l"/>
                      <a:r>
                        <a:rPr lang="en-US" sz="1600" kern="1200" dirty="0">
                          <a:solidFill>
                            <a:srgbClr val="000000"/>
                          </a:solidFill>
                          <a:latin typeface="+mn-lt"/>
                          <a:ea typeface="+mn-ea"/>
                          <a:cs typeface="+mn-cs"/>
                        </a:rPr>
                        <a:t>Set (set)</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a:solidFill>
                            <a:schemeClr val="dk1"/>
                          </a:solidFill>
                          <a:effectLst/>
                          <a:latin typeface="+mn-lt"/>
                          <a:ea typeface="+mn-ea"/>
                          <a:cs typeface="+mn-cs"/>
                        </a:rPr>
                        <a:t>Represents unordered collections of</a:t>
                      </a:r>
                      <a:br>
                        <a:rPr lang="en-US" sz="1600" b="0" i="0" kern="1200" dirty="0">
                          <a:solidFill>
                            <a:schemeClr val="dk1"/>
                          </a:solidFill>
                          <a:effectLst/>
                          <a:latin typeface="+mn-lt"/>
                          <a:ea typeface="+mn-ea"/>
                          <a:cs typeface="+mn-cs"/>
                        </a:rPr>
                      </a:br>
                      <a:r>
                        <a:rPr lang="en-US" sz="1600" b="0" i="0" kern="1200" dirty="0">
                          <a:solidFill>
                            <a:schemeClr val="dk1"/>
                          </a:solidFill>
                          <a:effectLst/>
                          <a:latin typeface="+mn-lt"/>
                          <a:ea typeface="+mn-ea"/>
                          <a:cs typeface="+mn-cs"/>
                        </a:rPr>
                        <a:t>unique elements</a:t>
                      </a:r>
                    </a:p>
                  </a:txBody>
                  <a:tcPr marL="0" marR="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0" i="0" kern="1200" dirty="0" err="1">
                          <a:solidFill>
                            <a:schemeClr val="dk1"/>
                          </a:solidFill>
                          <a:effectLst/>
                          <a:latin typeface="+mn-lt"/>
                          <a:ea typeface="+mn-ea"/>
                          <a:cs typeface="+mn-cs"/>
                        </a:rPr>
                        <a:t>myset</a:t>
                      </a:r>
                      <a:r>
                        <a:rPr lang="en-US" sz="1600" b="0" i="0" kern="1200" dirty="0">
                          <a:solidFill>
                            <a:schemeClr val="dk1"/>
                          </a:solidFill>
                          <a:effectLst/>
                          <a:latin typeface="+mn-lt"/>
                          <a:ea typeface="+mn-ea"/>
                          <a:cs typeface="+mn-cs"/>
                        </a:rPr>
                        <a:t> = {"apple", "banana", "cherry"}</a:t>
                      </a:r>
                    </a:p>
                  </a:txBody>
                  <a:tcPr marL="10800" marR="10800" marT="10800" marB="1080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4484263"/>
                  </a:ext>
                </a:extLst>
              </a:tr>
            </a:tbl>
          </a:graphicData>
        </a:graphic>
      </p:graphicFrame>
    </p:spTree>
    <p:extLst>
      <p:ext uri="{BB962C8B-B14F-4D97-AF65-F5344CB8AC3E}">
        <p14:creationId xmlns:p14="http://schemas.microsoft.com/office/powerpoint/2010/main" val="3080267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dirty="0"/>
              <a:t>Fundamental Data Types</a:t>
            </a:r>
          </a:p>
        </p:txBody>
      </p:sp>
      <p:graphicFrame>
        <p:nvGraphicFramePr>
          <p:cNvPr id="3" name="Table 2">
            <a:extLst>
              <a:ext uri="{FF2B5EF4-FFF2-40B4-BE49-F238E27FC236}">
                <a16:creationId xmlns:a16="http://schemas.microsoft.com/office/drawing/2014/main" id="{694219BD-AA79-249C-BC7B-157411DA063D}"/>
              </a:ext>
            </a:extLst>
          </p:cNvPr>
          <p:cNvGraphicFramePr>
            <a:graphicFrameLocks noGrp="1"/>
          </p:cNvGraphicFramePr>
          <p:nvPr/>
        </p:nvGraphicFramePr>
        <p:xfrm>
          <a:off x="678883" y="1659835"/>
          <a:ext cx="10834236" cy="4297680"/>
        </p:xfrm>
        <a:graphic>
          <a:graphicData uri="http://schemas.openxmlformats.org/drawingml/2006/table">
            <a:tbl>
              <a:tblPr firstRow="1" bandRow="1">
                <a:tableStyleId>{5940675A-B579-460E-94D1-54222C63F5DA}</a:tableStyleId>
              </a:tblPr>
              <a:tblGrid>
                <a:gridCol w="2708559">
                  <a:extLst>
                    <a:ext uri="{9D8B030D-6E8A-4147-A177-3AD203B41FA5}">
                      <a16:colId xmlns:a16="http://schemas.microsoft.com/office/drawing/2014/main" val="1812953628"/>
                    </a:ext>
                  </a:extLst>
                </a:gridCol>
                <a:gridCol w="2708559">
                  <a:extLst>
                    <a:ext uri="{9D8B030D-6E8A-4147-A177-3AD203B41FA5}">
                      <a16:colId xmlns:a16="http://schemas.microsoft.com/office/drawing/2014/main" val="548571187"/>
                    </a:ext>
                  </a:extLst>
                </a:gridCol>
                <a:gridCol w="2708559">
                  <a:extLst>
                    <a:ext uri="{9D8B030D-6E8A-4147-A177-3AD203B41FA5}">
                      <a16:colId xmlns:a16="http://schemas.microsoft.com/office/drawing/2014/main" val="3795318878"/>
                    </a:ext>
                  </a:extLst>
                </a:gridCol>
                <a:gridCol w="2708559">
                  <a:extLst>
                    <a:ext uri="{9D8B030D-6E8A-4147-A177-3AD203B41FA5}">
                      <a16:colId xmlns:a16="http://schemas.microsoft.com/office/drawing/2014/main" val="1748784880"/>
                    </a:ext>
                  </a:extLst>
                </a:gridCol>
              </a:tblGrid>
              <a:tr h="2430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spc="-30" dirty="0">
                          <a:solidFill>
                            <a:schemeClr val="tx1"/>
                          </a:solidFill>
                        </a:rPr>
                        <a:t>Integer</a:t>
                      </a:r>
                    </a:p>
                  </a:txBody>
                  <a:tcPr anchor="ctr">
                    <a:lnL w="12700" cmpd="sng">
                      <a:noFill/>
                    </a:lnL>
                    <a:lnR w="12700" cmpd="sng">
                      <a:noFill/>
                    </a:lnR>
                    <a:lnT w="12700" cmpd="sng">
                      <a:noFill/>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kern="1200" spc="-30" dirty="0">
                          <a:solidFill>
                            <a:schemeClr val="tx1"/>
                          </a:solidFill>
                        </a:rPr>
                        <a:t>Float</a:t>
                      </a:r>
                    </a:p>
                  </a:txBody>
                  <a:tcPr anchor="ctr">
                    <a:lnL w="12700" cmpd="sng">
                      <a:noFill/>
                    </a:lnL>
                    <a:lnR w="12700" cmpd="sng">
                      <a:noFill/>
                    </a:lnR>
                    <a:lnT w="12700" cmpd="sng">
                      <a:noFill/>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kern="1200" spc="-30" dirty="0">
                          <a:solidFill>
                            <a:schemeClr val="tx1"/>
                          </a:solidFill>
                        </a:rPr>
                        <a:t>Complex</a:t>
                      </a:r>
                    </a:p>
                  </a:txBody>
                  <a:tcPr anchor="ctr">
                    <a:lnL w="12700" cmpd="sng">
                      <a:noFill/>
                    </a:lnL>
                    <a:lnR w="12700" cmpd="sng">
                      <a:noFill/>
                    </a:lnR>
                    <a:lnT w="12700" cmpd="sng">
                      <a:noFill/>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kern="1200" spc="-30" dirty="0">
                          <a:solidFill>
                            <a:schemeClr val="tx1"/>
                          </a:solidFill>
                        </a:rPr>
                        <a:t>Boolean</a:t>
                      </a:r>
                    </a:p>
                  </a:txBody>
                  <a:tcPr anchor="ctr">
                    <a:lnL w="12700" cmpd="sng">
                      <a:noFill/>
                    </a:lnL>
                    <a:lnR w="12700" cmpd="sng">
                      <a:noFill/>
                    </a:lnR>
                    <a:lnT w="12700" cmpd="sng">
                      <a:noFill/>
                    </a:lnT>
                    <a:lnB w="12700" cap="flat" cmpd="sng" algn="ctr">
                      <a:solidFill>
                        <a:schemeClr val="bg2">
                          <a:lumMod val="50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0360639"/>
                  </a:ext>
                </a:extLst>
              </a:tr>
              <a:tr h="2897730">
                <a:tc>
                  <a:txBody>
                    <a:bodyPr/>
                    <a:lstStyle/>
                    <a:p>
                      <a:pPr algn="just"/>
                      <a:r>
                        <a:rPr lang="en-US" sz="1400" kern="1200" dirty="0">
                          <a:solidFill>
                            <a:srgbClr val="000000"/>
                          </a:solidFill>
                          <a:effectLst/>
                        </a:rPr>
                        <a:t>a = 10</a:t>
                      </a:r>
                    </a:p>
                    <a:p>
                      <a:pPr algn="just"/>
                      <a:endParaRPr lang="en-US" sz="1400" kern="1200" dirty="0">
                        <a:solidFill>
                          <a:srgbClr val="000000"/>
                        </a:solidFill>
                        <a:effectLst/>
                      </a:endParaRPr>
                    </a:p>
                    <a:p>
                      <a:pPr algn="just"/>
                      <a:r>
                        <a:rPr lang="en-US" sz="1400" kern="1200" dirty="0">
                          <a:solidFill>
                            <a:srgbClr val="000000"/>
                          </a:solidFill>
                          <a:effectLst/>
                        </a:rPr>
                        <a:t>To check the data type of a</a:t>
                      </a:r>
                    </a:p>
                    <a:p>
                      <a:pPr algn="just"/>
                      <a:r>
                        <a:rPr lang="en-US" sz="1400" kern="1200" dirty="0">
                          <a:solidFill>
                            <a:srgbClr val="000000"/>
                          </a:solidFill>
                          <a:effectLst/>
                        </a:rPr>
                        <a:t>print(type(a))</a:t>
                      </a:r>
                    </a:p>
                    <a:p>
                      <a:pPr algn="just"/>
                      <a:endParaRPr lang="en-US" sz="1400" kern="1200" dirty="0">
                        <a:solidFill>
                          <a:srgbClr val="000000"/>
                        </a:solidFill>
                        <a:effectLst/>
                      </a:endParaRPr>
                    </a:p>
                    <a:p>
                      <a:pPr algn="just"/>
                      <a:r>
                        <a:rPr lang="en-US" sz="1400" kern="1200" dirty="0">
                          <a:solidFill>
                            <a:srgbClr val="000000"/>
                          </a:solidFill>
                          <a:effectLst/>
                        </a:rPr>
                        <a:t>To check the id of a</a:t>
                      </a:r>
                    </a:p>
                    <a:p>
                      <a:pPr algn="just"/>
                      <a:r>
                        <a:rPr lang="en-US" sz="1400" kern="1200" dirty="0">
                          <a:solidFill>
                            <a:srgbClr val="000000"/>
                          </a:solidFill>
                          <a:effectLst/>
                        </a:rPr>
                        <a:t>print(id(a))</a:t>
                      </a:r>
                    </a:p>
                    <a:p>
                      <a:pPr algn="just"/>
                      <a:endParaRPr lang="en-US" sz="1400" kern="1200" dirty="0">
                        <a:solidFill>
                          <a:srgbClr val="000000"/>
                        </a:solidFill>
                        <a:effectLst/>
                      </a:endParaRPr>
                    </a:p>
                    <a:p>
                      <a:pPr algn="just"/>
                      <a:r>
                        <a:rPr lang="en-US" sz="1400" kern="1200" dirty="0">
                          <a:solidFill>
                            <a:srgbClr val="000000"/>
                          </a:solidFill>
                          <a:effectLst/>
                        </a:rPr>
                        <a:t>Integer Caches: Python caches a range of small integers (typically from -5 to 256)</a:t>
                      </a:r>
                    </a:p>
                    <a:p>
                      <a:pPr algn="just"/>
                      <a:r>
                        <a:rPr lang="en-US" sz="1400" kern="1200" dirty="0">
                          <a:solidFill>
                            <a:srgbClr val="000000"/>
                          </a:solidFill>
                          <a:effectLst/>
                        </a:rPr>
                        <a:t>a = 42 </a:t>
                      </a:r>
                    </a:p>
                    <a:p>
                      <a:pPr algn="just"/>
                      <a:r>
                        <a:rPr lang="en-US" sz="1400" kern="1200" dirty="0">
                          <a:solidFill>
                            <a:srgbClr val="000000"/>
                          </a:solidFill>
                          <a:effectLst/>
                        </a:rPr>
                        <a:t>b = 42 </a:t>
                      </a:r>
                    </a:p>
                    <a:p>
                      <a:pPr algn="just"/>
                      <a:r>
                        <a:rPr lang="en-US" sz="1400" kern="1200" dirty="0">
                          <a:solidFill>
                            <a:srgbClr val="000000"/>
                          </a:solidFill>
                          <a:effectLst/>
                        </a:rPr>
                        <a:t>print(a is b)   gives True</a:t>
                      </a:r>
                    </a:p>
                    <a:p>
                      <a:pPr algn="just"/>
                      <a:endParaRPr lang="en-US" sz="1400" kern="1200" dirty="0">
                        <a:solidFill>
                          <a:srgbClr val="000000"/>
                        </a:solidFill>
                        <a:effectLst/>
                      </a:endParaRPr>
                    </a:p>
                    <a:p>
                      <a:pPr algn="just"/>
                      <a:r>
                        <a:rPr lang="en-US" sz="1400" kern="1200" dirty="0">
                          <a:solidFill>
                            <a:srgbClr val="000000"/>
                          </a:solidFill>
                          <a:effectLst/>
                        </a:rPr>
                        <a:t>x = 257</a:t>
                      </a:r>
                    </a:p>
                    <a:p>
                      <a:pPr algn="just"/>
                      <a:r>
                        <a:rPr lang="en-US" sz="1400" kern="1200" dirty="0">
                          <a:solidFill>
                            <a:srgbClr val="000000"/>
                          </a:solidFill>
                          <a:effectLst/>
                        </a:rPr>
                        <a:t>y = 257</a:t>
                      </a:r>
                    </a:p>
                    <a:p>
                      <a:pPr algn="just"/>
                      <a:r>
                        <a:rPr lang="en-US" sz="1400" kern="1200" dirty="0">
                          <a:solidFill>
                            <a:srgbClr val="000000"/>
                          </a:solidFill>
                          <a:effectLst/>
                        </a:rPr>
                        <a:t>print(x is y) gives False</a:t>
                      </a:r>
                    </a:p>
                  </a:txBody>
                  <a:tcPr>
                    <a:lnL w="12700" cmpd="sng">
                      <a:noFill/>
                    </a:lnL>
                    <a:lnR w="12700" cap="flat" cmpd="sng" algn="ctr">
                      <a:solidFill>
                        <a:schemeClr val="bg2">
                          <a:lumMod val="50000"/>
                        </a:schemeClr>
                      </a:solid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just"/>
                      <a:r>
                        <a:rPr lang="en-US" sz="1400" dirty="0">
                          <a:solidFill>
                            <a:srgbClr val="000000"/>
                          </a:solidFill>
                        </a:rPr>
                        <a:t>Floats are used to represent real numbers</a:t>
                      </a:r>
                    </a:p>
                    <a:p>
                      <a:pPr algn="just"/>
                      <a:endParaRPr lang="en-US" sz="1400" dirty="0">
                        <a:solidFill>
                          <a:srgbClr val="000000"/>
                        </a:solidFill>
                      </a:endParaRPr>
                    </a:p>
                    <a:p>
                      <a:pPr algn="just"/>
                      <a:r>
                        <a:rPr lang="en-US" sz="1400" dirty="0">
                          <a:solidFill>
                            <a:srgbClr val="000000"/>
                          </a:solidFill>
                        </a:rPr>
                        <a:t>a = 1.5</a:t>
                      </a:r>
                    </a:p>
                    <a:p>
                      <a:pPr algn="just"/>
                      <a:endParaRPr lang="en-US" sz="1400" dirty="0">
                        <a:solidFill>
                          <a:srgbClr val="000000"/>
                        </a:solidFill>
                      </a:endParaRPr>
                    </a:p>
                    <a:p>
                      <a:pPr algn="just"/>
                      <a:r>
                        <a:rPr lang="en-US" sz="1400" kern="1200" dirty="0">
                          <a:solidFill>
                            <a:srgbClr val="000000"/>
                          </a:solidFill>
                          <a:effectLst/>
                        </a:rPr>
                        <a:t>To check the data type of a</a:t>
                      </a:r>
                    </a:p>
                    <a:p>
                      <a:pPr algn="just"/>
                      <a:r>
                        <a:rPr lang="en-US" sz="1400" kern="1200" dirty="0">
                          <a:solidFill>
                            <a:srgbClr val="000000"/>
                          </a:solidFill>
                          <a:effectLst/>
                        </a:rPr>
                        <a:t>print(type(a))</a:t>
                      </a:r>
                    </a:p>
                    <a:p>
                      <a:pPr algn="just"/>
                      <a:endParaRPr lang="en-US" sz="1400" kern="1200" dirty="0">
                        <a:solidFill>
                          <a:srgbClr val="000000"/>
                        </a:solidFill>
                        <a:effectLst/>
                      </a:endParaRPr>
                    </a:p>
                    <a:p>
                      <a:pPr algn="just"/>
                      <a:r>
                        <a:rPr lang="en-US" sz="1400" kern="1200" dirty="0">
                          <a:solidFill>
                            <a:srgbClr val="000000"/>
                          </a:solidFill>
                          <a:effectLst/>
                        </a:rPr>
                        <a:t>To check the id of a</a:t>
                      </a:r>
                    </a:p>
                    <a:p>
                      <a:pPr algn="just"/>
                      <a:r>
                        <a:rPr lang="en-US" sz="1400" kern="1200" dirty="0">
                          <a:solidFill>
                            <a:srgbClr val="000000"/>
                          </a:solidFill>
                          <a:effectLst/>
                        </a:rPr>
                        <a:t>print(id(a))</a:t>
                      </a:r>
                    </a:p>
                    <a:p>
                      <a:pPr algn="just"/>
                      <a:endParaRPr lang="en-US" sz="1400" dirty="0">
                        <a:solidFill>
                          <a:srgbClr val="000000"/>
                        </a:solidFill>
                      </a:endParaRPr>
                    </a:p>
                    <a:p>
                      <a:pPr algn="just"/>
                      <a:r>
                        <a:rPr lang="en-US" sz="1400" dirty="0">
                          <a:solidFill>
                            <a:srgbClr val="000000"/>
                          </a:solidFill>
                        </a:rPr>
                        <a:t>Floats in Python are implemented as IEEE 754 double-precision floating-point numbers, which provide approximately 15-17 significant digits of precision</a:t>
                      </a:r>
                    </a:p>
                  </a:txBody>
                  <a:tcPr>
                    <a:lnL w="12700" cap="flat" cmpd="sng" algn="ctr">
                      <a:solidFill>
                        <a:schemeClr val="bg2">
                          <a:lumMod val="50000"/>
                        </a:schemeClr>
                      </a:solidFill>
                      <a:prstDash val="sysDot"/>
                      <a:round/>
                      <a:headEnd type="none" w="med" len="med"/>
                      <a:tailEnd type="none" w="med" len="med"/>
                    </a:lnL>
                    <a:lnR w="12700" cap="flat" cmpd="sng" algn="ctr">
                      <a:solidFill>
                        <a:schemeClr val="bg2">
                          <a:lumMod val="50000"/>
                        </a:schemeClr>
                      </a:solid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just"/>
                      <a:r>
                        <a:rPr lang="en-US" sz="1400" dirty="0">
                          <a:solidFill>
                            <a:srgbClr val="000000"/>
                          </a:solidFill>
                        </a:rPr>
                        <a:t>Complex numbers in Python are written as a+bj, where a is the real part, and b is the imaginary part</a:t>
                      </a:r>
                    </a:p>
                    <a:p>
                      <a:pPr algn="just"/>
                      <a:endParaRPr lang="en-US" sz="1400" dirty="0">
                        <a:solidFill>
                          <a:srgbClr val="000000"/>
                        </a:solidFill>
                      </a:endParaRPr>
                    </a:p>
                    <a:p>
                      <a:pPr algn="just"/>
                      <a:r>
                        <a:rPr lang="en-US" sz="1400" kern="1200" dirty="0">
                          <a:solidFill>
                            <a:srgbClr val="000000"/>
                          </a:solidFill>
                          <a:effectLst/>
                        </a:rPr>
                        <a:t>z = 3 + 4j </a:t>
                      </a:r>
                    </a:p>
                    <a:p>
                      <a:pPr algn="just"/>
                      <a:endParaRPr lang="en-US" sz="1400" kern="1200" dirty="0">
                        <a:solidFill>
                          <a:srgbClr val="000000"/>
                        </a:solidFill>
                        <a:effectLst/>
                      </a:endParaRPr>
                    </a:p>
                    <a:p>
                      <a:pPr algn="just"/>
                      <a:r>
                        <a:rPr lang="en-US" sz="1400" kern="1200" dirty="0">
                          <a:solidFill>
                            <a:srgbClr val="000000"/>
                          </a:solidFill>
                          <a:effectLst/>
                        </a:rPr>
                        <a:t>Where 3 is the real part, and 4 is the imaginary part.</a:t>
                      </a:r>
                    </a:p>
                    <a:p>
                      <a:pPr algn="just"/>
                      <a:endParaRPr lang="en-US" sz="1400" kern="1200" dirty="0">
                        <a:solidFill>
                          <a:srgbClr val="000000"/>
                        </a:solidFill>
                        <a:effectLst/>
                      </a:endParaRPr>
                    </a:p>
                    <a:p>
                      <a:pPr algn="just"/>
                      <a:r>
                        <a:rPr lang="en-US" sz="1400" kern="1200" dirty="0">
                          <a:solidFill>
                            <a:srgbClr val="000000"/>
                          </a:solidFill>
                          <a:effectLst/>
                        </a:rPr>
                        <a:t>To check the data type of a</a:t>
                      </a:r>
                    </a:p>
                    <a:p>
                      <a:pPr algn="just"/>
                      <a:r>
                        <a:rPr lang="en-US" sz="1400" kern="1200" dirty="0">
                          <a:solidFill>
                            <a:srgbClr val="000000"/>
                          </a:solidFill>
                          <a:effectLst/>
                        </a:rPr>
                        <a:t>print(type(z))</a:t>
                      </a:r>
                    </a:p>
                    <a:p>
                      <a:pPr algn="just"/>
                      <a:endParaRPr lang="en-US" sz="1400" kern="1200" dirty="0">
                        <a:solidFill>
                          <a:srgbClr val="000000"/>
                        </a:solidFill>
                        <a:effectLst/>
                      </a:endParaRPr>
                    </a:p>
                    <a:p>
                      <a:pPr algn="just"/>
                      <a:r>
                        <a:rPr lang="en-US" sz="1400" kern="1200" dirty="0">
                          <a:solidFill>
                            <a:srgbClr val="000000"/>
                          </a:solidFill>
                          <a:effectLst/>
                        </a:rPr>
                        <a:t>To check the id of a</a:t>
                      </a:r>
                    </a:p>
                    <a:p>
                      <a:pPr algn="just"/>
                      <a:r>
                        <a:rPr lang="en-US" sz="1400" kern="1200" dirty="0">
                          <a:solidFill>
                            <a:srgbClr val="000000"/>
                          </a:solidFill>
                          <a:effectLst/>
                        </a:rPr>
                        <a:t>print(id(z))</a:t>
                      </a:r>
                    </a:p>
                    <a:p>
                      <a:pPr algn="just"/>
                      <a:endParaRPr lang="en-US" sz="1400" kern="1200" dirty="0">
                        <a:solidFill>
                          <a:srgbClr val="000000"/>
                        </a:solidFill>
                        <a:effectLst/>
                      </a:endParaRPr>
                    </a:p>
                    <a:p>
                      <a:pPr algn="just"/>
                      <a:r>
                        <a:rPr lang="en-US" sz="1400" kern="1200" dirty="0">
                          <a:solidFill>
                            <a:srgbClr val="000000"/>
                          </a:solidFill>
                          <a:effectLst/>
                        </a:rPr>
                        <a:t>Used in AC circuit analysis), signal processing, and quantum mechanics.</a:t>
                      </a:r>
                    </a:p>
                  </a:txBody>
                  <a:tcPr>
                    <a:lnL w="12700" cap="flat" cmpd="sng" algn="ctr">
                      <a:solidFill>
                        <a:schemeClr val="bg2">
                          <a:lumMod val="50000"/>
                        </a:schemeClr>
                      </a:solidFill>
                      <a:prstDash val="sysDot"/>
                      <a:round/>
                      <a:headEnd type="none" w="med" len="med"/>
                      <a:tailEnd type="none" w="med" len="med"/>
                    </a:lnL>
                    <a:lnR w="12700" cap="flat" cmpd="sng" algn="ctr">
                      <a:solidFill>
                        <a:schemeClr val="bg2">
                          <a:lumMod val="50000"/>
                        </a:schemeClr>
                      </a:solidFill>
                      <a:prstDash val="sysDot"/>
                      <a:round/>
                      <a:headEnd type="none" w="med" len="med"/>
                      <a:tailEnd type="none" w="med" len="med"/>
                    </a:lnR>
                    <a:lnT w="12700" cap="flat" cmpd="sng" algn="ctr">
                      <a:solidFill>
                        <a:schemeClr val="bg2">
                          <a:lumMod val="50000"/>
                        </a:schemeClr>
                      </a:solidFill>
                      <a:prstDash val="sysDot"/>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just"/>
                      <a:r>
                        <a:rPr lang="en-US" sz="1400" dirty="0">
                          <a:solidFill>
                            <a:srgbClr val="000000"/>
                          </a:solidFill>
                        </a:rPr>
                        <a:t>Booleans are primarily used for logical operations and conditions.</a:t>
                      </a:r>
                    </a:p>
                    <a:p>
                      <a:pPr algn="just"/>
                      <a:endParaRPr lang="en-US" sz="1400" dirty="0">
                        <a:solidFill>
                          <a:srgbClr val="000000"/>
                        </a:solidFill>
                      </a:endParaRPr>
                    </a:p>
                    <a:p>
                      <a:pPr algn="just"/>
                      <a:r>
                        <a:rPr lang="en-US" sz="1400" dirty="0">
                          <a:solidFill>
                            <a:srgbClr val="000000"/>
                          </a:solidFill>
                        </a:rPr>
                        <a:t>a = bool(20)</a:t>
                      </a:r>
                    </a:p>
                    <a:p>
                      <a:pPr algn="just"/>
                      <a:r>
                        <a:rPr lang="en-US" sz="1400" dirty="0">
                          <a:solidFill>
                            <a:srgbClr val="000000"/>
                          </a:solidFill>
                        </a:rPr>
                        <a:t>print(a, type(a))</a:t>
                      </a:r>
                    </a:p>
                    <a:p>
                      <a:pPr marL="285750" indent="-285750">
                        <a:buFont typeface="Wingdings" panose="05000000000000000000" pitchFamily="2" charset="2"/>
                        <a:buChar char="à"/>
                      </a:pPr>
                      <a:r>
                        <a:rPr lang="en-US" sz="1400" kern="1200" dirty="0">
                          <a:solidFill>
                            <a:srgbClr val="000000"/>
                          </a:solidFill>
                        </a:rPr>
                        <a:t>True &lt;class 'bool’&gt; </a:t>
                      </a:r>
                    </a:p>
                    <a:p>
                      <a:pPr marL="285750" indent="-285750">
                        <a:buFont typeface="Wingdings" panose="05000000000000000000" pitchFamily="2" charset="2"/>
                        <a:buChar char="à"/>
                      </a:pPr>
                      <a:endParaRPr lang="en-US" sz="1400" kern="1200" dirty="0">
                        <a:solidFill>
                          <a:srgbClr val="000000"/>
                        </a:solidFill>
                      </a:endParaRPr>
                    </a:p>
                    <a:p>
                      <a:pPr marL="0" indent="0">
                        <a:buFont typeface="Wingdings" panose="05000000000000000000" pitchFamily="2" charset="2"/>
                        <a:buNone/>
                      </a:pPr>
                      <a:r>
                        <a:rPr lang="en-US" sz="1400" kern="1200" dirty="0">
                          <a:solidFill>
                            <a:srgbClr val="000000"/>
                          </a:solidFill>
                        </a:rPr>
                        <a:t>b = bool(0)</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kern="1200" dirty="0">
                          <a:solidFill>
                            <a:srgbClr val="000000"/>
                          </a:solidFill>
                        </a:rPr>
                        <a:t>print(b, type(b))</a:t>
                      </a:r>
                    </a:p>
                    <a:p>
                      <a:pPr marL="285750" indent="-285750">
                        <a:buFont typeface="Wingdings" panose="05000000000000000000" pitchFamily="2" charset="2"/>
                        <a:buChar char="à"/>
                      </a:pPr>
                      <a:r>
                        <a:rPr lang="en-US" sz="1400" kern="1200" dirty="0">
                          <a:solidFill>
                            <a:srgbClr val="000000"/>
                          </a:solidFill>
                        </a:rPr>
                        <a:t>False &lt;class 'bool’&gt;</a:t>
                      </a:r>
                    </a:p>
                    <a:p>
                      <a:pPr marL="285750" indent="-285750">
                        <a:buFont typeface="Wingdings" panose="05000000000000000000" pitchFamily="2" charset="2"/>
                        <a:buChar char="à"/>
                      </a:pPr>
                      <a:endParaRPr lang="en-US" sz="1400" kern="1200" dirty="0">
                        <a:solidFill>
                          <a:srgbClr val="000000"/>
                        </a:solidFill>
                      </a:endParaRPr>
                    </a:p>
                    <a:p>
                      <a:pPr marL="0" indent="0">
                        <a:buFont typeface="Wingdings" panose="05000000000000000000" pitchFamily="2" charset="2"/>
                        <a:buNone/>
                      </a:pPr>
                      <a:r>
                        <a:rPr lang="en-US" sz="1400" kern="1200" dirty="0">
                          <a:solidFill>
                            <a:srgbClr val="000000"/>
                          </a:solidFill>
                        </a:rPr>
                        <a:t>Used extensively in conditional statements, loops, and logical operations</a:t>
                      </a:r>
                    </a:p>
                    <a:p>
                      <a:br>
                        <a:rPr lang="en-US" sz="1400" kern="1200" dirty="0">
                          <a:solidFill>
                            <a:srgbClr val="000000"/>
                          </a:solidFill>
                          <a:effectLst/>
                        </a:rPr>
                      </a:br>
                      <a:endParaRPr lang="en-US" sz="1400" dirty="0">
                        <a:solidFill>
                          <a:srgbClr val="000000"/>
                        </a:solidFill>
                      </a:endParaRPr>
                    </a:p>
                  </a:txBody>
                  <a:tcPr>
                    <a:lnL w="12700" cap="flat" cmpd="sng" algn="ctr">
                      <a:solidFill>
                        <a:schemeClr val="bg2">
                          <a:lumMod val="50000"/>
                        </a:schemeClr>
                      </a:solidFill>
                      <a:prstDash val="sysDot"/>
                      <a:round/>
                      <a:headEnd type="none" w="med" len="med"/>
                      <a:tailEnd type="none" w="med" len="med"/>
                    </a:lnL>
                    <a:lnR w="12700" cmpd="sng">
                      <a:noFill/>
                    </a:lnR>
                    <a:lnT w="12700" cap="flat" cmpd="sng" algn="ctr">
                      <a:solidFill>
                        <a:schemeClr val="bg2">
                          <a:lumMod val="50000"/>
                        </a:schemeClr>
                      </a:solidFill>
                      <a:prstDash val="sysDot"/>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1445889"/>
                  </a:ext>
                </a:extLst>
              </a:tr>
            </a:tbl>
          </a:graphicData>
        </a:graphic>
      </p:graphicFrame>
    </p:spTree>
    <p:extLst>
      <p:ext uri="{BB962C8B-B14F-4D97-AF65-F5344CB8AC3E}">
        <p14:creationId xmlns:p14="http://schemas.microsoft.com/office/powerpoint/2010/main" val="323600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Strings in Python</a:t>
            </a:r>
          </a:p>
        </p:txBody>
      </p:sp>
      <p:sp>
        <p:nvSpPr>
          <p:cNvPr id="5" name="Content Placeholder 4">
            <a:extLst>
              <a:ext uri="{FF2B5EF4-FFF2-40B4-BE49-F238E27FC236}">
                <a16:creationId xmlns:a16="http://schemas.microsoft.com/office/drawing/2014/main" id="{1663E8B9-98B1-B274-0D06-1D72AC43D29F}"/>
              </a:ext>
            </a:extLst>
          </p:cNvPr>
          <p:cNvSpPr>
            <a:spLocks noGrp="1"/>
          </p:cNvSpPr>
          <p:nvPr>
            <p:ph idx="1"/>
          </p:nvPr>
        </p:nvSpPr>
        <p:spPr/>
        <p:txBody>
          <a:bodyPr lIns="0" tIns="0" rIns="0" bIns="0">
            <a:normAutofit fontScale="70000" lnSpcReduction="20000"/>
          </a:bodyPr>
          <a:lstStyle/>
          <a:p>
            <a:pPr marL="0" indent="0">
              <a:buNone/>
            </a:pPr>
            <a:r>
              <a:rPr lang="en-US" sz="3100" b="1" dirty="0">
                <a:solidFill>
                  <a:schemeClr val="tx1"/>
                </a:solidFill>
              </a:rPr>
              <a:t>Strings can be declared using either single quotes (‘ ’) or double quotes (“ ”).</a:t>
            </a:r>
          </a:p>
          <a:p>
            <a:pPr marL="0" indent="0">
              <a:buNone/>
            </a:pPr>
            <a:r>
              <a:rPr lang="en-US" dirty="0">
                <a:solidFill>
                  <a:schemeClr val="tx1"/>
                </a:solidFill>
              </a:rPr>
              <a:t>For example:</a:t>
            </a:r>
          </a:p>
          <a:p>
            <a:pPr marL="0" indent="0">
              <a:buNone/>
            </a:pPr>
            <a:r>
              <a:rPr lang="en-US" dirty="0" err="1"/>
              <a:t>single_quoted</a:t>
            </a:r>
            <a:r>
              <a:rPr lang="en-US" dirty="0"/>
              <a:t> = 'Hello, World!'</a:t>
            </a:r>
          </a:p>
          <a:p>
            <a:pPr marL="0" indent="0">
              <a:buNone/>
            </a:pPr>
            <a:r>
              <a:rPr lang="en-US" dirty="0" err="1"/>
              <a:t>double_quoted</a:t>
            </a:r>
            <a:r>
              <a:rPr lang="en-US" dirty="0"/>
              <a:t> = "Python is great!“</a:t>
            </a:r>
          </a:p>
          <a:p>
            <a:pPr marL="0" indent="0">
              <a:buNone/>
            </a:pPr>
            <a:endParaRPr lang="en-US" dirty="0"/>
          </a:p>
          <a:p>
            <a:pPr marL="0" indent="0">
              <a:buNone/>
            </a:pPr>
            <a:r>
              <a:rPr lang="en-US" sz="3100" b="1" dirty="0">
                <a:solidFill>
                  <a:schemeClr val="tx1"/>
                </a:solidFill>
              </a:rPr>
              <a:t>String Concatenation: You can concatenate (combine) strings using the + operator.</a:t>
            </a:r>
          </a:p>
          <a:p>
            <a:pPr marL="0" indent="0">
              <a:buNone/>
            </a:pPr>
            <a:r>
              <a:rPr lang="en-US" dirty="0" err="1"/>
              <a:t>first_name</a:t>
            </a:r>
            <a:r>
              <a:rPr lang="en-US" dirty="0"/>
              <a:t> = "John"</a:t>
            </a:r>
          </a:p>
          <a:p>
            <a:pPr marL="0" indent="0">
              <a:buNone/>
            </a:pPr>
            <a:r>
              <a:rPr lang="en-US" dirty="0" err="1"/>
              <a:t>last_name</a:t>
            </a:r>
            <a:r>
              <a:rPr lang="en-US" dirty="0"/>
              <a:t> = "Doe"</a:t>
            </a:r>
          </a:p>
          <a:p>
            <a:pPr marL="0" indent="0">
              <a:buNone/>
            </a:pPr>
            <a:r>
              <a:rPr lang="en-US" dirty="0" err="1"/>
              <a:t>full_name</a:t>
            </a:r>
            <a:r>
              <a:rPr lang="en-US" dirty="0"/>
              <a:t> = </a:t>
            </a:r>
            <a:r>
              <a:rPr lang="en-US" dirty="0" err="1"/>
              <a:t>first_name</a:t>
            </a:r>
            <a:r>
              <a:rPr lang="en-US" dirty="0"/>
              <a:t> + " " + </a:t>
            </a:r>
            <a:r>
              <a:rPr lang="en-US" dirty="0" err="1"/>
              <a:t>last_name</a:t>
            </a:r>
            <a:r>
              <a:rPr lang="en-US" dirty="0"/>
              <a:t> → "John Doe“</a:t>
            </a:r>
          </a:p>
          <a:p>
            <a:pPr marL="0" indent="0">
              <a:buNone/>
            </a:pPr>
            <a:endParaRPr lang="en-US" dirty="0"/>
          </a:p>
          <a:p>
            <a:pPr marL="0" indent="0">
              <a:buNone/>
            </a:pPr>
            <a:r>
              <a:rPr lang="en-US" sz="3100" b="1" dirty="0">
                <a:solidFill>
                  <a:schemeClr val="tx1"/>
                </a:solidFill>
              </a:rPr>
              <a:t>String Length: You can find the length of a string using the </a:t>
            </a:r>
            <a:r>
              <a:rPr lang="en-US" sz="3100" b="1" dirty="0" err="1">
                <a:solidFill>
                  <a:schemeClr val="tx1"/>
                </a:solidFill>
              </a:rPr>
              <a:t>len</a:t>
            </a:r>
            <a:r>
              <a:rPr lang="en-US" sz="3100" b="1" dirty="0">
                <a:solidFill>
                  <a:schemeClr val="tx1"/>
                </a:solidFill>
              </a:rPr>
              <a:t>() function</a:t>
            </a:r>
          </a:p>
          <a:p>
            <a:pPr marL="0" indent="0">
              <a:buNone/>
            </a:pPr>
            <a:r>
              <a:rPr lang="en-US" dirty="0"/>
              <a:t>text = "Python"</a:t>
            </a:r>
          </a:p>
          <a:p>
            <a:pPr marL="0" indent="0">
              <a:buNone/>
            </a:pPr>
            <a:r>
              <a:rPr lang="en-US" dirty="0"/>
              <a:t>length = </a:t>
            </a:r>
            <a:r>
              <a:rPr lang="en-US" dirty="0" err="1"/>
              <a:t>len</a:t>
            </a:r>
            <a:r>
              <a:rPr lang="en-US" dirty="0"/>
              <a:t>(text) →6</a:t>
            </a:r>
          </a:p>
        </p:txBody>
      </p:sp>
    </p:spTree>
    <p:extLst>
      <p:ext uri="{BB962C8B-B14F-4D97-AF65-F5344CB8AC3E}">
        <p14:creationId xmlns:p14="http://schemas.microsoft.com/office/powerpoint/2010/main" val="3699401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Strings in Python</a:t>
            </a:r>
          </a:p>
        </p:txBody>
      </p:sp>
      <p:sp>
        <p:nvSpPr>
          <p:cNvPr id="5" name="Content Placeholder 4">
            <a:extLst>
              <a:ext uri="{FF2B5EF4-FFF2-40B4-BE49-F238E27FC236}">
                <a16:creationId xmlns:a16="http://schemas.microsoft.com/office/drawing/2014/main" id="{1663E8B9-98B1-B274-0D06-1D72AC43D29F}"/>
              </a:ext>
            </a:extLst>
          </p:cNvPr>
          <p:cNvSpPr>
            <a:spLocks noGrp="1"/>
          </p:cNvSpPr>
          <p:nvPr>
            <p:ph idx="1"/>
          </p:nvPr>
        </p:nvSpPr>
        <p:spPr/>
        <p:txBody>
          <a:bodyPr lIns="0" tIns="0" rIns="0" bIns="0">
            <a:normAutofit fontScale="92500" lnSpcReduction="10000"/>
          </a:bodyPr>
          <a:lstStyle/>
          <a:p>
            <a:pPr marL="0" indent="0">
              <a:buNone/>
            </a:pPr>
            <a:r>
              <a:rPr lang="en-US" sz="2400" b="1" dirty="0">
                <a:solidFill>
                  <a:schemeClr val="tx1"/>
                </a:solidFill>
              </a:rPr>
              <a:t>String Indexing: </a:t>
            </a:r>
            <a:r>
              <a:rPr lang="en-US" sz="2400" dirty="0"/>
              <a:t>Strings are zero-indexed, meaning the first character has an index of 0, the second character has an index of 1, and so on.</a:t>
            </a:r>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r>
              <a:rPr lang="en-US" sz="2600" b="1" dirty="0">
                <a:solidFill>
                  <a:schemeClr val="tx1"/>
                </a:solidFill>
              </a:rPr>
              <a:t>Example:</a:t>
            </a:r>
          </a:p>
          <a:p>
            <a:pPr marL="0" indent="0">
              <a:buNone/>
            </a:pPr>
            <a:r>
              <a:rPr lang="en-US" sz="2400" dirty="0"/>
              <a:t>text = "Python"</a:t>
            </a:r>
          </a:p>
          <a:p>
            <a:pPr marL="0" indent="0">
              <a:buNone/>
            </a:pPr>
            <a:r>
              <a:rPr lang="en-US" sz="2400" dirty="0" err="1"/>
              <a:t>first_char</a:t>
            </a:r>
            <a:r>
              <a:rPr lang="en-US" sz="2400" dirty="0"/>
              <a:t> = text[0] →"P" (first character)</a:t>
            </a:r>
          </a:p>
          <a:p>
            <a:pPr marL="0" indent="0">
              <a:buNone/>
            </a:pPr>
            <a:r>
              <a:rPr lang="en-US" sz="2400" dirty="0" err="1"/>
              <a:t>third_char</a:t>
            </a:r>
            <a:r>
              <a:rPr lang="en-US" sz="2400" dirty="0"/>
              <a:t> = text[2] → "t" (third character)</a:t>
            </a:r>
          </a:p>
          <a:p>
            <a:pPr marL="0" indent="0">
              <a:buNone/>
            </a:pPr>
            <a:endParaRPr lang="en-US" sz="2200" dirty="0"/>
          </a:p>
        </p:txBody>
      </p:sp>
      <p:graphicFrame>
        <p:nvGraphicFramePr>
          <p:cNvPr id="3" name="Table 2">
            <a:extLst>
              <a:ext uri="{FF2B5EF4-FFF2-40B4-BE49-F238E27FC236}">
                <a16:creationId xmlns:a16="http://schemas.microsoft.com/office/drawing/2014/main" id="{D269624A-ADDC-F939-52F3-2C96CE14970B}"/>
              </a:ext>
            </a:extLst>
          </p:cNvPr>
          <p:cNvGraphicFramePr>
            <a:graphicFrameLocks noGrp="1"/>
          </p:cNvGraphicFramePr>
          <p:nvPr/>
        </p:nvGraphicFramePr>
        <p:xfrm>
          <a:off x="678881" y="2661561"/>
          <a:ext cx="10834233" cy="1297724"/>
        </p:xfrm>
        <a:graphic>
          <a:graphicData uri="http://schemas.openxmlformats.org/drawingml/2006/table">
            <a:tbl>
              <a:tblPr/>
              <a:tblGrid>
                <a:gridCol w="1805705">
                  <a:extLst>
                    <a:ext uri="{9D8B030D-6E8A-4147-A177-3AD203B41FA5}">
                      <a16:colId xmlns:a16="http://schemas.microsoft.com/office/drawing/2014/main" val="1157349888"/>
                    </a:ext>
                  </a:extLst>
                </a:gridCol>
                <a:gridCol w="1805705">
                  <a:extLst>
                    <a:ext uri="{9D8B030D-6E8A-4147-A177-3AD203B41FA5}">
                      <a16:colId xmlns:a16="http://schemas.microsoft.com/office/drawing/2014/main" val="854153865"/>
                    </a:ext>
                  </a:extLst>
                </a:gridCol>
                <a:gridCol w="1741783">
                  <a:extLst>
                    <a:ext uri="{9D8B030D-6E8A-4147-A177-3AD203B41FA5}">
                      <a16:colId xmlns:a16="http://schemas.microsoft.com/office/drawing/2014/main" val="422859135"/>
                    </a:ext>
                  </a:extLst>
                </a:gridCol>
                <a:gridCol w="1885397">
                  <a:extLst>
                    <a:ext uri="{9D8B030D-6E8A-4147-A177-3AD203B41FA5}">
                      <a16:colId xmlns:a16="http://schemas.microsoft.com/office/drawing/2014/main" val="3106803453"/>
                    </a:ext>
                  </a:extLst>
                </a:gridCol>
                <a:gridCol w="1789938">
                  <a:extLst>
                    <a:ext uri="{9D8B030D-6E8A-4147-A177-3AD203B41FA5}">
                      <a16:colId xmlns:a16="http://schemas.microsoft.com/office/drawing/2014/main" val="2801699816"/>
                    </a:ext>
                  </a:extLst>
                </a:gridCol>
                <a:gridCol w="1805705">
                  <a:extLst>
                    <a:ext uri="{9D8B030D-6E8A-4147-A177-3AD203B41FA5}">
                      <a16:colId xmlns:a16="http://schemas.microsoft.com/office/drawing/2014/main" val="901938905"/>
                    </a:ext>
                  </a:extLst>
                </a:gridCol>
              </a:tblGrid>
              <a:tr h="406607">
                <a:tc>
                  <a:txBody>
                    <a:bodyPr/>
                    <a:lstStyle/>
                    <a:p>
                      <a:pPr algn="ctr" fontAlgn="base"/>
                      <a:r>
                        <a:rPr lang="en-IN" sz="2000" b="0" i="0" dirty="0">
                          <a:solidFill>
                            <a:srgbClr val="000000"/>
                          </a:solidFill>
                          <a:effectLst/>
                          <a:latin typeface="Nunito" pitchFamily="2" charset="0"/>
                        </a:rPr>
                        <a:t>-6</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r>
                        <a:rPr lang="en-IN" sz="2000" b="0" i="0" dirty="0">
                          <a:solidFill>
                            <a:srgbClr val="000000"/>
                          </a:solidFill>
                          <a:effectLst/>
                          <a:latin typeface="Nunito" pitchFamily="2" charset="0"/>
                        </a:rPr>
                        <a:t>-5</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r>
                        <a:rPr lang="en-IN" sz="2000" b="0" i="0" dirty="0">
                          <a:solidFill>
                            <a:srgbClr val="000000"/>
                          </a:solidFill>
                          <a:effectLst/>
                          <a:latin typeface="Nunito" pitchFamily="2" charset="0"/>
                        </a:rPr>
                        <a:t>-4​</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r>
                        <a:rPr lang="en-IN" sz="2000" b="0" i="0" dirty="0">
                          <a:solidFill>
                            <a:srgbClr val="000000"/>
                          </a:solidFill>
                          <a:effectLst/>
                          <a:latin typeface="Nunito" pitchFamily="2" charset="0"/>
                        </a:rPr>
                        <a:t>-3​</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r>
                        <a:rPr lang="en-IN" sz="2000" b="0" i="0" dirty="0">
                          <a:solidFill>
                            <a:srgbClr val="000000"/>
                          </a:solidFill>
                          <a:effectLst/>
                          <a:latin typeface="Nunito" pitchFamily="2" charset="0"/>
                        </a:rPr>
                        <a:t>-2​</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r>
                        <a:rPr lang="en-IN" sz="2000" b="0" i="0" dirty="0">
                          <a:solidFill>
                            <a:srgbClr val="000000"/>
                          </a:solidFill>
                          <a:effectLst/>
                          <a:latin typeface="Nunito" pitchFamily="2" charset="0"/>
                        </a:rPr>
                        <a:t>-1</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260528886"/>
                  </a:ext>
                </a:extLst>
              </a:tr>
              <a:tr h="484510">
                <a:tc>
                  <a:txBody>
                    <a:bodyPr/>
                    <a:lstStyle/>
                    <a:p>
                      <a:pPr algn="ctr" fontAlgn="base"/>
                      <a:r>
                        <a:rPr lang="en-IN" sz="2000" b="1" i="0" dirty="0">
                          <a:solidFill>
                            <a:srgbClr val="FFFFFF"/>
                          </a:solidFill>
                          <a:effectLst/>
                          <a:latin typeface="Nunito" pitchFamily="2" charset="0"/>
                        </a:rPr>
                        <a:t>P</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ctr" fontAlgn="base"/>
                      <a:r>
                        <a:rPr lang="en-IN" sz="2000" b="1" i="0" dirty="0">
                          <a:solidFill>
                            <a:srgbClr val="FFFFFF"/>
                          </a:solidFill>
                          <a:effectLst/>
                          <a:latin typeface="Nunito" pitchFamily="2" charset="0"/>
                        </a:rPr>
                        <a:t>Y​</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ctr" fontAlgn="base"/>
                      <a:r>
                        <a:rPr lang="en-IN" sz="2000" b="1" i="0" dirty="0">
                          <a:solidFill>
                            <a:srgbClr val="FFFFFF"/>
                          </a:solidFill>
                          <a:effectLst/>
                          <a:latin typeface="Nunito" pitchFamily="2" charset="0"/>
                        </a:rPr>
                        <a:t>T​</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ctr" fontAlgn="base"/>
                      <a:r>
                        <a:rPr lang="en-IN" sz="2000" b="1" i="0" dirty="0">
                          <a:solidFill>
                            <a:srgbClr val="FFFFFF"/>
                          </a:solidFill>
                          <a:effectLst/>
                          <a:latin typeface="Nunito" pitchFamily="2" charset="0"/>
                        </a:rPr>
                        <a:t>H​</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ctr" fontAlgn="base"/>
                      <a:r>
                        <a:rPr lang="en-IN" sz="2000" b="1" i="0" dirty="0">
                          <a:solidFill>
                            <a:srgbClr val="FFFFFF"/>
                          </a:solidFill>
                          <a:effectLst/>
                          <a:latin typeface="Nunito" pitchFamily="2" charset="0"/>
                        </a:rPr>
                        <a:t>O​</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ctr" fontAlgn="base"/>
                      <a:r>
                        <a:rPr lang="en-IN" sz="2000" b="1" i="0" dirty="0">
                          <a:solidFill>
                            <a:srgbClr val="FFFFFF"/>
                          </a:solidFill>
                          <a:effectLst/>
                          <a:latin typeface="Nunito" pitchFamily="2" charset="0"/>
                        </a:rPr>
                        <a:t>N​</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extLst>
                  <a:ext uri="{0D108BD9-81ED-4DB2-BD59-A6C34878D82A}">
                    <a16:rowId xmlns:a16="http://schemas.microsoft.com/office/drawing/2014/main" val="617000977"/>
                  </a:ext>
                </a:extLst>
              </a:tr>
              <a:tr h="406607">
                <a:tc>
                  <a:txBody>
                    <a:bodyPr/>
                    <a:lstStyle/>
                    <a:p>
                      <a:pPr algn="ctr" fontAlgn="base"/>
                      <a:r>
                        <a:rPr lang="en-IN" sz="2000" b="0" i="0" dirty="0">
                          <a:solidFill>
                            <a:srgbClr val="000000"/>
                          </a:solidFill>
                          <a:effectLst/>
                          <a:latin typeface="Nunito" pitchFamily="2" charset="0"/>
                        </a:rPr>
                        <a:t>0​</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fontAlgn="base"/>
                      <a:r>
                        <a:rPr lang="en-IN" sz="2000" b="0" i="0" dirty="0">
                          <a:solidFill>
                            <a:srgbClr val="000000"/>
                          </a:solidFill>
                          <a:effectLst/>
                          <a:latin typeface="Nunito" pitchFamily="2" charset="0"/>
                        </a:rPr>
                        <a:t>1​</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fontAlgn="base"/>
                      <a:r>
                        <a:rPr lang="en-IN" sz="2000" b="0" i="0">
                          <a:solidFill>
                            <a:srgbClr val="000000"/>
                          </a:solidFill>
                          <a:effectLst/>
                          <a:latin typeface="Nunito" pitchFamily="2" charset="0"/>
                        </a:rPr>
                        <a:t>2​</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fontAlgn="base"/>
                      <a:r>
                        <a:rPr lang="en-IN" sz="2000" b="0" i="0" dirty="0">
                          <a:solidFill>
                            <a:srgbClr val="000000"/>
                          </a:solidFill>
                          <a:effectLst/>
                          <a:latin typeface="Nunito" pitchFamily="2" charset="0"/>
                        </a:rPr>
                        <a:t>3​</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fontAlgn="base"/>
                      <a:r>
                        <a:rPr lang="en-IN" sz="2000" b="0" i="0" dirty="0">
                          <a:solidFill>
                            <a:srgbClr val="000000"/>
                          </a:solidFill>
                          <a:effectLst/>
                          <a:latin typeface="Nunito" pitchFamily="2" charset="0"/>
                        </a:rPr>
                        <a:t>4​</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fontAlgn="base"/>
                      <a:r>
                        <a:rPr lang="en-IN" sz="2000" b="0" i="0" dirty="0">
                          <a:solidFill>
                            <a:srgbClr val="000000"/>
                          </a:solidFill>
                          <a:effectLst/>
                          <a:latin typeface="Nunito" pitchFamily="2" charset="0"/>
                        </a:rPr>
                        <a:t>5​</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3752049468"/>
                  </a:ext>
                </a:extLst>
              </a:tr>
            </a:tbl>
          </a:graphicData>
        </a:graphic>
      </p:graphicFrame>
      <p:sp>
        <p:nvSpPr>
          <p:cNvPr id="6" name="TextBox 5">
            <a:extLst>
              <a:ext uri="{FF2B5EF4-FFF2-40B4-BE49-F238E27FC236}">
                <a16:creationId xmlns:a16="http://schemas.microsoft.com/office/drawing/2014/main" id="{9189E0B6-16D6-37C7-A3C0-37BCC45F428B}"/>
              </a:ext>
            </a:extLst>
          </p:cNvPr>
          <p:cNvSpPr txBox="1"/>
          <p:nvPr/>
        </p:nvSpPr>
        <p:spPr>
          <a:xfrm>
            <a:off x="678877" y="3928877"/>
            <a:ext cx="3631227" cy="369332"/>
          </a:xfrm>
          <a:prstGeom prst="rect">
            <a:avLst/>
          </a:prstGeom>
          <a:noFill/>
        </p:spPr>
        <p:txBody>
          <a:bodyPr wrap="square" rtlCol="0">
            <a:spAutoFit/>
          </a:bodyPr>
          <a:lstStyle/>
          <a:p>
            <a:pPr algn="ctr"/>
            <a:r>
              <a:rPr lang="en-US" dirty="0"/>
              <a:t>Positive Indexing (Left to Right)</a:t>
            </a:r>
          </a:p>
        </p:txBody>
      </p:sp>
      <p:sp>
        <p:nvSpPr>
          <p:cNvPr id="7" name="TextBox 6">
            <a:extLst>
              <a:ext uri="{FF2B5EF4-FFF2-40B4-BE49-F238E27FC236}">
                <a16:creationId xmlns:a16="http://schemas.microsoft.com/office/drawing/2014/main" id="{7BDCE59D-3090-047B-7115-61064F489888}"/>
              </a:ext>
            </a:extLst>
          </p:cNvPr>
          <p:cNvSpPr txBox="1"/>
          <p:nvPr/>
        </p:nvSpPr>
        <p:spPr>
          <a:xfrm>
            <a:off x="7782701" y="2218167"/>
            <a:ext cx="3730413" cy="369332"/>
          </a:xfrm>
          <a:prstGeom prst="rect">
            <a:avLst/>
          </a:prstGeom>
          <a:noFill/>
        </p:spPr>
        <p:txBody>
          <a:bodyPr wrap="square" rtlCol="0">
            <a:spAutoFit/>
          </a:bodyPr>
          <a:lstStyle/>
          <a:p>
            <a:pPr algn="ctr"/>
            <a:r>
              <a:rPr lang="en-US" dirty="0"/>
              <a:t>Negative Indexing (Right to Left)</a:t>
            </a:r>
          </a:p>
        </p:txBody>
      </p:sp>
      <p:cxnSp>
        <p:nvCxnSpPr>
          <p:cNvPr id="8" name="Straight Arrow Connector 7">
            <a:extLst>
              <a:ext uri="{FF2B5EF4-FFF2-40B4-BE49-F238E27FC236}">
                <a16:creationId xmlns:a16="http://schemas.microsoft.com/office/drawing/2014/main" id="{A6103B14-B415-F177-EC1A-D49297226622}"/>
              </a:ext>
            </a:extLst>
          </p:cNvPr>
          <p:cNvCxnSpPr>
            <a:cxnSpLocks/>
            <a:stCxn id="7" idx="1"/>
          </p:cNvCxnSpPr>
          <p:nvPr/>
        </p:nvCxnSpPr>
        <p:spPr>
          <a:xfrm flipH="1">
            <a:off x="5243477" y="2402833"/>
            <a:ext cx="25392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4C12356-D6A7-47BC-5506-97481E037BEB}"/>
              </a:ext>
            </a:extLst>
          </p:cNvPr>
          <p:cNvCxnSpPr>
            <a:cxnSpLocks/>
            <a:stCxn id="6" idx="3"/>
          </p:cNvCxnSpPr>
          <p:nvPr/>
        </p:nvCxnSpPr>
        <p:spPr>
          <a:xfrm>
            <a:off x="4310104" y="4113543"/>
            <a:ext cx="27056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9116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Calibri"/>
                <a:cs typeface="Calibri"/>
              </a:rPr>
              <a:t>Cont...</a:t>
            </a:r>
            <a:endParaRPr lang="en-US" dirty="0"/>
          </a:p>
        </p:txBody>
      </p:sp>
      <p:sp>
        <p:nvSpPr>
          <p:cNvPr id="13" name="Content Placeholder 12">
            <a:extLst>
              <a:ext uri="{FF2B5EF4-FFF2-40B4-BE49-F238E27FC236}">
                <a16:creationId xmlns:a16="http://schemas.microsoft.com/office/drawing/2014/main" id="{05BB5B84-011C-9B65-DE8B-D296894C111F}"/>
              </a:ext>
            </a:extLst>
          </p:cNvPr>
          <p:cNvSpPr>
            <a:spLocks noGrp="1"/>
          </p:cNvSpPr>
          <p:nvPr>
            <p:ph idx="1"/>
          </p:nvPr>
        </p:nvSpPr>
        <p:spPr/>
        <p:txBody>
          <a:bodyPr lIns="0" tIns="0" rIns="0" bIns="0">
            <a:normAutofit/>
          </a:bodyPr>
          <a:lstStyle/>
          <a:p>
            <a:pPr marL="0" indent="0">
              <a:lnSpc>
                <a:spcPct val="100000"/>
              </a:lnSpc>
              <a:spcBef>
                <a:spcPts val="0"/>
              </a:spcBef>
              <a:buNone/>
            </a:pPr>
            <a:r>
              <a:rPr lang="en-US" sz="2200" b="1" dirty="0">
                <a:solidFill>
                  <a:schemeClr val="tx1"/>
                </a:solidFill>
              </a:rPr>
              <a:t>String Slicing: </a:t>
            </a:r>
            <a:r>
              <a:rPr lang="en-US" sz="2200" dirty="0"/>
              <a:t>Slicing allows you to extract a portion (substring) of a string by specifying a range of indices.</a:t>
            </a:r>
          </a:p>
          <a:p>
            <a:pPr marL="0" indent="0">
              <a:lnSpc>
                <a:spcPct val="100000"/>
              </a:lnSpc>
              <a:spcBef>
                <a:spcPts val="0"/>
              </a:spcBef>
              <a:buNone/>
            </a:pPr>
            <a:r>
              <a:rPr lang="en-US" sz="2200" dirty="0"/>
              <a:t>The syntax for slicing is </a:t>
            </a:r>
            <a:r>
              <a:rPr lang="en-US" sz="2200" b="1" dirty="0">
                <a:solidFill>
                  <a:schemeClr val="tx1"/>
                </a:solidFill>
              </a:rPr>
              <a:t>string[start:end:steps], </a:t>
            </a:r>
            <a:r>
              <a:rPr lang="en-US" sz="2200" dirty="0"/>
              <a:t>where start is the index of the first character you want to include, and end is the index of the first character you want to exclude.</a:t>
            </a:r>
          </a:p>
        </p:txBody>
      </p:sp>
      <p:graphicFrame>
        <p:nvGraphicFramePr>
          <p:cNvPr id="3" name="Table 2">
            <a:extLst>
              <a:ext uri="{FF2B5EF4-FFF2-40B4-BE49-F238E27FC236}">
                <a16:creationId xmlns:a16="http://schemas.microsoft.com/office/drawing/2014/main" id="{40053D23-E690-72FA-B616-E2BC2F10E57A}"/>
              </a:ext>
            </a:extLst>
          </p:cNvPr>
          <p:cNvGraphicFramePr>
            <a:graphicFrameLocks noGrp="1"/>
          </p:cNvGraphicFramePr>
          <p:nvPr/>
        </p:nvGraphicFramePr>
        <p:xfrm>
          <a:off x="678887" y="3643337"/>
          <a:ext cx="5770040" cy="1319266"/>
        </p:xfrm>
        <a:graphic>
          <a:graphicData uri="http://schemas.openxmlformats.org/drawingml/2006/table">
            <a:tbl>
              <a:tblPr/>
              <a:tblGrid>
                <a:gridCol w="961673">
                  <a:extLst>
                    <a:ext uri="{9D8B030D-6E8A-4147-A177-3AD203B41FA5}">
                      <a16:colId xmlns:a16="http://schemas.microsoft.com/office/drawing/2014/main" val="1157349888"/>
                    </a:ext>
                  </a:extLst>
                </a:gridCol>
                <a:gridCol w="961673">
                  <a:extLst>
                    <a:ext uri="{9D8B030D-6E8A-4147-A177-3AD203B41FA5}">
                      <a16:colId xmlns:a16="http://schemas.microsoft.com/office/drawing/2014/main" val="854153865"/>
                    </a:ext>
                  </a:extLst>
                </a:gridCol>
                <a:gridCol w="927630">
                  <a:extLst>
                    <a:ext uri="{9D8B030D-6E8A-4147-A177-3AD203B41FA5}">
                      <a16:colId xmlns:a16="http://schemas.microsoft.com/office/drawing/2014/main" val="422859135"/>
                    </a:ext>
                  </a:extLst>
                </a:gridCol>
                <a:gridCol w="1004115">
                  <a:extLst>
                    <a:ext uri="{9D8B030D-6E8A-4147-A177-3AD203B41FA5}">
                      <a16:colId xmlns:a16="http://schemas.microsoft.com/office/drawing/2014/main" val="3106803453"/>
                    </a:ext>
                  </a:extLst>
                </a:gridCol>
                <a:gridCol w="953276">
                  <a:extLst>
                    <a:ext uri="{9D8B030D-6E8A-4147-A177-3AD203B41FA5}">
                      <a16:colId xmlns:a16="http://schemas.microsoft.com/office/drawing/2014/main" val="2801699816"/>
                    </a:ext>
                  </a:extLst>
                </a:gridCol>
                <a:gridCol w="961673">
                  <a:extLst>
                    <a:ext uri="{9D8B030D-6E8A-4147-A177-3AD203B41FA5}">
                      <a16:colId xmlns:a16="http://schemas.microsoft.com/office/drawing/2014/main" val="901938905"/>
                    </a:ext>
                  </a:extLst>
                </a:gridCol>
              </a:tblGrid>
              <a:tr h="428149">
                <a:tc>
                  <a:txBody>
                    <a:bodyPr/>
                    <a:lstStyle/>
                    <a:p>
                      <a:pPr algn="ctr" fontAlgn="base"/>
                      <a:r>
                        <a:rPr lang="en-IN" sz="2000" b="0" i="0" dirty="0">
                          <a:solidFill>
                            <a:srgbClr val="000000"/>
                          </a:solidFill>
                          <a:effectLst/>
                          <a:latin typeface="Nunito" pitchFamily="2" charset="0"/>
                        </a:rPr>
                        <a:t>-6</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r>
                        <a:rPr lang="en-IN" sz="2000" b="0" i="0" dirty="0">
                          <a:solidFill>
                            <a:srgbClr val="000000"/>
                          </a:solidFill>
                          <a:effectLst/>
                          <a:latin typeface="Nunito" pitchFamily="2" charset="0"/>
                        </a:rPr>
                        <a:t>-5</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r>
                        <a:rPr lang="en-IN" sz="2000" b="0" i="0" dirty="0">
                          <a:solidFill>
                            <a:srgbClr val="000000"/>
                          </a:solidFill>
                          <a:effectLst/>
                          <a:latin typeface="Nunito" pitchFamily="2" charset="0"/>
                        </a:rPr>
                        <a:t>-4​</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r>
                        <a:rPr lang="en-IN" sz="2000" b="0" i="0" dirty="0">
                          <a:solidFill>
                            <a:srgbClr val="000000"/>
                          </a:solidFill>
                          <a:effectLst/>
                          <a:latin typeface="Nunito" pitchFamily="2" charset="0"/>
                        </a:rPr>
                        <a:t>-3​</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r>
                        <a:rPr lang="en-IN" sz="2000" b="0" i="0" dirty="0">
                          <a:solidFill>
                            <a:srgbClr val="000000"/>
                          </a:solidFill>
                          <a:effectLst/>
                          <a:latin typeface="Nunito" pitchFamily="2" charset="0"/>
                        </a:rPr>
                        <a:t>-2​</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r>
                        <a:rPr lang="en-IN" sz="2000" b="0" i="0" dirty="0">
                          <a:solidFill>
                            <a:srgbClr val="000000"/>
                          </a:solidFill>
                          <a:effectLst/>
                          <a:latin typeface="Nunito" pitchFamily="2" charset="0"/>
                        </a:rPr>
                        <a:t>-1</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260528886"/>
                  </a:ext>
                </a:extLst>
              </a:tr>
              <a:tr h="484510">
                <a:tc>
                  <a:txBody>
                    <a:bodyPr/>
                    <a:lstStyle/>
                    <a:p>
                      <a:pPr algn="ctr" fontAlgn="base"/>
                      <a:r>
                        <a:rPr lang="en-IN" sz="2000" b="1" i="0" dirty="0">
                          <a:solidFill>
                            <a:srgbClr val="FFFFFF"/>
                          </a:solidFill>
                          <a:effectLst/>
                          <a:latin typeface="Nunito" pitchFamily="2" charset="0"/>
                        </a:rPr>
                        <a:t>P</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ctr" fontAlgn="base"/>
                      <a:r>
                        <a:rPr lang="en-IN" sz="2000" b="1" i="0" dirty="0">
                          <a:solidFill>
                            <a:srgbClr val="FFFFFF"/>
                          </a:solidFill>
                          <a:effectLst/>
                          <a:latin typeface="Nunito" pitchFamily="2" charset="0"/>
                        </a:rPr>
                        <a:t>Y​</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ctr" fontAlgn="base"/>
                      <a:r>
                        <a:rPr lang="en-IN" sz="2000" b="1" i="0" dirty="0">
                          <a:solidFill>
                            <a:srgbClr val="FFFFFF"/>
                          </a:solidFill>
                          <a:effectLst/>
                          <a:latin typeface="Nunito" pitchFamily="2" charset="0"/>
                        </a:rPr>
                        <a:t>T​</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ctr" fontAlgn="base"/>
                      <a:r>
                        <a:rPr lang="en-IN" sz="2000" b="1" i="0" dirty="0">
                          <a:solidFill>
                            <a:srgbClr val="FFFFFF"/>
                          </a:solidFill>
                          <a:effectLst/>
                          <a:latin typeface="Nunito" pitchFamily="2" charset="0"/>
                        </a:rPr>
                        <a:t>H​</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ctr" fontAlgn="base"/>
                      <a:r>
                        <a:rPr lang="en-IN" sz="2000" b="1" i="0" dirty="0">
                          <a:solidFill>
                            <a:srgbClr val="FFFFFF"/>
                          </a:solidFill>
                          <a:effectLst/>
                          <a:latin typeface="Nunito" pitchFamily="2" charset="0"/>
                        </a:rPr>
                        <a:t>O​</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ctr" fontAlgn="base"/>
                      <a:r>
                        <a:rPr lang="en-IN" sz="2000" b="1" i="0" dirty="0">
                          <a:solidFill>
                            <a:srgbClr val="FFFFFF"/>
                          </a:solidFill>
                          <a:effectLst/>
                          <a:latin typeface="Nunito" pitchFamily="2" charset="0"/>
                        </a:rPr>
                        <a:t>N​</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extLst>
                  <a:ext uri="{0D108BD9-81ED-4DB2-BD59-A6C34878D82A}">
                    <a16:rowId xmlns:a16="http://schemas.microsoft.com/office/drawing/2014/main" val="617000977"/>
                  </a:ext>
                </a:extLst>
              </a:tr>
              <a:tr h="406607">
                <a:tc>
                  <a:txBody>
                    <a:bodyPr/>
                    <a:lstStyle/>
                    <a:p>
                      <a:pPr algn="ctr" fontAlgn="base"/>
                      <a:r>
                        <a:rPr lang="en-IN" sz="2000" b="0" i="0" dirty="0">
                          <a:solidFill>
                            <a:srgbClr val="000000"/>
                          </a:solidFill>
                          <a:effectLst/>
                          <a:latin typeface="Nunito" pitchFamily="2" charset="0"/>
                        </a:rPr>
                        <a:t>0​</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fontAlgn="base"/>
                      <a:r>
                        <a:rPr lang="en-IN" sz="2000" b="0" i="0" dirty="0">
                          <a:solidFill>
                            <a:srgbClr val="000000"/>
                          </a:solidFill>
                          <a:effectLst/>
                          <a:latin typeface="Nunito" pitchFamily="2" charset="0"/>
                        </a:rPr>
                        <a:t>1​</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fontAlgn="base"/>
                      <a:r>
                        <a:rPr lang="en-IN" sz="2000" b="0" i="0" dirty="0">
                          <a:solidFill>
                            <a:srgbClr val="000000"/>
                          </a:solidFill>
                          <a:effectLst/>
                          <a:latin typeface="Nunito" pitchFamily="2" charset="0"/>
                        </a:rPr>
                        <a:t>2​</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fontAlgn="base"/>
                      <a:r>
                        <a:rPr lang="en-IN" sz="2000" b="0" i="0" dirty="0">
                          <a:solidFill>
                            <a:srgbClr val="000000"/>
                          </a:solidFill>
                          <a:effectLst/>
                          <a:latin typeface="Nunito" pitchFamily="2" charset="0"/>
                        </a:rPr>
                        <a:t>3​</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fontAlgn="base"/>
                      <a:r>
                        <a:rPr lang="en-IN" sz="2000" b="0" i="0" dirty="0">
                          <a:solidFill>
                            <a:srgbClr val="000000"/>
                          </a:solidFill>
                          <a:effectLst/>
                          <a:latin typeface="Nunito" pitchFamily="2" charset="0"/>
                        </a:rPr>
                        <a:t>4​</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fontAlgn="base"/>
                      <a:r>
                        <a:rPr lang="en-IN" sz="2000" b="0" i="0" dirty="0">
                          <a:solidFill>
                            <a:srgbClr val="000000"/>
                          </a:solidFill>
                          <a:effectLst/>
                          <a:latin typeface="Nunito" pitchFamily="2" charset="0"/>
                        </a:rPr>
                        <a:t>5​</a:t>
                      </a: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3752049468"/>
                  </a:ext>
                </a:extLst>
              </a:tr>
            </a:tbl>
          </a:graphicData>
        </a:graphic>
      </p:graphicFrame>
      <p:sp>
        <p:nvSpPr>
          <p:cNvPr id="6" name="TextBox 5">
            <a:extLst>
              <a:ext uri="{FF2B5EF4-FFF2-40B4-BE49-F238E27FC236}">
                <a16:creationId xmlns:a16="http://schemas.microsoft.com/office/drawing/2014/main" id="{CA34C116-BBB9-1039-D9AA-EDABCCCBA5CE}"/>
              </a:ext>
            </a:extLst>
          </p:cNvPr>
          <p:cNvSpPr txBox="1"/>
          <p:nvPr/>
        </p:nvSpPr>
        <p:spPr>
          <a:xfrm>
            <a:off x="3869268" y="3260903"/>
            <a:ext cx="2579660" cy="307777"/>
          </a:xfrm>
          <a:prstGeom prst="rect">
            <a:avLst/>
          </a:prstGeom>
          <a:noFill/>
        </p:spPr>
        <p:txBody>
          <a:bodyPr wrap="square" rtlCol="0">
            <a:spAutoFit/>
          </a:bodyPr>
          <a:lstStyle/>
          <a:p>
            <a:pPr algn="ctr"/>
            <a:r>
              <a:rPr lang="en-US" sz="1400" dirty="0"/>
              <a:t>Negative Indexing (Right to Left)</a:t>
            </a:r>
          </a:p>
        </p:txBody>
      </p:sp>
      <p:cxnSp>
        <p:nvCxnSpPr>
          <p:cNvPr id="14" name="Straight Arrow Connector 13">
            <a:extLst>
              <a:ext uri="{FF2B5EF4-FFF2-40B4-BE49-F238E27FC236}">
                <a16:creationId xmlns:a16="http://schemas.microsoft.com/office/drawing/2014/main" id="{9D7E14EE-4F06-E708-DCFA-4FB4681F3D07}"/>
              </a:ext>
            </a:extLst>
          </p:cNvPr>
          <p:cNvCxnSpPr>
            <a:cxnSpLocks/>
            <a:stCxn id="6" idx="1"/>
          </p:cNvCxnSpPr>
          <p:nvPr/>
        </p:nvCxnSpPr>
        <p:spPr>
          <a:xfrm flipH="1">
            <a:off x="2785476" y="3414792"/>
            <a:ext cx="10837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7D4FD42-96A1-FBCE-9696-27579C11DED1}"/>
              </a:ext>
            </a:extLst>
          </p:cNvPr>
          <p:cNvSpPr txBox="1"/>
          <p:nvPr/>
        </p:nvSpPr>
        <p:spPr>
          <a:xfrm>
            <a:off x="678882" y="4910653"/>
            <a:ext cx="2546918" cy="307777"/>
          </a:xfrm>
          <a:prstGeom prst="rect">
            <a:avLst/>
          </a:prstGeom>
          <a:noFill/>
        </p:spPr>
        <p:txBody>
          <a:bodyPr wrap="square" rtlCol="0">
            <a:spAutoFit/>
          </a:bodyPr>
          <a:lstStyle/>
          <a:p>
            <a:pPr algn="ctr"/>
            <a:r>
              <a:rPr lang="en-US" sz="1400" dirty="0"/>
              <a:t>Positive Indexing (Left to Right)</a:t>
            </a:r>
          </a:p>
        </p:txBody>
      </p:sp>
      <p:cxnSp>
        <p:nvCxnSpPr>
          <p:cNvPr id="15" name="Straight Arrow Connector 14">
            <a:extLst>
              <a:ext uri="{FF2B5EF4-FFF2-40B4-BE49-F238E27FC236}">
                <a16:creationId xmlns:a16="http://schemas.microsoft.com/office/drawing/2014/main" id="{D2A7EE5D-6F62-B2DC-8D2D-B15CDA6C61D6}"/>
              </a:ext>
            </a:extLst>
          </p:cNvPr>
          <p:cNvCxnSpPr>
            <a:cxnSpLocks/>
            <a:stCxn id="5" idx="3"/>
          </p:cNvCxnSpPr>
          <p:nvPr/>
        </p:nvCxnSpPr>
        <p:spPr>
          <a:xfrm>
            <a:off x="3225800" y="5064542"/>
            <a:ext cx="13546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B7ECE76-0EAE-6958-E538-F166D628312B}"/>
              </a:ext>
            </a:extLst>
          </p:cNvPr>
          <p:cNvSpPr txBox="1"/>
          <p:nvPr/>
        </p:nvSpPr>
        <p:spPr>
          <a:xfrm>
            <a:off x="6949440" y="3098934"/>
            <a:ext cx="4563673" cy="1231106"/>
          </a:xfrm>
          <a:prstGeom prst="rect">
            <a:avLst/>
          </a:prstGeom>
          <a:noFill/>
        </p:spPr>
        <p:txBody>
          <a:bodyPr wrap="square" lIns="0" tIns="0" rIns="0" bIns="0" rtlCol="0">
            <a:spAutoFit/>
          </a:bodyPr>
          <a:lstStyle/>
          <a:p>
            <a:r>
              <a:rPr lang="en-US" sz="2000" b="1" dirty="0">
                <a:latin typeface="Calibri" panose="020F0502020204030204" pitchFamily="34" charset="0"/>
              </a:rPr>
              <a:t>Example: </a:t>
            </a:r>
            <a:r>
              <a:rPr lang="en-US" sz="2000" dirty="0">
                <a:solidFill>
                  <a:schemeClr val="bg2">
                    <a:lumMod val="10000"/>
                  </a:schemeClr>
                </a:solidFill>
              </a:rPr>
              <a:t>+</a:t>
            </a:r>
            <a:r>
              <a:rPr lang="en-US" sz="2000" dirty="0" err="1">
                <a:solidFill>
                  <a:schemeClr val="bg2">
                    <a:lumMod val="10000"/>
                  </a:schemeClr>
                </a:solidFill>
              </a:rPr>
              <a:t>ve</a:t>
            </a:r>
            <a:r>
              <a:rPr lang="en-US" sz="2000" dirty="0">
                <a:solidFill>
                  <a:schemeClr val="bg2">
                    <a:lumMod val="10000"/>
                  </a:schemeClr>
                </a:solidFill>
              </a:rPr>
              <a:t> indexing</a:t>
            </a:r>
          </a:p>
          <a:p>
            <a:r>
              <a:rPr lang="en-US" sz="2000" dirty="0">
                <a:solidFill>
                  <a:schemeClr val="bg2">
                    <a:lumMod val="10000"/>
                  </a:schemeClr>
                </a:solidFill>
              </a:rPr>
              <a:t>text = "Python"</a:t>
            </a:r>
          </a:p>
          <a:p>
            <a:r>
              <a:rPr lang="en-US" sz="2000" dirty="0" err="1">
                <a:solidFill>
                  <a:schemeClr val="bg2">
                    <a:lumMod val="10000"/>
                  </a:schemeClr>
                </a:solidFill>
              </a:rPr>
              <a:t>sliced_text</a:t>
            </a:r>
            <a:r>
              <a:rPr lang="en-US" sz="2000" dirty="0">
                <a:solidFill>
                  <a:schemeClr val="bg2">
                    <a:lumMod val="10000"/>
                  </a:schemeClr>
                </a:solidFill>
              </a:rPr>
              <a:t> = text[1:4]</a:t>
            </a:r>
          </a:p>
          <a:p>
            <a:r>
              <a:rPr lang="en-US" sz="2000" dirty="0"/>
              <a:t>→</a:t>
            </a:r>
            <a:r>
              <a:rPr lang="en-US" sz="2000" dirty="0">
                <a:solidFill>
                  <a:schemeClr val="bg2">
                    <a:lumMod val="10000"/>
                  </a:schemeClr>
                </a:solidFill>
              </a:rPr>
              <a:t> "</a:t>
            </a:r>
            <a:r>
              <a:rPr lang="en-US" sz="2000" dirty="0" err="1">
                <a:solidFill>
                  <a:schemeClr val="bg2">
                    <a:lumMod val="10000"/>
                  </a:schemeClr>
                </a:solidFill>
              </a:rPr>
              <a:t>yth</a:t>
            </a:r>
            <a:r>
              <a:rPr lang="en-US" sz="2000" dirty="0">
                <a:solidFill>
                  <a:schemeClr val="bg2">
                    <a:lumMod val="10000"/>
                  </a:schemeClr>
                </a:solidFill>
              </a:rPr>
              <a:t>“ (from index 1 to 3)</a:t>
            </a:r>
          </a:p>
        </p:txBody>
      </p:sp>
      <p:sp>
        <p:nvSpPr>
          <p:cNvPr id="24" name="TextBox 23">
            <a:extLst>
              <a:ext uri="{FF2B5EF4-FFF2-40B4-BE49-F238E27FC236}">
                <a16:creationId xmlns:a16="http://schemas.microsoft.com/office/drawing/2014/main" id="{C45E21B6-2E47-1F33-3442-C0162B57EF44}"/>
              </a:ext>
            </a:extLst>
          </p:cNvPr>
          <p:cNvSpPr txBox="1"/>
          <p:nvPr/>
        </p:nvSpPr>
        <p:spPr>
          <a:xfrm>
            <a:off x="6949440" y="4427220"/>
            <a:ext cx="4563673" cy="1538883"/>
          </a:xfrm>
          <a:prstGeom prst="rect">
            <a:avLst/>
          </a:prstGeom>
          <a:noFill/>
        </p:spPr>
        <p:txBody>
          <a:bodyPr wrap="square" lIns="0" tIns="0" rIns="0" bIns="0" rtlCol="0">
            <a:spAutoFit/>
          </a:bodyPr>
          <a:lstStyle/>
          <a:p>
            <a:r>
              <a:rPr lang="en-US" sz="2000" b="1" dirty="0">
                <a:latin typeface="Calibri" panose="020F0502020204030204" pitchFamily="34" charset="0"/>
              </a:rPr>
              <a:t>Example: </a:t>
            </a:r>
            <a:r>
              <a:rPr lang="en-US" sz="2000" dirty="0">
                <a:solidFill>
                  <a:schemeClr val="bg2">
                    <a:lumMod val="10000"/>
                  </a:schemeClr>
                </a:solidFill>
              </a:rPr>
              <a:t>-</a:t>
            </a:r>
            <a:r>
              <a:rPr lang="en-US" sz="2000" dirty="0" err="1">
                <a:solidFill>
                  <a:schemeClr val="bg2">
                    <a:lumMod val="10000"/>
                  </a:schemeClr>
                </a:solidFill>
              </a:rPr>
              <a:t>ve</a:t>
            </a:r>
            <a:r>
              <a:rPr lang="en-US" sz="2000" dirty="0">
                <a:solidFill>
                  <a:schemeClr val="bg2">
                    <a:lumMod val="10000"/>
                  </a:schemeClr>
                </a:solidFill>
              </a:rPr>
              <a:t> indexing</a:t>
            </a:r>
          </a:p>
          <a:p>
            <a:r>
              <a:rPr lang="en-US" sz="2000" dirty="0">
                <a:solidFill>
                  <a:schemeClr val="bg2">
                    <a:lumMod val="10000"/>
                  </a:schemeClr>
                </a:solidFill>
              </a:rPr>
              <a:t>text = "Python"</a:t>
            </a:r>
          </a:p>
          <a:p>
            <a:r>
              <a:rPr lang="en-US" sz="2000" dirty="0" err="1">
                <a:solidFill>
                  <a:schemeClr val="bg2">
                    <a:lumMod val="10000"/>
                  </a:schemeClr>
                </a:solidFill>
              </a:rPr>
              <a:t>sliced_text</a:t>
            </a:r>
            <a:r>
              <a:rPr lang="en-US" sz="2000" dirty="0">
                <a:solidFill>
                  <a:schemeClr val="bg2">
                    <a:lumMod val="10000"/>
                  </a:schemeClr>
                </a:solidFill>
              </a:rPr>
              <a:t> = text[-3:-1]</a:t>
            </a:r>
          </a:p>
          <a:p>
            <a:r>
              <a:rPr lang="en-US" sz="2000" dirty="0"/>
              <a:t>→</a:t>
            </a:r>
            <a:r>
              <a:rPr lang="en-US" sz="2000" dirty="0">
                <a:solidFill>
                  <a:schemeClr val="bg2">
                    <a:lumMod val="10000"/>
                  </a:schemeClr>
                </a:solidFill>
              </a:rPr>
              <a:t> "</a:t>
            </a:r>
            <a:r>
              <a:rPr lang="en-US" sz="2000" dirty="0" err="1">
                <a:solidFill>
                  <a:schemeClr val="bg2">
                    <a:lumMod val="10000"/>
                  </a:schemeClr>
                </a:solidFill>
              </a:rPr>
              <a:t>th</a:t>
            </a:r>
            <a:r>
              <a:rPr lang="en-US" sz="2000" dirty="0">
                <a:solidFill>
                  <a:schemeClr val="bg2">
                    <a:lumMod val="10000"/>
                  </a:schemeClr>
                </a:solidFill>
              </a:rPr>
              <a:t>" (from the third-to-last to the second-to-last character))</a:t>
            </a:r>
          </a:p>
        </p:txBody>
      </p:sp>
    </p:spTree>
    <p:extLst>
      <p:ext uri="{BB962C8B-B14F-4D97-AF65-F5344CB8AC3E}">
        <p14:creationId xmlns:p14="http://schemas.microsoft.com/office/powerpoint/2010/main" val="826243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it-IT" dirty="0"/>
              <a:t>Lists in Python</a:t>
            </a:r>
          </a:p>
        </p:txBody>
      </p:sp>
      <p:sp>
        <p:nvSpPr>
          <p:cNvPr id="2" name="Content Placeholder 1">
            <a:extLst>
              <a:ext uri="{FF2B5EF4-FFF2-40B4-BE49-F238E27FC236}">
                <a16:creationId xmlns:a16="http://schemas.microsoft.com/office/drawing/2014/main" id="{49668E01-05BE-BF81-4CB5-7B34C5EDEE20}"/>
              </a:ext>
            </a:extLst>
          </p:cNvPr>
          <p:cNvSpPr>
            <a:spLocks noGrp="1"/>
          </p:cNvSpPr>
          <p:nvPr>
            <p:ph idx="1"/>
          </p:nvPr>
        </p:nvSpPr>
        <p:spPr/>
        <p:txBody>
          <a:bodyPr lIns="0" tIns="0" rIns="0" bIns="0">
            <a:normAutofit lnSpcReduction="10000"/>
          </a:bodyPr>
          <a:lstStyle/>
          <a:p>
            <a:pPr marL="0" indent="0">
              <a:buNone/>
            </a:pPr>
            <a:r>
              <a:rPr lang="en-US" sz="2400" b="1" dirty="0">
                <a:solidFill>
                  <a:schemeClr val="tx1"/>
                </a:solidFill>
              </a:rPr>
              <a:t>List is any data kept inside [ ] separated by comma.</a:t>
            </a:r>
          </a:p>
          <a:p>
            <a:pPr marL="0" indent="0">
              <a:buNone/>
            </a:pPr>
            <a:endParaRPr lang="en-US" sz="500" b="1" dirty="0">
              <a:solidFill>
                <a:schemeClr val="tx1"/>
              </a:solidFill>
            </a:endParaRPr>
          </a:p>
          <a:p>
            <a:pPr marL="457200" lvl="1" indent="0">
              <a:buNone/>
            </a:pPr>
            <a:r>
              <a:rPr lang="en-US" sz="2200" dirty="0" err="1"/>
              <a:t>my_list</a:t>
            </a:r>
            <a:r>
              <a:rPr lang="en-US" sz="2200" dirty="0"/>
              <a:t> = [10, 20, 10.3, 100, 10, 90, 10,  ’python’, 10]</a:t>
            </a:r>
          </a:p>
          <a:p>
            <a:pPr marL="457200" lvl="1" indent="0">
              <a:buNone/>
            </a:pPr>
            <a:r>
              <a:rPr lang="en-US" sz="2200" dirty="0"/>
              <a:t>print(</a:t>
            </a:r>
            <a:r>
              <a:rPr lang="en-US" sz="2200" dirty="0" err="1"/>
              <a:t>my_list</a:t>
            </a:r>
            <a:r>
              <a:rPr lang="en-US" sz="2200" dirty="0"/>
              <a:t>, type(</a:t>
            </a:r>
            <a:r>
              <a:rPr lang="en-US" sz="2200" dirty="0" err="1"/>
              <a:t>my_list</a:t>
            </a:r>
            <a:r>
              <a:rPr lang="en-US" sz="2200" dirty="0"/>
              <a:t>))</a:t>
            </a:r>
          </a:p>
          <a:p>
            <a:pPr marL="457200" lvl="1" indent="0">
              <a:buNone/>
            </a:pPr>
            <a:r>
              <a:rPr lang="sv-SE" sz="2400" dirty="0">
                <a:latin typeface="Nunito" pitchFamily="2" charset="0"/>
                <a:sym typeface="Wingdings" panose="05000000000000000000" pitchFamily="2" charset="2"/>
              </a:rPr>
              <a:t></a:t>
            </a:r>
            <a:r>
              <a:rPr lang="en-US" sz="2200" dirty="0"/>
              <a:t> [10, 20, 10.3, 100, 10, 90, 10,  ’python’, 10] &lt;class 'list’&gt;</a:t>
            </a:r>
          </a:p>
          <a:p>
            <a:pPr marL="457200" lvl="1" indent="0">
              <a:buNone/>
            </a:pPr>
            <a:endParaRPr lang="en-US" sz="2200" dirty="0"/>
          </a:p>
          <a:p>
            <a:pPr marL="0" indent="0">
              <a:buNone/>
            </a:pPr>
            <a:r>
              <a:rPr lang="en-US" sz="2400" b="1" dirty="0">
                <a:solidFill>
                  <a:schemeClr val="tx1"/>
                </a:solidFill>
              </a:rPr>
              <a:t>List properties</a:t>
            </a:r>
          </a:p>
          <a:p>
            <a:pPr marL="457200" indent="-457200">
              <a:buFont typeface="+mj-lt"/>
              <a:buAutoNum type="arabicPeriod"/>
            </a:pPr>
            <a:r>
              <a:rPr lang="en-US" sz="2200" dirty="0"/>
              <a:t>List is a collection of heterogeneous data types</a:t>
            </a:r>
          </a:p>
          <a:p>
            <a:pPr marL="457200" indent="-457200">
              <a:buFont typeface="+mj-lt"/>
              <a:buAutoNum type="arabicPeriod"/>
            </a:pPr>
            <a:r>
              <a:rPr lang="en-US" sz="2200" dirty="0"/>
              <a:t>List can have duplicate elements</a:t>
            </a:r>
          </a:p>
          <a:p>
            <a:pPr marL="457200" indent="-457200">
              <a:buFont typeface="+mj-lt"/>
              <a:buAutoNum type="arabicPeriod"/>
            </a:pPr>
            <a:r>
              <a:rPr lang="en-US" sz="2200" dirty="0"/>
              <a:t>It is an ordered collection of the elements</a:t>
            </a:r>
          </a:p>
          <a:p>
            <a:pPr marL="457200" indent="-457200">
              <a:buFont typeface="+mj-lt"/>
              <a:buAutoNum type="arabicPeriod"/>
            </a:pPr>
            <a:r>
              <a:rPr lang="en-US" sz="2200" dirty="0"/>
              <a:t>Basic Operation - Indexing, Slicing, Concatenation, Repetition</a:t>
            </a:r>
          </a:p>
          <a:p>
            <a:pPr marL="457200" indent="-457200">
              <a:buFont typeface="+mj-lt"/>
              <a:buAutoNum type="arabicPeriod"/>
            </a:pPr>
            <a:r>
              <a:rPr lang="en-US" sz="2200" dirty="0"/>
              <a:t>List is a Mutable object</a:t>
            </a:r>
          </a:p>
          <a:p>
            <a:pPr marL="0" indent="0">
              <a:buNone/>
            </a:pPr>
            <a:endParaRPr lang="en-US" sz="2200" dirty="0"/>
          </a:p>
        </p:txBody>
      </p:sp>
    </p:spTree>
    <p:extLst>
      <p:ext uri="{BB962C8B-B14F-4D97-AF65-F5344CB8AC3E}">
        <p14:creationId xmlns:p14="http://schemas.microsoft.com/office/powerpoint/2010/main" val="4173416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t>Lists in Python</a:t>
            </a:r>
          </a:p>
        </p:txBody>
      </p:sp>
      <p:sp>
        <p:nvSpPr>
          <p:cNvPr id="3" name="Content Placeholder 2">
            <a:extLst>
              <a:ext uri="{FF2B5EF4-FFF2-40B4-BE49-F238E27FC236}">
                <a16:creationId xmlns:a16="http://schemas.microsoft.com/office/drawing/2014/main" id="{1B46D842-4AE8-703B-8D1B-87083C14A59B}"/>
              </a:ext>
            </a:extLst>
          </p:cNvPr>
          <p:cNvSpPr>
            <a:spLocks noGrp="1"/>
          </p:cNvSpPr>
          <p:nvPr>
            <p:ph idx="1"/>
          </p:nvPr>
        </p:nvSpPr>
        <p:spPr>
          <a:xfrm>
            <a:off x="678884" y="1675075"/>
            <a:ext cx="10834234" cy="4142796"/>
          </a:xfrm>
        </p:spPr>
        <p:txBody>
          <a:bodyPr lIns="0" tIns="0" rIns="0" bIns="0" numCol="2" spcCol="216000">
            <a:noAutofit/>
          </a:bodyPr>
          <a:lstStyle/>
          <a:p>
            <a:pPr marL="0" indent="0">
              <a:lnSpc>
                <a:spcPct val="100000"/>
              </a:lnSpc>
              <a:spcBef>
                <a:spcPts val="300"/>
              </a:spcBef>
              <a:spcAft>
                <a:spcPts val="300"/>
              </a:spcAft>
              <a:buNone/>
            </a:pPr>
            <a:r>
              <a:rPr lang="en-US" sz="2100" b="1" dirty="0">
                <a:solidFill>
                  <a:schemeClr val="tx1"/>
                </a:solidFill>
              </a:rPr>
              <a:t>Indexing: </a:t>
            </a:r>
            <a:r>
              <a:rPr lang="en-US" sz="2100" dirty="0"/>
              <a:t>Elements in a list are accessed using zero-based indexing, just like strings.</a:t>
            </a:r>
          </a:p>
          <a:p>
            <a:pPr marL="457200" lvl="1" indent="0">
              <a:lnSpc>
                <a:spcPct val="100000"/>
              </a:lnSpc>
              <a:spcBef>
                <a:spcPts val="300"/>
              </a:spcBef>
              <a:spcAft>
                <a:spcPts val="300"/>
              </a:spcAft>
              <a:buNone/>
            </a:pPr>
            <a:r>
              <a:rPr lang="en-US" sz="2100" dirty="0" err="1"/>
              <a:t>my_list</a:t>
            </a:r>
            <a:r>
              <a:rPr lang="en-US" sz="2100" dirty="0"/>
              <a:t> = [10, 20, 30, 40, 50]</a:t>
            </a:r>
          </a:p>
          <a:p>
            <a:pPr marL="457200" lvl="1" indent="0">
              <a:lnSpc>
                <a:spcPct val="100000"/>
              </a:lnSpc>
              <a:spcBef>
                <a:spcPts val="300"/>
              </a:spcBef>
              <a:spcAft>
                <a:spcPts val="300"/>
              </a:spcAft>
              <a:buNone/>
            </a:pPr>
            <a:r>
              <a:rPr lang="en-US" sz="2100" dirty="0" err="1"/>
              <a:t>third_element</a:t>
            </a:r>
            <a:r>
              <a:rPr lang="en-US" sz="2100" dirty="0"/>
              <a:t> = </a:t>
            </a:r>
            <a:r>
              <a:rPr lang="en-US" sz="2100" dirty="0" err="1"/>
              <a:t>my_list</a:t>
            </a:r>
            <a:r>
              <a:rPr lang="en-US" sz="2100" dirty="0"/>
              <a:t>[2]  # 30 (third element)</a:t>
            </a:r>
          </a:p>
          <a:p>
            <a:pPr marL="0" indent="0">
              <a:lnSpc>
                <a:spcPct val="100000"/>
              </a:lnSpc>
              <a:spcBef>
                <a:spcPts val="300"/>
              </a:spcBef>
              <a:spcAft>
                <a:spcPts val="300"/>
              </a:spcAft>
              <a:buNone/>
            </a:pPr>
            <a:r>
              <a:rPr lang="en-US" sz="2100" b="1" dirty="0">
                <a:solidFill>
                  <a:schemeClr val="tx1"/>
                </a:solidFill>
              </a:rPr>
              <a:t>Negative Indexing: </a:t>
            </a:r>
            <a:r>
              <a:rPr lang="en-US" sz="2100" dirty="0"/>
              <a:t>Negative indices can be used to access elements from the end of the list.</a:t>
            </a:r>
          </a:p>
          <a:p>
            <a:pPr marL="457200" lvl="1" indent="0">
              <a:lnSpc>
                <a:spcPct val="100000"/>
              </a:lnSpc>
              <a:spcBef>
                <a:spcPts val="300"/>
              </a:spcBef>
              <a:spcAft>
                <a:spcPts val="300"/>
              </a:spcAft>
              <a:buNone/>
            </a:pPr>
            <a:r>
              <a:rPr lang="en-US" sz="2100" dirty="0" err="1"/>
              <a:t>my_list</a:t>
            </a:r>
            <a:r>
              <a:rPr lang="en-US" sz="2100" dirty="0"/>
              <a:t> = [10, 20, 30, 40, 50]</a:t>
            </a:r>
          </a:p>
          <a:p>
            <a:pPr marL="457200" lvl="1" indent="0">
              <a:lnSpc>
                <a:spcPct val="100000"/>
              </a:lnSpc>
              <a:spcBef>
                <a:spcPts val="300"/>
              </a:spcBef>
              <a:spcAft>
                <a:spcPts val="300"/>
              </a:spcAft>
              <a:buNone/>
            </a:pPr>
            <a:r>
              <a:rPr lang="en-US" sz="2100" dirty="0" err="1"/>
              <a:t>last_element</a:t>
            </a:r>
            <a:r>
              <a:rPr lang="en-US" sz="2100" dirty="0"/>
              <a:t> = </a:t>
            </a:r>
            <a:r>
              <a:rPr lang="en-US" sz="2100" dirty="0" err="1"/>
              <a:t>my_list</a:t>
            </a:r>
            <a:r>
              <a:rPr lang="en-US" sz="2100" dirty="0"/>
              <a:t>[-1]  # 50 (last element)</a:t>
            </a:r>
          </a:p>
          <a:p>
            <a:pPr marL="0" indent="0">
              <a:lnSpc>
                <a:spcPct val="100000"/>
              </a:lnSpc>
              <a:spcBef>
                <a:spcPts val="300"/>
              </a:spcBef>
              <a:spcAft>
                <a:spcPts val="300"/>
              </a:spcAft>
              <a:buNone/>
            </a:pPr>
            <a:r>
              <a:rPr lang="en-US" sz="2100" b="1" dirty="0">
                <a:solidFill>
                  <a:schemeClr val="tx1"/>
                </a:solidFill>
              </a:rPr>
              <a:t>Slicing: </a:t>
            </a:r>
            <a:r>
              <a:rPr lang="en-US" sz="2100" dirty="0"/>
              <a:t>Lists can be sliced to extract portions of the list using the slicing notation [start:end:steps].</a:t>
            </a:r>
          </a:p>
          <a:p>
            <a:pPr marL="457200" lvl="1" indent="0">
              <a:lnSpc>
                <a:spcPct val="100000"/>
              </a:lnSpc>
              <a:spcBef>
                <a:spcPts val="300"/>
              </a:spcBef>
              <a:spcAft>
                <a:spcPts val="300"/>
              </a:spcAft>
              <a:buNone/>
            </a:pPr>
            <a:r>
              <a:rPr lang="en-US" sz="2100" dirty="0" err="1"/>
              <a:t>my_list</a:t>
            </a:r>
            <a:r>
              <a:rPr lang="en-US" sz="2100" dirty="0"/>
              <a:t> = [10, 20, 30, 40, 50]</a:t>
            </a:r>
          </a:p>
          <a:p>
            <a:pPr marL="457200" lvl="1" indent="0">
              <a:lnSpc>
                <a:spcPct val="100000"/>
              </a:lnSpc>
              <a:spcBef>
                <a:spcPts val="300"/>
              </a:spcBef>
              <a:spcAft>
                <a:spcPts val="300"/>
              </a:spcAft>
              <a:buNone/>
            </a:pPr>
            <a:r>
              <a:rPr lang="en-US" sz="2100" dirty="0" err="1"/>
              <a:t>sliced_list</a:t>
            </a:r>
            <a:r>
              <a:rPr lang="en-US" sz="2100" dirty="0"/>
              <a:t> = </a:t>
            </a:r>
            <a:r>
              <a:rPr lang="en-US" sz="2100" dirty="0" err="1"/>
              <a:t>my_list</a:t>
            </a:r>
            <a:r>
              <a:rPr lang="en-US" sz="2100" dirty="0"/>
              <a:t>[1:4]  # [20, 30, 40] (from index 1 to 3)</a:t>
            </a:r>
          </a:p>
          <a:p>
            <a:pPr marL="0" indent="0">
              <a:lnSpc>
                <a:spcPct val="100000"/>
              </a:lnSpc>
              <a:spcBef>
                <a:spcPts val="300"/>
              </a:spcBef>
              <a:spcAft>
                <a:spcPts val="300"/>
              </a:spcAft>
              <a:buNone/>
            </a:pPr>
            <a:r>
              <a:rPr lang="en-US" sz="2100" b="1" dirty="0">
                <a:solidFill>
                  <a:schemeClr val="tx1"/>
                </a:solidFill>
              </a:rPr>
              <a:t>Concatenation:  </a:t>
            </a:r>
            <a:r>
              <a:rPr lang="en-US" sz="2100" dirty="0"/>
              <a:t>Lists can be concatenated using the + operator.</a:t>
            </a:r>
          </a:p>
          <a:p>
            <a:pPr marL="457200" lvl="1" indent="0">
              <a:lnSpc>
                <a:spcPct val="100000"/>
              </a:lnSpc>
              <a:spcBef>
                <a:spcPts val="300"/>
              </a:spcBef>
              <a:spcAft>
                <a:spcPts val="300"/>
              </a:spcAft>
              <a:buNone/>
            </a:pPr>
            <a:r>
              <a:rPr lang="en-US" sz="2100" dirty="0"/>
              <a:t>list1 = [1, 2, 3]</a:t>
            </a:r>
          </a:p>
          <a:p>
            <a:pPr marL="457200" lvl="1" indent="0">
              <a:lnSpc>
                <a:spcPct val="100000"/>
              </a:lnSpc>
              <a:spcBef>
                <a:spcPts val="300"/>
              </a:spcBef>
              <a:spcAft>
                <a:spcPts val="300"/>
              </a:spcAft>
              <a:buNone/>
            </a:pPr>
            <a:r>
              <a:rPr lang="en-US" sz="2100" dirty="0"/>
              <a:t>list2 = [4, 5, 6]</a:t>
            </a:r>
          </a:p>
          <a:p>
            <a:pPr marL="457200" lvl="1" indent="0">
              <a:lnSpc>
                <a:spcPct val="100000"/>
              </a:lnSpc>
              <a:spcBef>
                <a:spcPts val="300"/>
              </a:spcBef>
              <a:spcAft>
                <a:spcPts val="300"/>
              </a:spcAft>
              <a:buNone/>
            </a:pPr>
            <a:r>
              <a:rPr lang="en-US" sz="2100" dirty="0" err="1"/>
              <a:t>combined_list</a:t>
            </a:r>
            <a:r>
              <a:rPr lang="en-US" sz="2100" dirty="0"/>
              <a:t> = list1 + list2  # [1, 2, 3, 4, 5, 6]</a:t>
            </a:r>
          </a:p>
        </p:txBody>
      </p:sp>
    </p:spTree>
    <p:extLst>
      <p:ext uri="{BB962C8B-B14F-4D97-AF65-F5344CB8AC3E}">
        <p14:creationId xmlns:p14="http://schemas.microsoft.com/office/powerpoint/2010/main" val="2493763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t>Cont…</a:t>
            </a:r>
          </a:p>
        </p:txBody>
      </p:sp>
      <p:sp>
        <p:nvSpPr>
          <p:cNvPr id="3" name="Content Placeholder 2">
            <a:extLst>
              <a:ext uri="{FF2B5EF4-FFF2-40B4-BE49-F238E27FC236}">
                <a16:creationId xmlns:a16="http://schemas.microsoft.com/office/drawing/2014/main" id="{1B46D842-4AE8-703B-8D1B-87083C14A59B}"/>
              </a:ext>
            </a:extLst>
          </p:cNvPr>
          <p:cNvSpPr>
            <a:spLocks noGrp="1"/>
          </p:cNvSpPr>
          <p:nvPr>
            <p:ph idx="1"/>
          </p:nvPr>
        </p:nvSpPr>
        <p:spPr>
          <a:xfrm>
            <a:off x="678884" y="1675075"/>
            <a:ext cx="10834234" cy="4142796"/>
          </a:xfrm>
        </p:spPr>
        <p:txBody>
          <a:bodyPr lIns="0" tIns="0" rIns="0" bIns="0" numCol="2" spcCol="216000">
            <a:noAutofit/>
          </a:bodyPr>
          <a:lstStyle/>
          <a:p>
            <a:pPr marL="0" indent="0">
              <a:lnSpc>
                <a:spcPct val="100000"/>
              </a:lnSpc>
              <a:spcBef>
                <a:spcPts val="300"/>
              </a:spcBef>
              <a:spcAft>
                <a:spcPts val="300"/>
              </a:spcAft>
              <a:buNone/>
            </a:pPr>
            <a:r>
              <a:rPr lang="en-US" sz="2400" b="1" dirty="0">
                <a:solidFill>
                  <a:schemeClr val="tx1"/>
                </a:solidFill>
              </a:rPr>
              <a:t>List Methods: </a:t>
            </a:r>
            <a:r>
              <a:rPr lang="en-US" sz="2100" dirty="0"/>
              <a:t>Python provides a wide range of built-in methods to manipulate lists, such as:</a:t>
            </a:r>
          </a:p>
          <a:p>
            <a:pPr marL="457200" lvl="1" indent="0">
              <a:lnSpc>
                <a:spcPct val="100000"/>
              </a:lnSpc>
              <a:spcBef>
                <a:spcPts val="300"/>
              </a:spcBef>
              <a:spcAft>
                <a:spcPts val="300"/>
              </a:spcAft>
              <a:buNone/>
            </a:pPr>
            <a:r>
              <a:rPr lang="en-US" sz="2200" b="1" dirty="0">
                <a:solidFill>
                  <a:schemeClr val="tx1"/>
                </a:solidFill>
              </a:rPr>
              <a:t>append(): </a:t>
            </a:r>
            <a:r>
              <a:rPr lang="en-US" sz="2200" dirty="0"/>
              <a:t>Appends an element to the end of the list.</a:t>
            </a:r>
          </a:p>
          <a:p>
            <a:pPr marL="457200" lvl="1" indent="0">
              <a:lnSpc>
                <a:spcPct val="100000"/>
              </a:lnSpc>
              <a:spcBef>
                <a:spcPts val="300"/>
              </a:spcBef>
              <a:spcAft>
                <a:spcPts val="300"/>
              </a:spcAft>
              <a:buNone/>
            </a:pPr>
            <a:r>
              <a:rPr lang="en-US" sz="2200" b="1" dirty="0">
                <a:solidFill>
                  <a:schemeClr val="tx1"/>
                </a:solidFill>
              </a:rPr>
              <a:t>insert(): </a:t>
            </a:r>
            <a:r>
              <a:rPr lang="en-US" sz="2200" dirty="0"/>
              <a:t>Inserts an element at a specified index in the list.</a:t>
            </a:r>
          </a:p>
          <a:p>
            <a:pPr marL="457200" lvl="1" indent="0">
              <a:lnSpc>
                <a:spcPct val="100000"/>
              </a:lnSpc>
              <a:spcBef>
                <a:spcPts val="300"/>
              </a:spcBef>
              <a:spcAft>
                <a:spcPts val="300"/>
              </a:spcAft>
              <a:buNone/>
            </a:pPr>
            <a:r>
              <a:rPr lang="en-US" sz="2200" b="1" dirty="0">
                <a:solidFill>
                  <a:schemeClr val="tx1"/>
                </a:solidFill>
              </a:rPr>
              <a:t>extend(): </a:t>
            </a:r>
            <a:r>
              <a:rPr lang="en-US" sz="2200" dirty="0"/>
              <a:t>Appends elements from an </a:t>
            </a:r>
            <a:r>
              <a:rPr lang="en-US" sz="2200" dirty="0" err="1"/>
              <a:t>iterable</a:t>
            </a:r>
            <a:r>
              <a:rPr lang="en-US" sz="2200" dirty="0"/>
              <a:t> (e.g., another list) to the end of the list.</a:t>
            </a:r>
          </a:p>
          <a:p>
            <a:pPr marL="457200" lvl="1" indent="0">
              <a:lnSpc>
                <a:spcPct val="100000"/>
              </a:lnSpc>
              <a:spcBef>
                <a:spcPts val="300"/>
              </a:spcBef>
              <a:spcAft>
                <a:spcPts val="300"/>
              </a:spcAft>
              <a:buNone/>
            </a:pPr>
            <a:r>
              <a:rPr lang="en-US" sz="2200" b="1" dirty="0">
                <a:solidFill>
                  <a:schemeClr val="tx1"/>
                </a:solidFill>
              </a:rPr>
              <a:t>remove(): </a:t>
            </a:r>
            <a:r>
              <a:rPr lang="en-US" sz="2200" dirty="0"/>
              <a:t>Removes the first occurrence of a specified value from the list.</a:t>
            </a:r>
          </a:p>
          <a:p>
            <a:pPr marL="457200" lvl="1" indent="0">
              <a:lnSpc>
                <a:spcPct val="100000"/>
              </a:lnSpc>
              <a:spcBef>
                <a:spcPts val="300"/>
              </a:spcBef>
              <a:spcAft>
                <a:spcPts val="300"/>
              </a:spcAft>
              <a:buNone/>
            </a:pPr>
            <a:r>
              <a:rPr lang="en-US" sz="2200" b="1" dirty="0">
                <a:solidFill>
                  <a:schemeClr val="tx1"/>
                </a:solidFill>
              </a:rPr>
              <a:t>pop(): </a:t>
            </a:r>
            <a:r>
              <a:rPr lang="en-US" sz="2200" dirty="0"/>
              <a:t>Removes and returns an element at a specified index (or the last element if no index is specified).</a:t>
            </a:r>
          </a:p>
          <a:p>
            <a:pPr marL="457200" lvl="1" indent="0">
              <a:lnSpc>
                <a:spcPct val="100000"/>
              </a:lnSpc>
              <a:spcBef>
                <a:spcPts val="300"/>
              </a:spcBef>
              <a:spcAft>
                <a:spcPts val="300"/>
              </a:spcAft>
              <a:buNone/>
            </a:pPr>
            <a:r>
              <a:rPr lang="en-US" sz="2200" b="1" dirty="0">
                <a:solidFill>
                  <a:schemeClr val="tx1"/>
                </a:solidFill>
              </a:rPr>
              <a:t>index(): </a:t>
            </a:r>
            <a:r>
              <a:rPr lang="en-US" sz="2200" dirty="0"/>
              <a:t>Returns the index of the first occurrence of a specified value in the list.</a:t>
            </a:r>
          </a:p>
          <a:p>
            <a:pPr marL="457200" lvl="1" indent="0">
              <a:lnSpc>
                <a:spcPct val="100000"/>
              </a:lnSpc>
              <a:spcBef>
                <a:spcPts val="300"/>
              </a:spcBef>
              <a:spcAft>
                <a:spcPts val="300"/>
              </a:spcAft>
              <a:buNone/>
            </a:pPr>
            <a:r>
              <a:rPr lang="en-US" sz="2200" b="1" dirty="0">
                <a:solidFill>
                  <a:schemeClr val="tx1"/>
                </a:solidFill>
              </a:rPr>
              <a:t>count(): </a:t>
            </a:r>
            <a:r>
              <a:rPr lang="en-US" sz="2200" dirty="0"/>
              <a:t>Returns the number of occurrences of a specified value in the list.</a:t>
            </a:r>
          </a:p>
          <a:p>
            <a:pPr marL="457200" lvl="1" indent="0">
              <a:lnSpc>
                <a:spcPct val="100000"/>
              </a:lnSpc>
              <a:spcBef>
                <a:spcPts val="300"/>
              </a:spcBef>
              <a:spcAft>
                <a:spcPts val="300"/>
              </a:spcAft>
              <a:buNone/>
            </a:pPr>
            <a:r>
              <a:rPr lang="en-US" sz="2200" b="1" dirty="0">
                <a:solidFill>
                  <a:schemeClr val="tx1"/>
                </a:solidFill>
              </a:rPr>
              <a:t>sort(): </a:t>
            </a:r>
            <a:r>
              <a:rPr lang="en-US" sz="2200" dirty="0"/>
              <a:t>Sorts the elements of the list in ascending order (or in a custom order if a key function is provided).</a:t>
            </a:r>
          </a:p>
        </p:txBody>
      </p:sp>
    </p:spTree>
    <p:extLst>
      <p:ext uri="{BB962C8B-B14F-4D97-AF65-F5344CB8AC3E}">
        <p14:creationId xmlns:p14="http://schemas.microsoft.com/office/powerpoint/2010/main" val="370113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t>Tuples in Python</a:t>
            </a:r>
          </a:p>
        </p:txBody>
      </p:sp>
      <p:sp>
        <p:nvSpPr>
          <p:cNvPr id="2" name="Content Placeholder 1">
            <a:extLst>
              <a:ext uri="{FF2B5EF4-FFF2-40B4-BE49-F238E27FC236}">
                <a16:creationId xmlns:a16="http://schemas.microsoft.com/office/drawing/2014/main" id="{9D2A1B30-C424-0236-8614-4D7628E43AA1}"/>
              </a:ext>
            </a:extLst>
          </p:cNvPr>
          <p:cNvSpPr>
            <a:spLocks noGrp="1"/>
          </p:cNvSpPr>
          <p:nvPr>
            <p:ph idx="1"/>
          </p:nvPr>
        </p:nvSpPr>
        <p:spPr>
          <a:xfrm>
            <a:off x="678884" y="1675075"/>
            <a:ext cx="10834234" cy="4412904"/>
          </a:xfrm>
        </p:spPr>
        <p:txBody>
          <a:bodyPr lIns="0" tIns="0" rIns="0" bIns="0" numCol="2" spcCol="144000">
            <a:noAutofit/>
          </a:bodyPr>
          <a:lstStyle/>
          <a:p>
            <a:pPr marL="0" indent="0">
              <a:lnSpc>
                <a:spcPct val="100000"/>
              </a:lnSpc>
              <a:spcBef>
                <a:spcPts val="300"/>
              </a:spcBef>
              <a:spcAft>
                <a:spcPts val="300"/>
              </a:spcAft>
              <a:buNone/>
            </a:pPr>
            <a:r>
              <a:rPr lang="en-US" sz="2200" dirty="0"/>
              <a:t>A tuple is an ordered and immutable collection of elements in Python. Tuples are similar to lists, but unlike lists, once a tuple is created, its elements cannot be changed, added, or removed.</a:t>
            </a:r>
          </a:p>
          <a:p>
            <a:pPr>
              <a:lnSpc>
                <a:spcPct val="100000"/>
              </a:lnSpc>
              <a:spcBef>
                <a:spcPts val="300"/>
              </a:spcBef>
              <a:spcAft>
                <a:spcPts val="300"/>
              </a:spcAft>
            </a:pPr>
            <a:r>
              <a:rPr lang="en-US" sz="2200" b="1" dirty="0">
                <a:solidFill>
                  <a:schemeClr val="tx1"/>
                </a:solidFill>
              </a:rPr>
              <a:t>Tuple Creation: </a:t>
            </a:r>
            <a:r>
              <a:rPr lang="en-US" sz="2200" dirty="0"/>
              <a:t>Created by enclosing a comma-separated sequence of items within parentheses (). </a:t>
            </a:r>
          </a:p>
          <a:p>
            <a:pPr marL="0" indent="0">
              <a:lnSpc>
                <a:spcPct val="100000"/>
              </a:lnSpc>
              <a:spcBef>
                <a:spcPts val="300"/>
              </a:spcBef>
              <a:spcAft>
                <a:spcPts val="300"/>
              </a:spcAft>
              <a:buNone/>
            </a:pPr>
            <a:r>
              <a:rPr lang="en-US" sz="2200" dirty="0"/>
              <a:t>	</a:t>
            </a:r>
            <a:r>
              <a:rPr lang="en-US" sz="2200" dirty="0" err="1"/>
              <a:t>my_tuple</a:t>
            </a:r>
            <a:r>
              <a:rPr lang="en-US" sz="2200" dirty="0"/>
              <a:t> = (1, 2, 3, "apple", "banana")</a:t>
            </a:r>
          </a:p>
          <a:p>
            <a:pPr>
              <a:lnSpc>
                <a:spcPct val="100000"/>
              </a:lnSpc>
              <a:spcBef>
                <a:spcPts val="300"/>
              </a:spcBef>
              <a:spcAft>
                <a:spcPts val="300"/>
              </a:spcAft>
            </a:pPr>
            <a:r>
              <a:rPr lang="en-US" sz="2200" b="1" dirty="0">
                <a:solidFill>
                  <a:schemeClr val="tx1"/>
                </a:solidFill>
              </a:rPr>
              <a:t>Indexing: </a:t>
            </a:r>
          </a:p>
          <a:p>
            <a:pPr marL="914400" lvl="2" indent="0">
              <a:lnSpc>
                <a:spcPct val="100000"/>
              </a:lnSpc>
              <a:spcBef>
                <a:spcPts val="300"/>
              </a:spcBef>
              <a:spcAft>
                <a:spcPts val="300"/>
              </a:spcAft>
              <a:buNone/>
            </a:pPr>
            <a:r>
              <a:rPr lang="en-US" sz="2200" dirty="0" err="1"/>
              <a:t>my_tuple</a:t>
            </a:r>
            <a:r>
              <a:rPr lang="en-US" sz="2200" dirty="0"/>
              <a:t> = (10, 20, 30, 40, 50)</a:t>
            </a:r>
          </a:p>
          <a:p>
            <a:pPr marL="914400" lvl="2" indent="0">
              <a:lnSpc>
                <a:spcPct val="100000"/>
              </a:lnSpc>
              <a:spcBef>
                <a:spcPts val="300"/>
              </a:spcBef>
              <a:spcAft>
                <a:spcPts val="300"/>
              </a:spcAft>
              <a:buNone/>
            </a:pPr>
            <a:r>
              <a:rPr lang="en-US" sz="2200" dirty="0" err="1"/>
              <a:t>third_element</a:t>
            </a:r>
            <a:r>
              <a:rPr lang="en-US" sz="2200" dirty="0"/>
              <a:t> = </a:t>
            </a:r>
            <a:r>
              <a:rPr lang="en-US" sz="2200" dirty="0" err="1"/>
              <a:t>my_tuple</a:t>
            </a:r>
            <a:r>
              <a:rPr lang="en-US" sz="2200" dirty="0"/>
              <a:t>[2]  # 30 (third element)</a:t>
            </a:r>
          </a:p>
          <a:p>
            <a:pPr marL="914400" lvl="2" indent="0">
              <a:lnSpc>
                <a:spcPct val="100000"/>
              </a:lnSpc>
              <a:spcBef>
                <a:spcPts val="300"/>
              </a:spcBef>
              <a:spcAft>
                <a:spcPts val="300"/>
              </a:spcAft>
              <a:buNone/>
            </a:pPr>
            <a:r>
              <a:rPr lang="en-US" sz="2200" dirty="0" err="1"/>
              <a:t>last_element</a:t>
            </a:r>
            <a:r>
              <a:rPr lang="en-US" sz="2200" dirty="0"/>
              <a:t> = </a:t>
            </a:r>
            <a:r>
              <a:rPr lang="en-US" sz="2200" dirty="0" err="1"/>
              <a:t>my_tuple</a:t>
            </a:r>
            <a:r>
              <a:rPr lang="en-US" sz="2200" dirty="0"/>
              <a:t>[-1]  # 50 (last element)</a:t>
            </a:r>
          </a:p>
          <a:p>
            <a:pPr>
              <a:lnSpc>
                <a:spcPct val="100000"/>
              </a:lnSpc>
              <a:spcBef>
                <a:spcPts val="300"/>
              </a:spcBef>
              <a:spcAft>
                <a:spcPts val="300"/>
              </a:spcAft>
            </a:pPr>
            <a:r>
              <a:rPr lang="en-US" sz="2200" b="1" dirty="0">
                <a:solidFill>
                  <a:schemeClr val="tx1"/>
                </a:solidFill>
              </a:rPr>
              <a:t>Tuple Packing and Unpacking: </a:t>
            </a:r>
            <a:r>
              <a:rPr lang="en-US" sz="2200" dirty="0"/>
              <a:t>You can create a tuple by packing values together, and you can unpack a tuple into separate variables.</a:t>
            </a:r>
          </a:p>
          <a:p>
            <a:pPr marL="914400" lvl="2" indent="0">
              <a:lnSpc>
                <a:spcPct val="100000"/>
              </a:lnSpc>
              <a:spcBef>
                <a:spcPts val="300"/>
              </a:spcBef>
              <a:spcAft>
                <a:spcPts val="300"/>
              </a:spcAft>
              <a:buNone/>
            </a:pPr>
            <a:r>
              <a:rPr lang="en-US" sz="2200" dirty="0"/>
              <a:t>coordinates = (3, 4)</a:t>
            </a:r>
          </a:p>
          <a:p>
            <a:pPr marL="914400" lvl="2" indent="0">
              <a:lnSpc>
                <a:spcPct val="100000"/>
              </a:lnSpc>
              <a:spcBef>
                <a:spcPts val="300"/>
              </a:spcBef>
              <a:spcAft>
                <a:spcPts val="300"/>
              </a:spcAft>
              <a:buNone/>
            </a:pPr>
            <a:r>
              <a:rPr lang="en-US" sz="2200" dirty="0"/>
              <a:t>x, y = coordinates  # Unpacking</a:t>
            </a:r>
          </a:p>
          <a:p>
            <a:pPr>
              <a:lnSpc>
                <a:spcPct val="100000"/>
              </a:lnSpc>
              <a:spcBef>
                <a:spcPts val="300"/>
              </a:spcBef>
              <a:spcAft>
                <a:spcPts val="300"/>
              </a:spcAft>
            </a:pPr>
            <a:r>
              <a:rPr lang="en-US" sz="2200" b="1" dirty="0">
                <a:solidFill>
                  <a:schemeClr val="tx1"/>
                </a:solidFill>
              </a:rPr>
              <a:t>Tuple Immutability: </a:t>
            </a:r>
            <a:r>
              <a:rPr lang="en-US" sz="2200" dirty="0"/>
              <a:t>Tuples are immutable, which means you cannot change their elements once they are assigned.</a:t>
            </a:r>
          </a:p>
        </p:txBody>
      </p:sp>
    </p:spTree>
    <p:extLst>
      <p:ext uri="{BB962C8B-B14F-4D97-AF65-F5344CB8AC3E}">
        <p14:creationId xmlns:p14="http://schemas.microsoft.com/office/powerpoint/2010/main" val="38480554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329BB3-5F16-63D1-0783-D735BD7E58D2}"/>
              </a:ext>
            </a:extLst>
          </p:cNvPr>
          <p:cNvSpPr>
            <a:spLocks noGrp="1"/>
          </p:cNvSpPr>
          <p:nvPr>
            <p:ph type="title"/>
          </p:nvPr>
        </p:nvSpPr>
        <p:spPr/>
        <p:txBody>
          <a:bodyPr/>
          <a:lstStyle/>
          <a:p>
            <a:r>
              <a:rPr lang="en-IN" dirty="0"/>
              <a:t>Dictionary in Python</a:t>
            </a:r>
          </a:p>
        </p:txBody>
      </p:sp>
      <p:sp>
        <p:nvSpPr>
          <p:cNvPr id="2" name="Content Placeholder 1">
            <a:extLst>
              <a:ext uri="{FF2B5EF4-FFF2-40B4-BE49-F238E27FC236}">
                <a16:creationId xmlns:a16="http://schemas.microsoft.com/office/drawing/2014/main" id="{1F999002-B66C-F469-EE3A-C0ED7CF22AC3}"/>
              </a:ext>
            </a:extLst>
          </p:cNvPr>
          <p:cNvSpPr>
            <a:spLocks noGrp="1"/>
          </p:cNvSpPr>
          <p:nvPr>
            <p:ph idx="1"/>
          </p:nvPr>
        </p:nvSpPr>
        <p:spPr>
          <a:xfrm>
            <a:off x="678884" y="1675074"/>
            <a:ext cx="10834234" cy="4579259"/>
          </a:xfrm>
        </p:spPr>
        <p:txBody>
          <a:bodyPr lIns="0" tIns="0" rIns="0" bIns="0" numCol="2">
            <a:noAutofit/>
          </a:bodyPr>
          <a:lstStyle/>
          <a:p>
            <a:pPr marL="0" indent="0">
              <a:lnSpc>
                <a:spcPct val="100000"/>
              </a:lnSpc>
              <a:spcBef>
                <a:spcPts val="100"/>
              </a:spcBef>
              <a:spcAft>
                <a:spcPts val="100"/>
              </a:spcAft>
              <a:buNone/>
            </a:pPr>
            <a:r>
              <a:rPr lang="en-US" sz="2200" dirty="0"/>
              <a:t>A dictionary is an unordered collection of key-value pairs. It is a versatile and fundamental data structure in Python used for storing and retrieving data efficiently.</a:t>
            </a:r>
          </a:p>
          <a:p>
            <a:pPr>
              <a:lnSpc>
                <a:spcPct val="100000"/>
              </a:lnSpc>
              <a:spcBef>
                <a:spcPts val="100"/>
              </a:spcBef>
              <a:spcAft>
                <a:spcPts val="100"/>
              </a:spcAft>
            </a:pPr>
            <a:r>
              <a:rPr lang="en-US" sz="2200" b="1" dirty="0">
                <a:solidFill>
                  <a:schemeClr val="tx1"/>
                </a:solidFill>
              </a:rPr>
              <a:t>Dictionary Creation: </a:t>
            </a:r>
            <a:r>
              <a:rPr lang="en-US" sz="2200" dirty="0"/>
              <a:t>Dictionaries are created using curly braces {} or the built-in </a:t>
            </a:r>
            <a:r>
              <a:rPr lang="en-US" sz="2200" dirty="0" err="1"/>
              <a:t>dict</a:t>
            </a:r>
            <a:r>
              <a:rPr lang="en-US" sz="2200" dirty="0"/>
              <a:t>() constructor, where each key-value pair is separated by a colon :.</a:t>
            </a:r>
          </a:p>
          <a:p>
            <a:pPr marL="0" indent="0">
              <a:lnSpc>
                <a:spcPct val="100000"/>
              </a:lnSpc>
              <a:spcBef>
                <a:spcPts val="100"/>
              </a:spcBef>
              <a:spcAft>
                <a:spcPts val="100"/>
              </a:spcAft>
              <a:buNone/>
            </a:pPr>
            <a:r>
              <a:rPr lang="en-US" sz="2200" dirty="0"/>
              <a:t>	</a:t>
            </a:r>
            <a:r>
              <a:rPr lang="en-US" sz="2200" dirty="0" err="1"/>
              <a:t>my_dict</a:t>
            </a:r>
            <a:r>
              <a:rPr lang="en-US" sz="2200" dirty="0"/>
              <a:t> = {"name": "John", "age": 30, 	"city": "New York"}</a:t>
            </a:r>
          </a:p>
          <a:p>
            <a:pPr>
              <a:lnSpc>
                <a:spcPct val="100000"/>
              </a:lnSpc>
              <a:spcBef>
                <a:spcPts val="100"/>
              </a:spcBef>
              <a:spcAft>
                <a:spcPts val="100"/>
              </a:spcAft>
            </a:pPr>
            <a:r>
              <a:rPr lang="en-US" sz="2200" b="1" dirty="0">
                <a:solidFill>
                  <a:schemeClr val="tx1"/>
                </a:solidFill>
              </a:rPr>
              <a:t>Accessing Values: </a:t>
            </a:r>
            <a:r>
              <a:rPr lang="en-US" sz="2200" dirty="0"/>
              <a:t>You can access the values in a dictionary by specifying the key within square brackets [].</a:t>
            </a:r>
          </a:p>
          <a:p>
            <a:pPr marL="0" indent="0">
              <a:lnSpc>
                <a:spcPct val="100000"/>
              </a:lnSpc>
              <a:spcBef>
                <a:spcPts val="100"/>
              </a:spcBef>
              <a:spcAft>
                <a:spcPts val="100"/>
              </a:spcAft>
              <a:buNone/>
            </a:pPr>
            <a:r>
              <a:rPr lang="en-US" sz="2200" dirty="0"/>
              <a:t>	name = </a:t>
            </a:r>
            <a:r>
              <a:rPr lang="en-US" sz="2200" dirty="0" err="1"/>
              <a:t>my_dict</a:t>
            </a:r>
            <a:r>
              <a:rPr lang="en-US" sz="2200" dirty="0"/>
              <a:t>["name"]  # "John"</a:t>
            </a:r>
          </a:p>
          <a:p>
            <a:pPr marL="0" indent="0">
              <a:lnSpc>
                <a:spcPct val="100000"/>
              </a:lnSpc>
              <a:spcBef>
                <a:spcPts val="100"/>
              </a:spcBef>
              <a:spcAft>
                <a:spcPts val="100"/>
              </a:spcAft>
              <a:buNone/>
            </a:pPr>
            <a:r>
              <a:rPr lang="en-US" sz="2200" dirty="0"/>
              <a:t>	age = </a:t>
            </a:r>
            <a:r>
              <a:rPr lang="en-US" sz="2200" dirty="0" err="1"/>
              <a:t>my_dict</a:t>
            </a:r>
            <a:r>
              <a:rPr lang="en-US" sz="2200" dirty="0"/>
              <a:t>["age"]    # 30</a:t>
            </a:r>
          </a:p>
          <a:p>
            <a:pPr>
              <a:lnSpc>
                <a:spcPct val="100000"/>
              </a:lnSpc>
              <a:spcBef>
                <a:spcPts val="100"/>
              </a:spcBef>
              <a:spcAft>
                <a:spcPts val="100"/>
              </a:spcAft>
            </a:pPr>
            <a:r>
              <a:rPr lang="en-US" sz="2200" b="1" dirty="0">
                <a:solidFill>
                  <a:schemeClr val="tx1"/>
                </a:solidFill>
              </a:rPr>
              <a:t>Dictionary Keys: </a:t>
            </a:r>
            <a:r>
              <a:rPr lang="en-US" sz="2200" dirty="0"/>
              <a:t>Dictionary keys are unique and case-sensitive. They can be of various data types, such as strings, numbers, or tuples.</a:t>
            </a:r>
          </a:p>
          <a:p>
            <a:pPr marL="0" indent="0">
              <a:lnSpc>
                <a:spcPct val="100000"/>
              </a:lnSpc>
              <a:spcBef>
                <a:spcPts val="100"/>
              </a:spcBef>
              <a:spcAft>
                <a:spcPts val="100"/>
              </a:spcAft>
              <a:buNone/>
            </a:pPr>
            <a:r>
              <a:rPr lang="en-US" sz="2200" dirty="0"/>
              <a:t>	student = {"ID": 12345, "Name": 	"Alice", (1, 2): "Coordinates"}</a:t>
            </a:r>
          </a:p>
          <a:p>
            <a:pPr>
              <a:lnSpc>
                <a:spcPct val="100000"/>
              </a:lnSpc>
              <a:spcBef>
                <a:spcPts val="100"/>
              </a:spcBef>
              <a:spcAft>
                <a:spcPts val="100"/>
              </a:spcAft>
            </a:pPr>
            <a:r>
              <a:rPr lang="en-US" sz="2200" b="1" dirty="0">
                <a:solidFill>
                  <a:schemeClr val="tx1"/>
                </a:solidFill>
              </a:rPr>
              <a:t>Modifying Values: </a:t>
            </a:r>
            <a:r>
              <a:rPr lang="en-US" sz="2200" dirty="0"/>
              <a:t>You can modify the values associated with keys in a dictionary.</a:t>
            </a:r>
          </a:p>
          <a:p>
            <a:pPr marL="0" indent="0">
              <a:lnSpc>
                <a:spcPct val="100000"/>
              </a:lnSpc>
              <a:spcBef>
                <a:spcPts val="100"/>
              </a:spcBef>
              <a:spcAft>
                <a:spcPts val="100"/>
              </a:spcAft>
              <a:buNone/>
            </a:pPr>
            <a:r>
              <a:rPr lang="en-US" sz="2200" dirty="0"/>
              <a:t>	</a:t>
            </a:r>
            <a:r>
              <a:rPr lang="en-US" sz="2200" dirty="0" err="1"/>
              <a:t>my_dict</a:t>
            </a:r>
            <a:r>
              <a:rPr lang="en-US" sz="2200" dirty="0"/>
              <a:t>["age"] = 31</a:t>
            </a:r>
          </a:p>
        </p:txBody>
      </p:sp>
    </p:spTree>
    <p:extLst>
      <p:ext uri="{BB962C8B-B14F-4D97-AF65-F5344CB8AC3E}">
        <p14:creationId xmlns:p14="http://schemas.microsoft.com/office/powerpoint/2010/main" val="2861928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Dictionary in Python</a:t>
            </a:r>
          </a:p>
        </p:txBody>
      </p:sp>
      <p:sp>
        <p:nvSpPr>
          <p:cNvPr id="2" name="Content Placeholder 1">
            <a:extLst>
              <a:ext uri="{FF2B5EF4-FFF2-40B4-BE49-F238E27FC236}">
                <a16:creationId xmlns:a16="http://schemas.microsoft.com/office/drawing/2014/main" id="{19AADD3E-70BB-A317-2C60-44FDF61997A8}"/>
              </a:ext>
            </a:extLst>
          </p:cNvPr>
          <p:cNvSpPr>
            <a:spLocks noGrp="1"/>
          </p:cNvSpPr>
          <p:nvPr>
            <p:ph idx="1"/>
          </p:nvPr>
        </p:nvSpPr>
        <p:spPr>
          <a:xfrm>
            <a:off x="678884" y="1675075"/>
            <a:ext cx="10834234" cy="4398066"/>
          </a:xfrm>
        </p:spPr>
        <p:txBody>
          <a:bodyPr lIns="0" tIns="0" rIns="0" bIns="0">
            <a:noAutofit/>
          </a:bodyPr>
          <a:lstStyle/>
          <a:p>
            <a:pPr>
              <a:lnSpc>
                <a:spcPct val="100000"/>
              </a:lnSpc>
              <a:spcBef>
                <a:spcPts val="300"/>
              </a:spcBef>
              <a:spcAft>
                <a:spcPts val="300"/>
              </a:spcAft>
            </a:pPr>
            <a:r>
              <a:rPr lang="en-US" sz="2200" b="1" dirty="0">
                <a:solidFill>
                  <a:schemeClr val="tx1"/>
                </a:solidFill>
              </a:rPr>
              <a:t>Adding Key-Value Pairs: </a:t>
            </a:r>
            <a:r>
              <a:rPr lang="en-US" sz="2200" dirty="0"/>
              <a:t>You can add new key-value pairs to a dictionary.</a:t>
            </a:r>
          </a:p>
          <a:p>
            <a:pPr marL="0" indent="0">
              <a:lnSpc>
                <a:spcPct val="100000"/>
              </a:lnSpc>
              <a:spcBef>
                <a:spcPts val="300"/>
              </a:spcBef>
              <a:spcAft>
                <a:spcPts val="300"/>
              </a:spcAft>
              <a:buNone/>
            </a:pPr>
            <a:r>
              <a:rPr lang="en-US" sz="2200" dirty="0"/>
              <a:t>	</a:t>
            </a:r>
            <a:r>
              <a:rPr lang="en-US" sz="2200" dirty="0" err="1"/>
              <a:t>my_dict</a:t>
            </a:r>
            <a:r>
              <a:rPr lang="en-US" sz="2200" dirty="0"/>
              <a:t>["country"] = "USA“</a:t>
            </a:r>
          </a:p>
          <a:p>
            <a:pPr>
              <a:lnSpc>
                <a:spcPct val="100000"/>
              </a:lnSpc>
              <a:spcBef>
                <a:spcPts val="300"/>
              </a:spcBef>
              <a:spcAft>
                <a:spcPts val="300"/>
              </a:spcAft>
            </a:pPr>
            <a:r>
              <a:rPr lang="en-US" sz="2200" b="1" dirty="0">
                <a:solidFill>
                  <a:schemeClr val="tx1"/>
                </a:solidFill>
              </a:rPr>
              <a:t>Removing Key-Value Pairs: </a:t>
            </a:r>
            <a:r>
              <a:rPr lang="en-US" sz="2200" dirty="0"/>
              <a:t>You can remove key-value pairs from a dictionary using the del statement or the pop() method.</a:t>
            </a:r>
          </a:p>
          <a:p>
            <a:pPr marL="914400" lvl="2" indent="0">
              <a:lnSpc>
                <a:spcPct val="100000"/>
              </a:lnSpc>
              <a:spcBef>
                <a:spcPts val="300"/>
              </a:spcBef>
              <a:spcAft>
                <a:spcPts val="300"/>
              </a:spcAft>
              <a:buNone/>
            </a:pPr>
            <a:r>
              <a:rPr lang="en-US" sz="2200" dirty="0"/>
              <a:t>del </a:t>
            </a:r>
            <a:r>
              <a:rPr lang="en-US" sz="2200" dirty="0" err="1"/>
              <a:t>my_dict</a:t>
            </a:r>
            <a:r>
              <a:rPr lang="en-US" sz="2200" dirty="0"/>
              <a:t>["city"]</a:t>
            </a:r>
          </a:p>
          <a:p>
            <a:pPr marL="914400" lvl="2" indent="0">
              <a:lnSpc>
                <a:spcPct val="100000"/>
              </a:lnSpc>
              <a:spcBef>
                <a:spcPts val="300"/>
              </a:spcBef>
              <a:spcAft>
                <a:spcPts val="300"/>
              </a:spcAft>
              <a:buNone/>
            </a:pPr>
            <a:r>
              <a:rPr lang="en-US" sz="2200" dirty="0" err="1"/>
              <a:t>my_dict.pop</a:t>
            </a:r>
            <a:r>
              <a:rPr lang="en-US" sz="2200" dirty="0"/>
              <a:t>("age")</a:t>
            </a:r>
          </a:p>
          <a:p>
            <a:pPr>
              <a:lnSpc>
                <a:spcPct val="100000"/>
              </a:lnSpc>
              <a:spcBef>
                <a:spcPts val="300"/>
              </a:spcBef>
              <a:spcAft>
                <a:spcPts val="300"/>
              </a:spcAft>
            </a:pPr>
            <a:r>
              <a:rPr lang="en-US" sz="2200" b="1" dirty="0">
                <a:solidFill>
                  <a:schemeClr val="tx1"/>
                </a:solidFill>
              </a:rPr>
              <a:t>Dictionary Methods: </a:t>
            </a:r>
            <a:r>
              <a:rPr lang="en-US" sz="2200" dirty="0"/>
              <a:t>Python provides various built-in methods for working with dictionaries, including keys(), values(), items(), get(), and update(), among others.</a:t>
            </a:r>
          </a:p>
          <a:p>
            <a:pPr marL="914400" lvl="2" indent="0">
              <a:lnSpc>
                <a:spcPct val="100000"/>
              </a:lnSpc>
              <a:spcBef>
                <a:spcPts val="300"/>
              </a:spcBef>
              <a:spcAft>
                <a:spcPts val="300"/>
              </a:spcAft>
              <a:buNone/>
            </a:pPr>
            <a:r>
              <a:rPr lang="en-US" sz="2200" dirty="0"/>
              <a:t>keys = </a:t>
            </a:r>
            <a:r>
              <a:rPr lang="en-US" sz="2200" dirty="0" err="1"/>
              <a:t>my_dict.keys</a:t>
            </a:r>
            <a:r>
              <a:rPr lang="en-US" sz="2200" dirty="0"/>
              <a:t>()</a:t>
            </a:r>
          </a:p>
          <a:p>
            <a:pPr marL="914400" lvl="2" indent="0">
              <a:lnSpc>
                <a:spcPct val="100000"/>
              </a:lnSpc>
              <a:spcBef>
                <a:spcPts val="300"/>
              </a:spcBef>
              <a:spcAft>
                <a:spcPts val="300"/>
              </a:spcAft>
              <a:buNone/>
            </a:pPr>
            <a:r>
              <a:rPr lang="en-US" sz="2200" dirty="0"/>
              <a:t>values = </a:t>
            </a:r>
            <a:r>
              <a:rPr lang="en-US" sz="2200" dirty="0" err="1"/>
              <a:t>my_dict.values</a:t>
            </a:r>
            <a:r>
              <a:rPr lang="en-US" sz="2200" dirty="0"/>
              <a:t>()</a:t>
            </a:r>
          </a:p>
          <a:p>
            <a:pPr marL="914400" lvl="2" indent="0">
              <a:lnSpc>
                <a:spcPct val="100000"/>
              </a:lnSpc>
              <a:spcBef>
                <a:spcPts val="300"/>
              </a:spcBef>
              <a:spcAft>
                <a:spcPts val="300"/>
              </a:spcAft>
              <a:buNone/>
            </a:pPr>
            <a:r>
              <a:rPr lang="en-US" sz="2200" dirty="0"/>
              <a:t>items = </a:t>
            </a:r>
            <a:r>
              <a:rPr lang="en-US" sz="2200" dirty="0" err="1"/>
              <a:t>my_dict.items</a:t>
            </a:r>
            <a:r>
              <a:rPr lang="en-US" sz="2200" dirty="0"/>
              <a:t>()</a:t>
            </a:r>
          </a:p>
        </p:txBody>
      </p:sp>
    </p:spTree>
    <p:extLst>
      <p:ext uri="{BB962C8B-B14F-4D97-AF65-F5344CB8AC3E}">
        <p14:creationId xmlns:p14="http://schemas.microsoft.com/office/powerpoint/2010/main" val="3211248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Set in Python</a:t>
            </a:r>
          </a:p>
        </p:txBody>
      </p:sp>
      <p:sp>
        <p:nvSpPr>
          <p:cNvPr id="2" name="Content Placeholder 1">
            <a:extLst>
              <a:ext uri="{FF2B5EF4-FFF2-40B4-BE49-F238E27FC236}">
                <a16:creationId xmlns:a16="http://schemas.microsoft.com/office/drawing/2014/main" id="{E22CD307-683E-17E9-EE5E-5D2B6F097899}"/>
              </a:ext>
            </a:extLst>
          </p:cNvPr>
          <p:cNvSpPr>
            <a:spLocks noGrp="1"/>
          </p:cNvSpPr>
          <p:nvPr>
            <p:ph idx="1"/>
          </p:nvPr>
        </p:nvSpPr>
        <p:spPr>
          <a:xfrm>
            <a:off x="678884" y="1659835"/>
            <a:ext cx="10834232" cy="4398066"/>
          </a:xfrm>
        </p:spPr>
        <p:txBody>
          <a:bodyPr lIns="0" tIns="0" rIns="0" bIns="0" numCol="2">
            <a:noAutofit/>
          </a:bodyPr>
          <a:lstStyle/>
          <a:p>
            <a:pPr marL="0" indent="0">
              <a:lnSpc>
                <a:spcPct val="100000"/>
              </a:lnSpc>
              <a:spcBef>
                <a:spcPts val="600"/>
              </a:spcBef>
              <a:spcAft>
                <a:spcPts val="600"/>
              </a:spcAft>
              <a:buNone/>
            </a:pPr>
            <a:r>
              <a:rPr lang="en-US" sz="2200" dirty="0"/>
              <a:t>A set is an unordered collection of unique elements in Python. Sets are used for storing and manipulating distinct values efficiently.</a:t>
            </a:r>
          </a:p>
          <a:p>
            <a:pPr marL="0" indent="0">
              <a:lnSpc>
                <a:spcPct val="100000"/>
              </a:lnSpc>
              <a:spcBef>
                <a:spcPts val="600"/>
              </a:spcBef>
              <a:spcAft>
                <a:spcPts val="600"/>
              </a:spcAft>
              <a:buNone/>
            </a:pPr>
            <a:r>
              <a:rPr lang="en-US" sz="2200" b="1" dirty="0">
                <a:solidFill>
                  <a:schemeClr val="tx1"/>
                </a:solidFill>
              </a:rPr>
              <a:t>Set Creation: </a:t>
            </a:r>
            <a:r>
              <a:rPr lang="en-US" sz="2200" dirty="0"/>
              <a:t>Sets are created using curly braces {} or the built-in set() constructor, with elements separated by commas.</a:t>
            </a:r>
          </a:p>
          <a:p>
            <a:pPr marL="0" indent="0">
              <a:lnSpc>
                <a:spcPct val="100000"/>
              </a:lnSpc>
              <a:spcBef>
                <a:spcPts val="600"/>
              </a:spcBef>
              <a:spcAft>
                <a:spcPts val="600"/>
              </a:spcAft>
              <a:buNone/>
            </a:pPr>
            <a:r>
              <a:rPr lang="en-US" sz="2200" dirty="0"/>
              <a:t>	</a:t>
            </a:r>
            <a:r>
              <a:rPr lang="en-US" sz="2200" dirty="0" err="1"/>
              <a:t>my_set</a:t>
            </a:r>
            <a:r>
              <a:rPr lang="en-US" sz="2200" dirty="0"/>
              <a:t> = {1, 2, 3, 4, 5}</a:t>
            </a:r>
          </a:p>
          <a:p>
            <a:pPr marL="0" indent="0">
              <a:lnSpc>
                <a:spcPct val="100000"/>
              </a:lnSpc>
              <a:spcBef>
                <a:spcPts val="600"/>
              </a:spcBef>
              <a:spcAft>
                <a:spcPts val="600"/>
              </a:spcAft>
              <a:buNone/>
            </a:pPr>
            <a:r>
              <a:rPr lang="en-US" sz="2200" b="1" dirty="0">
                <a:solidFill>
                  <a:schemeClr val="tx1"/>
                </a:solidFill>
              </a:rPr>
              <a:t>Uniqueness: </a:t>
            </a:r>
            <a:r>
              <a:rPr lang="en-US" sz="2200" dirty="0"/>
              <a:t>Sets do not allow duplicate elements. If you try to add duplicate elements to a set, they will be ignored.</a:t>
            </a:r>
          </a:p>
          <a:p>
            <a:pPr marL="0" indent="0">
              <a:lnSpc>
                <a:spcPct val="100000"/>
              </a:lnSpc>
              <a:spcBef>
                <a:spcPts val="600"/>
              </a:spcBef>
              <a:spcAft>
                <a:spcPts val="600"/>
              </a:spcAft>
              <a:buNone/>
            </a:pPr>
            <a:r>
              <a:rPr lang="en-US" sz="2200" dirty="0"/>
              <a:t>	</a:t>
            </a:r>
            <a:r>
              <a:rPr lang="en-US" sz="2200" dirty="0" err="1"/>
              <a:t>my_set</a:t>
            </a:r>
            <a:r>
              <a:rPr lang="en-US" sz="2200" dirty="0"/>
              <a:t> = {1, 2, 2, 3, 3}</a:t>
            </a:r>
          </a:p>
          <a:p>
            <a:pPr marL="0" indent="0">
              <a:lnSpc>
                <a:spcPct val="100000"/>
              </a:lnSpc>
              <a:spcBef>
                <a:spcPts val="600"/>
              </a:spcBef>
              <a:spcAft>
                <a:spcPts val="600"/>
              </a:spcAft>
              <a:buNone/>
            </a:pPr>
            <a:r>
              <a:rPr lang="en-US" sz="2200" dirty="0"/>
              <a:t>	# Resulting set: {1, 2, 3} (duplicate 	elements removed)</a:t>
            </a:r>
          </a:p>
          <a:p>
            <a:pPr marL="0" indent="0">
              <a:lnSpc>
                <a:spcPct val="100000"/>
              </a:lnSpc>
              <a:spcBef>
                <a:spcPts val="600"/>
              </a:spcBef>
              <a:spcAft>
                <a:spcPts val="600"/>
              </a:spcAft>
              <a:buNone/>
            </a:pPr>
            <a:r>
              <a:rPr lang="en-US" sz="2200" b="1" dirty="0">
                <a:solidFill>
                  <a:schemeClr val="tx1"/>
                </a:solidFill>
              </a:rPr>
              <a:t>Set Methods: </a:t>
            </a:r>
            <a:r>
              <a:rPr lang="en-US" sz="2200" dirty="0"/>
              <a:t>Python provides built-in methods for common set operations, including add(), remove(), discard(), pop(), clear(), and update(), among others.</a:t>
            </a:r>
          </a:p>
          <a:p>
            <a:pPr marL="0" indent="0">
              <a:lnSpc>
                <a:spcPct val="100000"/>
              </a:lnSpc>
              <a:spcBef>
                <a:spcPts val="600"/>
              </a:spcBef>
              <a:spcAft>
                <a:spcPts val="600"/>
              </a:spcAft>
              <a:buNone/>
            </a:pPr>
            <a:r>
              <a:rPr lang="en-US" sz="2200" dirty="0"/>
              <a:t>	</a:t>
            </a:r>
            <a:r>
              <a:rPr lang="en-US" sz="2200" dirty="0" err="1"/>
              <a:t>my_set.add</a:t>
            </a:r>
            <a:r>
              <a:rPr lang="en-US" sz="2200" dirty="0"/>
              <a:t>(6)  # Adds element 6 to the 	set</a:t>
            </a:r>
          </a:p>
          <a:p>
            <a:pPr marL="0" indent="0">
              <a:lnSpc>
                <a:spcPct val="100000"/>
              </a:lnSpc>
              <a:spcBef>
                <a:spcPts val="600"/>
              </a:spcBef>
              <a:spcAft>
                <a:spcPts val="600"/>
              </a:spcAft>
              <a:buNone/>
            </a:pPr>
            <a:r>
              <a:rPr lang="en-US" sz="2200" dirty="0"/>
              <a:t>	</a:t>
            </a:r>
            <a:r>
              <a:rPr lang="en-US" sz="2200" dirty="0" err="1"/>
              <a:t>my_set.remove</a:t>
            </a:r>
            <a:r>
              <a:rPr lang="en-US" sz="2200" dirty="0"/>
              <a:t>(3)  # Removes element 	3 from the set</a:t>
            </a:r>
          </a:p>
          <a:p>
            <a:pPr marL="0" indent="0">
              <a:lnSpc>
                <a:spcPct val="100000"/>
              </a:lnSpc>
              <a:spcBef>
                <a:spcPts val="600"/>
              </a:spcBef>
              <a:spcAft>
                <a:spcPts val="600"/>
              </a:spcAft>
              <a:buNone/>
            </a:pPr>
            <a:endParaRPr lang="en-US" sz="2200" dirty="0"/>
          </a:p>
        </p:txBody>
      </p:sp>
    </p:spTree>
    <p:extLst>
      <p:ext uri="{BB962C8B-B14F-4D97-AF65-F5344CB8AC3E}">
        <p14:creationId xmlns:p14="http://schemas.microsoft.com/office/powerpoint/2010/main" val="1594957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 Input Function</a:t>
            </a:r>
          </a:p>
        </p:txBody>
      </p:sp>
      <p:sp>
        <p:nvSpPr>
          <p:cNvPr id="2" name="Content Placeholder 1">
            <a:extLst>
              <a:ext uri="{FF2B5EF4-FFF2-40B4-BE49-F238E27FC236}">
                <a16:creationId xmlns:a16="http://schemas.microsoft.com/office/drawing/2014/main" id="{8829BED5-3E51-7271-F126-B3ECD4DD4776}"/>
              </a:ext>
            </a:extLst>
          </p:cNvPr>
          <p:cNvSpPr>
            <a:spLocks noGrp="1"/>
          </p:cNvSpPr>
          <p:nvPr>
            <p:ph idx="1"/>
          </p:nvPr>
        </p:nvSpPr>
        <p:spPr>
          <a:xfrm>
            <a:off x="678884" y="1675075"/>
            <a:ext cx="10834234" cy="4446325"/>
          </a:xfrm>
        </p:spPr>
        <p:txBody>
          <a:bodyPr lIns="0" tIns="0" rIns="0" bIns="0" numCol="2" spcCol="144000">
            <a:normAutofit/>
          </a:bodyPr>
          <a:lstStyle/>
          <a:p>
            <a:r>
              <a:rPr lang="en-US" sz="2200" b="1" dirty="0">
                <a:solidFill>
                  <a:schemeClr val="tx1"/>
                </a:solidFill>
              </a:rPr>
              <a:t>Input Function: </a:t>
            </a:r>
            <a:r>
              <a:rPr lang="en-US" sz="2200" dirty="0"/>
              <a:t>The input() function is used to take user input from the keyboard. It reads a line of text entered by the user and returns it as a string. Here's the basic syntax of the input() function:</a:t>
            </a:r>
          </a:p>
          <a:p>
            <a:pPr marL="457200" lvl="1" indent="0">
              <a:buNone/>
            </a:pPr>
            <a:r>
              <a:rPr lang="en-US" sz="2200" dirty="0"/>
              <a:t>Example:</a:t>
            </a:r>
          </a:p>
          <a:p>
            <a:pPr marL="457200" lvl="1" indent="0">
              <a:buNone/>
            </a:pPr>
            <a:r>
              <a:rPr lang="en-US" sz="2200" dirty="0"/>
              <a:t>name = input("Please enter your name: ")</a:t>
            </a:r>
          </a:p>
          <a:p>
            <a:pPr marL="457200" lvl="1" indent="0">
              <a:buNone/>
            </a:pPr>
            <a:r>
              <a:rPr lang="en-US" sz="2200" dirty="0"/>
              <a:t>print("Hello, " + name + "!")  # Prints a greeting using the user's input</a:t>
            </a:r>
          </a:p>
          <a:p>
            <a:pPr marL="0" indent="0">
              <a:buNone/>
            </a:pPr>
            <a:endParaRPr lang="en-US" sz="500" dirty="0"/>
          </a:p>
          <a:p>
            <a:r>
              <a:rPr lang="en-US" sz="2200" dirty="0"/>
              <a:t>Keep in mind that </a:t>
            </a:r>
            <a:r>
              <a:rPr lang="en-US" sz="2200" b="1" dirty="0">
                <a:solidFill>
                  <a:schemeClr val="tx1"/>
                </a:solidFill>
              </a:rPr>
              <a:t>input() always returns a string</a:t>
            </a:r>
            <a:r>
              <a:rPr lang="en-US" sz="2200" dirty="0"/>
              <a:t>, so if you want to use the user's input as a number, you'll need to convert it using functions like int() or float().</a:t>
            </a:r>
          </a:p>
          <a:p>
            <a:pPr marL="457200" lvl="1" indent="0">
              <a:buNone/>
            </a:pPr>
            <a:r>
              <a:rPr lang="en-US" sz="2200" dirty="0" err="1"/>
              <a:t>age_str</a:t>
            </a:r>
            <a:r>
              <a:rPr lang="en-US" sz="2200" dirty="0"/>
              <a:t> = input("Please enter your age: ")</a:t>
            </a:r>
          </a:p>
          <a:p>
            <a:pPr marL="457200" lvl="1" indent="0">
              <a:buNone/>
            </a:pPr>
            <a:r>
              <a:rPr lang="en-US" sz="2200" dirty="0"/>
              <a:t>age = int(</a:t>
            </a:r>
            <a:r>
              <a:rPr lang="en-US" sz="2200" dirty="0" err="1"/>
              <a:t>age_str</a:t>
            </a:r>
            <a:r>
              <a:rPr lang="en-US" sz="2200" dirty="0"/>
              <a:t>)  # Convert the string input to an integer</a:t>
            </a:r>
          </a:p>
          <a:p>
            <a:pPr marL="457200" lvl="1" indent="0">
              <a:buNone/>
            </a:pPr>
            <a:r>
              <a:rPr lang="en-US" sz="2200" dirty="0"/>
              <a:t>print("You will be " + str(age + 1) + " years old next year.")</a:t>
            </a:r>
          </a:p>
          <a:p>
            <a:pPr marL="0" indent="0">
              <a:buNone/>
            </a:pPr>
            <a:endParaRPr lang="en-US" sz="500" dirty="0"/>
          </a:p>
          <a:p>
            <a:pPr marL="0" indent="0">
              <a:buNone/>
            </a:pPr>
            <a:r>
              <a:rPr lang="en-US" sz="2200" b="1" dirty="0">
                <a:solidFill>
                  <a:schemeClr val="tx1"/>
                </a:solidFill>
              </a:rPr>
              <a:t>Question: </a:t>
            </a:r>
            <a:r>
              <a:rPr lang="en-US" sz="2200" dirty="0"/>
              <a:t>Write a Python program that asks the user for their favorite color using the input() function and then prints a message saying, "Your favorite color is [color]." Replace [color] with the color entered by the user.</a:t>
            </a:r>
          </a:p>
        </p:txBody>
      </p:sp>
    </p:spTree>
    <p:extLst>
      <p:ext uri="{BB962C8B-B14F-4D97-AF65-F5344CB8AC3E}">
        <p14:creationId xmlns:p14="http://schemas.microsoft.com/office/powerpoint/2010/main" val="2142236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 Conditional Statements</a:t>
            </a:r>
          </a:p>
        </p:txBody>
      </p:sp>
      <p:sp>
        <p:nvSpPr>
          <p:cNvPr id="9" name="Text Placeholder 8">
            <a:extLst>
              <a:ext uri="{FF2B5EF4-FFF2-40B4-BE49-F238E27FC236}">
                <a16:creationId xmlns:a16="http://schemas.microsoft.com/office/drawing/2014/main" id="{57DCAF6F-28FD-11FA-31A5-5D95F915DCDA}"/>
              </a:ext>
            </a:extLst>
          </p:cNvPr>
          <p:cNvSpPr>
            <a:spLocks noGrp="1"/>
          </p:cNvSpPr>
          <p:nvPr>
            <p:ph type="body" idx="1"/>
          </p:nvPr>
        </p:nvSpPr>
        <p:spPr>
          <a:xfrm>
            <a:off x="678881" y="1659835"/>
            <a:ext cx="10834234" cy="397566"/>
          </a:xfrm>
        </p:spPr>
        <p:txBody>
          <a:bodyPr anchor="ctr" anchorCtr="0">
            <a:normAutofit/>
          </a:bodyPr>
          <a:lstStyle/>
          <a:p>
            <a:r>
              <a:rPr lang="en-IN" sz="2200" dirty="0"/>
              <a:t>Conditional Statements</a:t>
            </a:r>
          </a:p>
        </p:txBody>
      </p:sp>
      <p:sp>
        <p:nvSpPr>
          <p:cNvPr id="2" name="Content Placeholder 1">
            <a:extLst>
              <a:ext uri="{FF2B5EF4-FFF2-40B4-BE49-F238E27FC236}">
                <a16:creationId xmlns:a16="http://schemas.microsoft.com/office/drawing/2014/main" id="{E22CD307-683E-17E9-EE5E-5D2B6F097899}"/>
              </a:ext>
            </a:extLst>
          </p:cNvPr>
          <p:cNvSpPr>
            <a:spLocks noGrp="1"/>
          </p:cNvSpPr>
          <p:nvPr>
            <p:ph sz="half" idx="2"/>
          </p:nvPr>
        </p:nvSpPr>
        <p:spPr>
          <a:xfrm>
            <a:off x="678881" y="2153653"/>
            <a:ext cx="5318693" cy="3904248"/>
          </a:xfrm>
        </p:spPr>
        <p:txBody>
          <a:bodyPr lIns="0" tIns="0" rIns="0" bIns="0">
            <a:noAutofit/>
          </a:bodyPr>
          <a:lstStyle/>
          <a:p>
            <a:pPr marL="457200" indent="-457200">
              <a:lnSpc>
                <a:spcPct val="100000"/>
              </a:lnSpc>
              <a:spcBef>
                <a:spcPts val="600"/>
              </a:spcBef>
              <a:buFont typeface="+mj-lt"/>
              <a:buAutoNum type="arabicPeriod"/>
            </a:pPr>
            <a:r>
              <a:rPr lang="en-US" sz="2200" b="1" dirty="0">
                <a:solidFill>
                  <a:schemeClr val="tx1"/>
                </a:solidFill>
              </a:rPr>
              <a:t>If Statement: </a:t>
            </a:r>
            <a:r>
              <a:rPr lang="en-US" sz="2200" dirty="0"/>
              <a:t>The 'if' statement is used to execute a block of code only if a certain condition is true.</a:t>
            </a:r>
          </a:p>
          <a:p>
            <a:pPr marL="0" indent="0">
              <a:lnSpc>
                <a:spcPct val="100000"/>
              </a:lnSpc>
              <a:spcBef>
                <a:spcPts val="600"/>
              </a:spcBef>
              <a:buNone/>
            </a:pPr>
            <a:r>
              <a:rPr lang="en-US" sz="2200" dirty="0"/>
              <a:t>     Syntax:</a:t>
            </a:r>
          </a:p>
          <a:p>
            <a:pPr marL="0" indent="0">
              <a:lnSpc>
                <a:spcPct val="100000"/>
              </a:lnSpc>
              <a:spcBef>
                <a:spcPts val="600"/>
              </a:spcBef>
              <a:buNone/>
            </a:pPr>
            <a:r>
              <a:rPr lang="en-US" sz="2200" dirty="0"/>
              <a:t>	if condition:</a:t>
            </a:r>
          </a:p>
          <a:p>
            <a:pPr marL="0" indent="0">
              <a:lnSpc>
                <a:spcPct val="100000"/>
              </a:lnSpc>
              <a:spcBef>
                <a:spcPts val="600"/>
              </a:spcBef>
              <a:buNone/>
            </a:pPr>
            <a:r>
              <a:rPr lang="en-US" sz="2200" dirty="0"/>
              <a:t>  	  # code to execute if condition is true</a:t>
            </a:r>
          </a:p>
        </p:txBody>
      </p:sp>
      <p:sp>
        <p:nvSpPr>
          <p:cNvPr id="11" name="Content Placeholder 10">
            <a:extLst>
              <a:ext uri="{FF2B5EF4-FFF2-40B4-BE49-F238E27FC236}">
                <a16:creationId xmlns:a16="http://schemas.microsoft.com/office/drawing/2014/main" id="{FBF818B4-A6D5-1CF8-410C-F4002F5BC333}"/>
              </a:ext>
            </a:extLst>
          </p:cNvPr>
          <p:cNvSpPr>
            <a:spLocks noGrp="1"/>
          </p:cNvSpPr>
          <p:nvPr>
            <p:ph sz="quarter" idx="4"/>
          </p:nvPr>
        </p:nvSpPr>
        <p:spPr>
          <a:xfrm>
            <a:off x="6172202" y="2153653"/>
            <a:ext cx="5340914" cy="3904248"/>
          </a:xfrm>
        </p:spPr>
        <p:txBody>
          <a:bodyPr lIns="0" tIns="0" rIns="0" bIns="0">
            <a:normAutofit/>
          </a:bodyPr>
          <a:lstStyle/>
          <a:p>
            <a:pPr marL="457200" indent="-457200">
              <a:buFont typeface="+mj-lt"/>
              <a:buAutoNum type="arabicPeriod" startAt="2"/>
            </a:pPr>
            <a:r>
              <a:rPr lang="en-US" sz="2200" dirty="0"/>
              <a:t>If-else Statement: The 'if-else' statement allows us to execute one block of code if a condition is true and another block if it's false.</a:t>
            </a:r>
          </a:p>
          <a:p>
            <a:pPr marL="0" indent="0">
              <a:buNone/>
            </a:pPr>
            <a:r>
              <a:rPr lang="en-US" sz="2200" dirty="0"/>
              <a:t>   Syntax:</a:t>
            </a:r>
          </a:p>
          <a:p>
            <a:pPr marL="457200" lvl="1" indent="0">
              <a:buNone/>
            </a:pPr>
            <a:r>
              <a:rPr lang="en-US" sz="2200" dirty="0"/>
              <a:t>if condition:</a:t>
            </a:r>
          </a:p>
          <a:p>
            <a:pPr marL="457200" lvl="1" indent="0">
              <a:buNone/>
            </a:pPr>
            <a:r>
              <a:rPr lang="en-US" sz="1800" dirty="0"/>
              <a:t>    </a:t>
            </a:r>
            <a:r>
              <a:rPr lang="en-US" sz="2200" dirty="0"/>
              <a:t># code to execute if condition is true</a:t>
            </a:r>
          </a:p>
          <a:p>
            <a:pPr marL="457200" lvl="1" indent="0">
              <a:buNone/>
            </a:pPr>
            <a:r>
              <a:rPr lang="en-US" sz="2200" dirty="0"/>
              <a:t>else:</a:t>
            </a:r>
          </a:p>
          <a:p>
            <a:pPr marL="457200" lvl="1" indent="0">
              <a:buNone/>
            </a:pPr>
            <a:r>
              <a:rPr lang="en-US" sz="2200" dirty="0"/>
              <a:t>    # code to execute if condition is false</a:t>
            </a:r>
          </a:p>
          <a:p>
            <a:pPr marL="0" indent="0">
              <a:buNone/>
            </a:pPr>
            <a:endParaRPr lang="en-IN" sz="2200" dirty="0"/>
          </a:p>
        </p:txBody>
      </p:sp>
    </p:spTree>
    <p:extLst>
      <p:ext uri="{BB962C8B-B14F-4D97-AF65-F5344CB8AC3E}">
        <p14:creationId xmlns:p14="http://schemas.microsoft.com/office/powerpoint/2010/main" val="11544168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 Conditional Statements</a:t>
            </a:r>
          </a:p>
        </p:txBody>
      </p:sp>
      <p:sp>
        <p:nvSpPr>
          <p:cNvPr id="5" name="Content Placeholder 4">
            <a:extLst>
              <a:ext uri="{FF2B5EF4-FFF2-40B4-BE49-F238E27FC236}">
                <a16:creationId xmlns:a16="http://schemas.microsoft.com/office/drawing/2014/main" id="{5A276575-74F5-59E0-142C-5FD4846D5105}"/>
              </a:ext>
            </a:extLst>
          </p:cNvPr>
          <p:cNvSpPr>
            <a:spLocks noGrp="1"/>
          </p:cNvSpPr>
          <p:nvPr>
            <p:ph sz="half" idx="1"/>
          </p:nvPr>
        </p:nvSpPr>
        <p:spPr/>
        <p:txBody>
          <a:bodyPr lIns="0" tIns="0" rIns="0" bIns="0" numCol="1" spcCol="180000">
            <a:normAutofit fontScale="85000" lnSpcReduction="20000"/>
          </a:bodyPr>
          <a:lstStyle/>
          <a:p>
            <a:pPr marL="514350" indent="-514350">
              <a:lnSpc>
                <a:spcPct val="110000"/>
              </a:lnSpc>
              <a:spcBef>
                <a:spcPts val="600"/>
              </a:spcBef>
              <a:spcAft>
                <a:spcPts val="600"/>
              </a:spcAft>
              <a:buFont typeface="+mj-lt"/>
              <a:buAutoNum type="arabicPeriod" startAt="3"/>
            </a:pPr>
            <a:r>
              <a:rPr lang="en-US" sz="2600" b="1" dirty="0"/>
              <a:t>If—</a:t>
            </a:r>
            <a:r>
              <a:rPr lang="en-US" sz="2600" b="1" dirty="0" err="1"/>
              <a:t>elif</a:t>
            </a:r>
            <a:r>
              <a:rPr lang="en-US" sz="2600" b="1" dirty="0"/>
              <a:t>-else Statement: </a:t>
            </a:r>
            <a:r>
              <a:rPr lang="en-US" sz="2400" dirty="0"/>
              <a:t>if-</a:t>
            </a:r>
            <a:r>
              <a:rPr lang="en-US" sz="2400" dirty="0" err="1"/>
              <a:t>elif</a:t>
            </a:r>
            <a:r>
              <a:rPr lang="en-US" sz="2400" dirty="0"/>
              <a:t>-else' statement is used when we have multiple conditions to check.</a:t>
            </a:r>
          </a:p>
          <a:p>
            <a:pPr marL="0" indent="0">
              <a:lnSpc>
                <a:spcPct val="110000"/>
              </a:lnSpc>
              <a:spcBef>
                <a:spcPts val="600"/>
              </a:spcBef>
              <a:spcAft>
                <a:spcPts val="600"/>
              </a:spcAft>
              <a:buNone/>
            </a:pPr>
            <a:r>
              <a:rPr lang="en-US" sz="2200" dirty="0"/>
              <a:t>	</a:t>
            </a:r>
            <a:r>
              <a:rPr lang="en-US" sz="2400" dirty="0"/>
              <a:t>Syntax:</a:t>
            </a:r>
          </a:p>
          <a:p>
            <a:pPr marL="914400" lvl="2" indent="0">
              <a:lnSpc>
                <a:spcPct val="110000"/>
              </a:lnSpc>
              <a:spcBef>
                <a:spcPts val="600"/>
              </a:spcBef>
              <a:spcAft>
                <a:spcPts val="600"/>
              </a:spcAft>
              <a:buNone/>
            </a:pPr>
            <a:r>
              <a:rPr lang="en-US" sz="2400" dirty="0"/>
              <a:t>if condition1:A</a:t>
            </a:r>
          </a:p>
          <a:p>
            <a:pPr marL="914400" lvl="2" indent="0">
              <a:lnSpc>
                <a:spcPct val="110000"/>
              </a:lnSpc>
              <a:spcBef>
                <a:spcPts val="600"/>
              </a:spcBef>
              <a:spcAft>
                <a:spcPts val="600"/>
              </a:spcAft>
              <a:buNone/>
            </a:pPr>
            <a:r>
              <a:rPr lang="en-US" sz="2400" dirty="0"/>
              <a:t>    # code to execute if condition1 is true</a:t>
            </a:r>
          </a:p>
          <a:p>
            <a:pPr marL="914400" lvl="2" indent="0">
              <a:lnSpc>
                <a:spcPct val="110000"/>
              </a:lnSpc>
              <a:spcBef>
                <a:spcPts val="600"/>
              </a:spcBef>
              <a:spcAft>
                <a:spcPts val="600"/>
              </a:spcAft>
              <a:buNone/>
            </a:pPr>
            <a:r>
              <a:rPr lang="en-US" sz="2400" dirty="0" err="1"/>
              <a:t>elif</a:t>
            </a:r>
            <a:r>
              <a:rPr lang="en-US" sz="2400" dirty="0"/>
              <a:t> condition2:</a:t>
            </a:r>
          </a:p>
          <a:p>
            <a:pPr marL="914400" lvl="2" indent="0">
              <a:lnSpc>
                <a:spcPct val="110000"/>
              </a:lnSpc>
              <a:spcBef>
                <a:spcPts val="600"/>
              </a:spcBef>
              <a:spcAft>
                <a:spcPts val="600"/>
              </a:spcAft>
              <a:buNone/>
            </a:pPr>
            <a:r>
              <a:rPr lang="en-US" sz="2400" dirty="0"/>
              <a:t>    # code to execute if condition2 is true</a:t>
            </a:r>
          </a:p>
          <a:p>
            <a:pPr marL="914400" lvl="2" indent="0">
              <a:lnSpc>
                <a:spcPct val="110000"/>
              </a:lnSpc>
              <a:spcBef>
                <a:spcPts val="600"/>
              </a:spcBef>
              <a:spcAft>
                <a:spcPts val="600"/>
              </a:spcAft>
              <a:buNone/>
            </a:pPr>
            <a:r>
              <a:rPr lang="en-US" sz="2400" dirty="0"/>
              <a:t>else:</a:t>
            </a:r>
          </a:p>
          <a:p>
            <a:pPr marL="914400" lvl="2" indent="0">
              <a:lnSpc>
                <a:spcPct val="110000"/>
              </a:lnSpc>
              <a:spcBef>
                <a:spcPts val="600"/>
              </a:spcBef>
              <a:spcAft>
                <a:spcPts val="600"/>
              </a:spcAft>
              <a:buNone/>
            </a:pPr>
            <a:r>
              <a:rPr lang="en-US" sz="2400" dirty="0"/>
              <a:t>    # code to execute if none of the conditions are true</a:t>
            </a:r>
          </a:p>
        </p:txBody>
      </p:sp>
      <p:sp>
        <p:nvSpPr>
          <p:cNvPr id="2" name="Content Placeholder 1">
            <a:extLst>
              <a:ext uri="{FF2B5EF4-FFF2-40B4-BE49-F238E27FC236}">
                <a16:creationId xmlns:a16="http://schemas.microsoft.com/office/drawing/2014/main" id="{7BD62593-A3E0-FE9D-DC75-1BBAD6EC845E}"/>
              </a:ext>
            </a:extLst>
          </p:cNvPr>
          <p:cNvSpPr>
            <a:spLocks noGrp="1"/>
          </p:cNvSpPr>
          <p:nvPr>
            <p:ph sz="half" idx="2"/>
          </p:nvPr>
        </p:nvSpPr>
        <p:spPr/>
        <p:txBody>
          <a:bodyPr lIns="0" tIns="0" rIns="0" bIns="0" numCol="1">
            <a:normAutofit/>
          </a:bodyPr>
          <a:lstStyle/>
          <a:p>
            <a:pPr marL="457200" indent="-457200">
              <a:lnSpc>
                <a:spcPct val="100000"/>
              </a:lnSpc>
              <a:spcBef>
                <a:spcPts val="600"/>
              </a:spcBef>
              <a:spcAft>
                <a:spcPts val="600"/>
              </a:spcAft>
              <a:buFont typeface="+mj-lt"/>
              <a:buAutoNum type="arabicPeriod" startAt="4"/>
            </a:pPr>
            <a:r>
              <a:rPr lang="en-US" sz="2200" b="1" dirty="0"/>
              <a:t>Nested Conditional Statements</a:t>
            </a:r>
          </a:p>
          <a:p>
            <a:pPr marL="457200" lvl="1" indent="0">
              <a:buNone/>
            </a:pPr>
            <a:r>
              <a:rPr lang="en-US" sz="2200" dirty="0"/>
              <a:t>You can nest conditional statements inside other conditional statements.</a:t>
            </a:r>
          </a:p>
          <a:p>
            <a:pPr marL="457200" lvl="1" indent="0">
              <a:buNone/>
            </a:pPr>
            <a:r>
              <a:rPr lang="en-US" sz="2200" dirty="0"/>
              <a:t>This allows for complex decision-making in your programs.</a:t>
            </a:r>
          </a:p>
          <a:p>
            <a:pPr marL="0" indent="0">
              <a:buNone/>
            </a:pPr>
            <a:endParaRPr lang="en-IN" sz="2200" dirty="0"/>
          </a:p>
        </p:txBody>
      </p:sp>
    </p:spTree>
    <p:extLst>
      <p:ext uri="{BB962C8B-B14F-4D97-AF65-F5344CB8AC3E}">
        <p14:creationId xmlns:p14="http://schemas.microsoft.com/office/powerpoint/2010/main" val="37570660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a:latin typeface="Times New Roman"/>
                <a:ea typeface="Calibri"/>
                <a:cs typeface="Times New Roman"/>
              </a:rPr>
              <a:t> Hands on Exercise:</a:t>
            </a:r>
            <a:endParaRPr lang="en-US"/>
          </a:p>
        </p:txBody>
      </p:sp>
      <p:sp>
        <p:nvSpPr>
          <p:cNvPr id="2" name="TextBox 1">
            <a:extLst>
              <a:ext uri="{FF2B5EF4-FFF2-40B4-BE49-F238E27FC236}">
                <a16:creationId xmlns:a16="http://schemas.microsoft.com/office/drawing/2014/main" id="{007C20ED-01D7-B7BD-9960-DAD45E6A9DE7}"/>
              </a:ext>
            </a:extLst>
          </p:cNvPr>
          <p:cNvSpPr txBox="1"/>
          <p:nvPr/>
        </p:nvSpPr>
        <p:spPr>
          <a:xfrm>
            <a:off x="848591" y="1454727"/>
            <a:ext cx="10893136" cy="55707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Question 1: Calculate Tax</a:t>
            </a:r>
            <a:endParaRPr lang="en-US" dirty="0"/>
          </a:p>
          <a:p>
            <a:pPr marL="285750" indent="-285750">
              <a:buFont typeface="Arial"/>
              <a:buChar char="•"/>
            </a:pPr>
            <a:r>
              <a:rPr lang="en-US" dirty="0">
                <a:solidFill>
                  <a:srgbClr val="374151"/>
                </a:solidFill>
                <a:ea typeface="+mn-lt"/>
                <a:cs typeface="+mn-lt"/>
              </a:rPr>
              <a:t>Write a Python program that takes the user's income as input and calculates the tax amount based on the following conditions:</a:t>
            </a:r>
            <a:endParaRPr lang="en-US" dirty="0"/>
          </a:p>
          <a:p>
            <a:pPr marL="742950" lvl="1" indent="-285750">
              <a:buFont typeface="Arial"/>
              <a:buChar char="•"/>
            </a:pPr>
            <a:r>
              <a:rPr lang="en-US" dirty="0">
                <a:solidFill>
                  <a:srgbClr val="374151"/>
                </a:solidFill>
                <a:ea typeface="+mn-lt"/>
                <a:cs typeface="+mn-lt"/>
              </a:rPr>
              <a:t>If the income is greater than $50,000, apply a tax rate of 20%.</a:t>
            </a:r>
            <a:endParaRPr lang="en-US" dirty="0"/>
          </a:p>
          <a:p>
            <a:pPr marL="742950" lvl="1" indent="-285750">
              <a:buFont typeface="Arial"/>
              <a:buChar char="•"/>
            </a:pPr>
            <a:r>
              <a:rPr lang="en-US" dirty="0">
                <a:solidFill>
                  <a:srgbClr val="374151"/>
                </a:solidFill>
                <a:ea typeface="+mn-lt"/>
                <a:cs typeface="+mn-lt"/>
              </a:rPr>
              <a:t>Otherwise, apply a tax rate of 15%.</a:t>
            </a:r>
            <a:endParaRPr lang="en-US" dirty="0"/>
          </a:p>
          <a:p>
            <a:r>
              <a:rPr lang="en-US" b="1" dirty="0">
                <a:ea typeface="+mn-lt"/>
                <a:cs typeface="+mn-lt"/>
              </a:rPr>
              <a:t>Question 2: Budget Analysis</a:t>
            </a:r>
            <a:endParaRPr lang="en-US" dirty="0"/>
          </a:p>
          <a:p>
            <a:pPr marL="285750" indent="-285750">
              <a:buFont typeface="Arial"/>
              <a:buChar char="•"/>
            </a:pPr>
            <a:r>
              <a:rPr lang="en-US" dirty="0">
                <a:solidFill>
                  <a:srgbClr val="374151"/>
                </a:solidFill>
                <a:ea typeface="+mn-lt"/>
                <a:cs typeface="+mn-lt"/>
              </a:rPr>
              <a:t>Create a Python program that prompts the user to enter their budget and total expenses. The program should then determine and display whether the user is within their budget or if they have exceeded it.</a:t>
            </a:r>
            <a:endParaRPr lang="en-US" dirty="0"/>
          </a:p>
          <a:p>
            <a:r>
              <a:rPr lang="en-US" b="1" dirty="0">
                <a:ea typeface="+mn-lt"/>
                <a:cs typeface="+mn-lt"/>
              </a:rPr>
              <a:t>Question 3: Retirement Savings</a:t>
            </a:r>
            <a:endParaRPr lang="en-US" dirty="0"/>
          </a:p>
          <a:p>
            <a:pPr marL="285750" indent="-285750">
              <a:buFont typeface="Arial"/>
              <a:buChar char="•"/>
            </a:pPr>
            <a:r>
              <a:rPr lang="en-US" dirty="0">
                <a:solidFill>
                  <a:srgbClr val="374151"/>
                </a:solidFill>
                <a:ea typeface="+mn-lt"/>
                <a:cs typeface="+mn-lt"/>
              </a:rPr>
              <a:t>Develop a Python script that takes the user's age and annual income as input. Based on the age, the program should calculate and print the recommended retirement savings goal:</a:t>
            </a:r>
            <a:endParaRPr lang="en-US" dirty="0"/>
          </a:p>
          <a:p>
            <a:pPr marL="742950" lvl="1" indent="-285750">
              <a:buFont typeface="Arial"/>
              <a:buChar char="•"/>
            </a:pPr>
            <a:r>
              <a:rPr lang="en-US" dirty="0">
                <a:solidFill>
                  <a:srgbClr val="374151"/>
                </a:solidFill>
                <a:ea typeface="+mn-lt"/>
                <a:cs typeface="+mn-lt"/>
              </a:rPr>
              <a:t>If the age is less than 30, the goal is 10% of the income.</a:t>
            </a:r>
            <a:endParaRPr lang="en-US" dirty="0"/>
          </a:p>
          <a:p>
            <a:pPr marL="742950" lvl="1" indent="-285750">
              <a:buFont typeface="Arial"/>
              <a:buChar char="•"/>
            </a:pPr>
            <a:r>
              <a:rPr lang="en-US" dirty="0">
                <a:solidFill>
                  <a:srgbClr val="374151"/>
                </a:solidFill>
                <a:ea typeface="+mn-lt"/>
                <a:cs typeface="+mn-lt"/>
              </a:rPr>
              <a:t>Otherwise, the goal is 20% of the income.</a:t>
            </a:r>
            <a:endParaRPr lang="en-US" dirty="0"/>
          </a:p>
          <a:p>
            <a:r>
              <a:rPr lang="en-US" b="1" dirty="0">
                <a:ea typeface="+mn-lt"/>
                <a:cs typeface="+mn-lt"/>
              </a:rPr>
              <a:t>Question 4: Loan Approval</a:t>
            </a:r>
            <a:endParaRPr lang="en-US" dirty="0"/>
          </a:p>
          <a:p>
            <a:pPr marL="285750" indent="-285750">
              <a:buFont typeface="Arial"/>
              <a:buChar char="•"/>
            </a:pPr>
            <a:r>
              <a:rPr lang="en-US" dirty="0">
                <a:solidFill>
                  <a:srgbClr val="374151"/>
                </a:solidFill>
                <a:ea typeface="+mn-lt"/>
                <a:cs typeface="+mn-lt"/>
              </a:rPr>
              <a:t>Write a Python program that asks the user to input their credit score. The program should then determine and print whether the user's loan is approved or denied based on the following condition:</a:t>
            </a:r>
            <a:endParaRPr lang="en-US" dirty="0"/>
          </a:p>
          <a:p>
            <a:pPr marL="742950" lvl="1" indent="-285750">
              <a:buFont typeface="Arial"/>
              <a:buChar char="•"/>
            </a:pPr>
            <a:r>
              <a:rPr lang="en-US" dirty="0">
                <a:solidFill>
                  <a:srgbClr val="374151"/>
                </a:solidFill>
                <a:ea typeface="+mn-lt"/>
                <a:cs typeface="+mn-lt"/>
              </a:rPr>
              <a:t>If the credit score is 700 or above, the loan is approved; otherwise, it is denied.</a:t>
            </a:r>
          </a:p>
          <a:p>
            <a:pPr marL="742950" lvl="1" indent="-285750">
              <a:buFont typeface="Arial"/>
              <a:buChar char="•"/>
            </a:pPr>
            <a:endParaRPr lang="en-US" sz="1600" b="1" dirty="0">
              <a:solidFill>
                <a:srgbClr val="FF0000"/>
              </a:solidFill>
              <a:cs typeface="Calibri"/>
            </a:endParaRPr>
          </a:p>
          <a:p>
            <a:pPr lvl="1"/>
            <a:r>
              <a:rPr lang="en-US" sz="1600" b="1" dirty="0">
                <a:solidFill>
                  <a:srgbClr val="FF0000"/>
                </a:solidFill>
                <a:cs typeface="Calibri"/>
              </a:rPr>
              <a:t>Note: Check Footnote for answers</a:t>
            </a:r>
            <a:endParaRPr lang="en-US" sz="1600" dirty="0">
              <a:solidFill>
                <a:srgbClr val="FF0000"/>
              </a:solidFill>
              <a:cs typeface="Calibri"/>
            </a:endParaRPr>
          </a:p>
          <a:p>
            <a:pPr lvl="1"/>
            <a:endParaRPr lang="en-US" dirty="0">
              <a:solidFill>
                <a:srgbClr val="374151"/>
              </a:solidFill>
              <a:cs typeface="Calibri"/>
            </a:endParaRPr>
          </a:p>
        </p:txBody>
      </p:sp>
    </p:spTree>
    <p:extLst>
      <p:ext uri="{BB962C8B-B14F-4D97-AF65-F5344CB8AC3E}">
        <p14:creationId xmlns:p14="http://schemas.microsoft.com/office/powerpoint/2010/main" val="2080535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 Loops in Python</a:t>
            </a:r>
          </a:p>
        </p:txBody>
      </p:sp>
      <p:sp>
        <p:nvSpPr>
          <p:cNvPr id="3" name="Content Placeholder 2">
            <a:extLst>
              <a:ext uri="{FF2B5EF4-FFF2-40B4-BE49-F238E27FC236}">
                <a16:creationId xmlns:a16="http://schemas.microsoft.com/office/drawing/2014/main" id="{832179A3-5D09-036B-37ED-324BDD3FDDA4}"/>
              </a:ext>
            </a:extLst>
          </p:cNvPr>
          <p:cNvSpPr>
            <a:spLocks noGrp="1"/>
          </p:cNvSpPr>
          <p:nvPr>
            <p:ph idx="1"/>
          </p:nvPr>
        </p:nvSpPr>
        <p:spPr/>
        <p:txBody>
          <a:bodyPr lIns="0" tIns="0" rIns="0" bIns="0">
            <a:noAutofit/>
          </a:bodyPr>
          <a:lstStyle/>
          <a:p>
            <a:pPr marL="0" indent="0">
              <a:lnSpc>
                <a:spcPct val="100000"/>
              </a:lnSpc>
              <a:spcBef>
                <a:spcPts val="300"/>
              </a:spcBef>
              <a:spcAft>
                <a:spcPts val="300"/>
              </a:spcAft>
              <a:buNone/>
            </a:pPr>
            <a:r>
              <a:rPr lang="en-US" sz="2200" b="1" dirty="0">
                <a:solidFill>
                  <a:schemeClr val="tx1"/>
                </a:solidFill>
              </a:rPr>
              <a:t>The while Loop</a:t>
            </a:r>
          </a:p>
          <a:p>
            <a:pPr marL="0" indent="0">
              <a:lnSpc>
                <a:spcPct val="100000"/>
              </a:lnSpc>
              <a:spcBef>
                <a:spcPts val="300"/>
              </a:spcBef>
              <a:spcAft>
                <a:spcPts val="300"/>
              </a:spcAft>
              <a:buNone/>
            </a:pPr>
            <a:r>
              <a:rPr lang="en-US" sz="2200" dirty="0"/>
              <a:t>The while loop is used to repeatedly execute a block of code as long as a specified condition is true.</a:t>
            </a:r>
          </a:p>
          <a:p>
            <a:pPr marL="457200" lvl="1" indent="0">
              <a:lnSpc>
                <a:spcPct val="100000"/>
              </a:lnSpc>
              <a:spcBef>
                <a:spcPts val="300"/>
              </a:spcBef>
              <a:spcAft>
                <a:spcPts val="300"/>
              </a:spcAft>
              <a:buNone/>
            </a:pPr>
            <a:r>
              <a:rPr lang="en-US" sz="2200" dirty="0"/>
              <a:t>Syntax:</a:t>
            </a:r>
          </a:p>
          <a:p>
            <a:pPr marL="457200" lvl="1" indent="0">
              <a:lnSpc>
                <a:spcPct val="100000"/>
              </a:lnSpc>
              <a:spcBef>
                <a:spcPts val="300"/>
              </a:spcBef>
              <a:spcAft>
                <a:spcPts val="300"/>
              </a:spcAft>
              <a:buNone/>
            </a:pPr>
            <a:r>
              <a:rPr lang="en-US" sz="2200" dirty="0"/>
              <a:t>while condition:</a:t>
            </a:r>
          </a:p>
          <a:p>
            <a:pPr marL="457200" lvl="1" indent="0">
              <a:lnSpc>
                <a:spcPct val="100000"/>
              </a:lnSpc>
              <a:spcBef>
                <a:spcPts val="300"/>
              </a:spcBef>
              <a:spcAft>
                <a:spcPts val="300"/>
              </a:spcAft>
              <a:buNone/>
            </a:pPr>
            <a:r>
              <a:rPr lang="en-US" sz="2200" dirty="0"/>
              <a:t>    # Code to execute while the condition is true</a:t>
            </a:r>
          </a:p>
          <a:p>
            <a:pPr marL="457200" lvl="1" indent="0">
              <a:lnSpc>
                <a:spcPct val="100000"/>
              </a:lnSpc>
              <a:spcBef>
                <a:spcPts val="300"/>
              </a:spcBef>
              <a:spcAft>
                <a:spcPts val="300"/>
              </a:spcAft>
              <a:buNone/>
            </a:pPr>
            <a:r>
              <a:rPr lang="en-US" sz="2200" dirty="0"/>
              <a:t>Example:</a:t>
            </a:r>
          </a:p>
          <a:p>
            <a:pPr marL="457200" lvl="1" indent="0">
              <a:lnSpc>
                <a:spcPct val="100000"/>
              </a:lnSpc>
              <a:spcBef>
                <a:spcPts val="300"/>
              </a:spcBef>
              <a:spcAft>
                <a:spcPts val="300"/>
              </a:spcAft>
              <a:buNone/>
            </a:pPr>
            <a:r>
              <a:rPr lang="en-US" sz="2200" dirty="0"/>
              <a:t>count = 0</a:t>
            </a:r>
          </a:p>
          <a:p>
            <a:pPr marL="457200" lvl="1" indent="0">
              <a:lnSpc>
                <a:spcPct val="100000"/>
              </a:lnSpc>
              <a:spcBef>
                <a:spcPts val="300"/>
              </a:spcBef>
              <a:spcAft>
                <a:spcPts val="300"/>
              </a:spcAft>
              <a:buNone/>
            </a:pPr>
            <a:r>
              <a:rPr lang="en-US" sz="2200" dirty="0"/>
              <a:t>while count &lt; 5:</a:t>
            </a:r>
          </a:p>
          <a:p>
            <a:pPr marL="457200" lvl="1" indent="0">
              <a:lnSpc>
                <a:spcPct val="100000"/>
              </a:lnSpc>
              <a:spcBef>
                <a:spcPts val="300"/>
              </a:spcBef>
              <a:spcAft>
                <a:spcPts val="300"/>
              </a:spcAft>
              <a:buNone/>
            </a:pPr>
            <a:r>
              <a:rPr lang="en-US" sz="2200" dirty="0"/>
              <a:t>    print(count)</a:t>
            </a:r>
          </a:p>
          <a:p>
            <a:pPr marL="457200" lvl="1" indent="0">
              <a:lnSpc>
                <a:spcPct val="100000"/>
              </a:lnSpc>
              <a:spcBef>
                <a:spcPts val="300"/>
              </a:spcBef>
              <a:spcAft>
                <a:spcPts val="300"/>
              </a:spcAft>
              <a:buNone/>
            </a:pPr>
            <a:r>
              <a:rPr lang="en-US" sz="2200" dirty="0"/>
              <a:t>    count += 1</a:t>
            </a:r>
          </a:p>
          <a:p>
            <a:pPr marL="0" indent="0">
              <a:lnSpc>
                <a:spcPct val="100000"/>
              </a:lnSpc>
              <a:spcBef>
                <a:spcPts val="300"/>
              </a:spcBef>
              <a:spcAft>
                <a:spcPts val="300"/>
              </a:spcAft>
              <a:buNone/>
            </a:pPr>
            <a:endParaRPr lang="en-IN" sz="2200" dirty="0"/>
          </a:p>
        </p:txBody>
      </p:sp>
    </p:spTree>
    <p:extLst>
      <p:ext uri="{BB962C8B-B14F-4D97-AF65-F5344CB8AC3E}">
        <p14:creationId xmlns:p14="http://schemas.microsoft.com/office/powerpoint/2010/main" val="33395788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err="1"/>
              <a:t>Cont</a:t>
            </a:r>
            <a:r>
              <a:rPr lang="en-US" dirty="0"/>
              <a:t>…</a:t>
            </a:r>
          </a:p>
        </p:txBody>
      </p:sp>
      <p:sp>
        <p:nvSpPr>
          <p:cNvPr id="3" name="Content Placeholder 2">
            <a:extLst>
              <a:ext uri="{FF2B5EF4-FFF2-40B4-BE49-F238E27FC236}">
                <a16:creationId xmlns:a16="http://schemas.microsoft.com/office/drawing/2014/main" id="{832179A3-5D09-036B-37ED-324BDD3FDDA4}"/>
              </a:ext>
            </a:extLst>
          </p:cNvPr>
          <p:cNvSpPr>
            <a:spLocks noGrp="1"/>
          </p:cNvSpPr>
          <p:nvPr>
            <p:ph idx="1"/>
          </p:nvPr>
        </p:nvSpPr>
        <p:spPr/>
        <p:txBody>
          <a:bodyPr vert="horz" lIns="0" tIns="0" rIns="0" bIns="0" rtlCol="0" anchor="t">
            <a:noAutofit/>
          </a:bodyPr>
          <a:lstStyle/>
          <a:p>
            <a:pPr marL="0" indent="0">
              <a:lnSpc>
                <a:spcPct val="100000"/>
              </a:lnSpc>
              <a:spcBef>
                <a:spcPts val="300"/>
              </a:spcBef>
              <a:spcAft>
                <a:spcPts val="300"/>
              </a:spcAft>
              <a:buNone/>
            </a:pPr>
            <a:r>
              <a:rPr lang="en-US" sz="2200" b="1" dirty="0">
                <a:solidFill>
                  <a:schemeClr val="tx1"/>
                </a:solidFill>
                <a:latin typeface="Calibri"/>
                <a:cs typeface="Calibri"/>
              </a:rPr>
              <a:t>The for Loop</a:t>
            </a:r>
          </a:p>
          <a:p>
            <a:pPr marL="0" indent="0">
              <a:lnSpc>
                <a:spcPct val="100000"/>
              </a:lnSpc>
              <a:spcBef>
                <a:spcPts val="300"/>
              </a:spcBef>
              <a:spcAft>
                <a:spcPts val="300"/>
              </a:spcAft>
              <a:buNone/>
            </a:pPr>
            <a:r>
              <a:rPr lang="en-US" sz="2200" dirty="0"/>
              <a:t>The for loop is used to iterate over a sequence (e.g., a list, tuple, string, or range) and execute a block of code for each item in the sequence.</a:t>
            </a:r>
          </a:p>
          <a:p>
            <a:pPr marL="457200" lvl="1" indent="0">
              <a:lnSpc>
                <a:spcPct val="100000"/>
              </a:lnSpc>
              <a:spcBef>
                <a:spcPts val="300"/>
              </a:spcBef>
              <a:spcAft>
                <a:spcPts val="300"/>
              </a:spcAft>
              <a:buNone/>
            </a:pPr>
            <a:r>
              <a:rPr lang="en-US" sz="2200" dirty="0"/>
              <a:t>Syntax:</a:t>
            </a:r>
          </a:p>
          <a:p>
            <a:pPr marL="457200" lvl="1" indent="0">
              <a:lnSpc>
                <a:spcPct val="100000"/>
              </a:lnSpc>
              <a:spcBef>
                <a:spcPts val="300"/>
              </a:spcBef>
              <a:spcAft>
                <a:spcPts val="300"/>
              </a:spcAft>
              <a:buNone/>
            </a:pPr>
            <a:r>
              <a:rPr lang="en-US" sz="2200" dirty="0"/>
              <a:t>for variable in sequence:</a:t>
            </a:r>
          </a:p>
          <a:p>
            <a:pPr marL="457200" lvl="1" indent="0">
              <a:lnSpc>
                <a:spcPct val="100000"/>
              </a:lnSpc>
              <a:spcBef>
                <a:spcPts val="300"/>
              </a:spcBef>
              <a:spcAft>
                <a:spcPts val="300"/>
              </a:spcAft>
              <a:buNone/>
            </a:pPr>
            <a:r>
              <a:rPr lang="en-US" sz="2200" dirty="0"/>
              <a:t>    # Code to execute for each item in the sequence</a:t>
            </a:r>
          </a:p>
          <a:p>
            <a:pPr marL="457200" lvl="1" indent="0">
              <a:lnSpc>
                <a:spcPct val="100000"/>
              </a:lnSpc>
              <a:spcBef>
                <a:spcPts val="300"/>
              </a:spcBef>
              <a:spcAft>
                <a:spcPts val="300"/>
              </a:spcAft>
              <a:buNone/>
            </a:pPr>
            <a:endParaRPr lang="en-US" sz="2200" dirty="0"/>
          </a:p>
          <a:p>
            <a:pPr marL="457200" lvl="1" indent="0">
              <a:lnSpc>
                <a:spcPct val="100000"/>
              </a:lnSpc>
              <a:spcBef>
                <a:spcPts val="300"/>
              </a:spcBef>
              <a:spcAft>
                <a:spcPts val="300"/>
              </a:spcAft>
              <a:buNone/>
            </a:pPr>
            <a:r>
              <a:rPr lang="en-US" sz="2200" dirty="0"/>
              <a:t>Example:</a:t>
            </a:r>
          </a:p>
          <a:p>
            <a:pPr marL="457200" lvl="1" indent="0">
              <a:lnSpc>
                <a:spcPct val="100000"/>
              </a:lnSpc>
              <a:spcBef>
                <a:spcPts val="300"/>
              </a:spcBef>
              <a:spcAft>
                <a:spcPts val="300"/>
              </a:spcAft>
              <a:buNone/>
            </a:pPr>
            <a:r>
              <a:rPr lang="en-US" sz="2200" dirty="0"/>
              <a:t>fruits = ["apple", "banana", "cherry"]</a:t>
            </a:r>
          </a:p>
          <a:p>
            <a:pPr marL="457200" lvl="1" indent="0">
              <a:lnSpc>
                <a:spcPct val="100000"/>
              </a:lnSpc>
              <a:spcBef>
                <a:spcPts val="300"/>
              </a:spcBef>
              <a:spcAft>
                <a:spcPts val="300"/>
              </a:spcAft>
              <a:buNone/>
            </a:pPr>
            <a:r>
              <a:rPr lang="en-US" sz="2200" dirty="0"/>
              <a:t>for fruit in fruits:</a:t>
            </a:r>
          </a:p>
          <a:p>
            <a:pPr marL="457200" lvl="1" indent="0">
              <a:lnSpc>
                <a:spcPct val="100000"/>
              </a:lnSpc>
              <a:spcBef>
                <a:spcPts val="300"/>
              </a:spcBef>
              <a:spcAft>
                <a:spcPts val="300"/>
              </a:spcAft>
              <a:buNone/>
            </a:pPr>
            <a:r>
              <a:rPr lang="en-US" sz="2200" dirty="0"/>
              <a:t>    print(fruit)</a:t>
            </a:r>
          </a:p>
        </p:txBody>
      </p:sp>
    </p:spTree>
    <p:extLst>
      <p:ext uri="{BB962C8B-B14F-4D97-AF65-F5344CB8AC3E}">
        <p14:creationId xmlns:p14="http://schemas.microsoft.com/office/powerpoint/2010/main" val="2845992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err="1"/>
              <a:t>Cont</a:t>
            </a:r>
            <a:r>
              <a:rPr lang="en-US" dirty="0"/>
              <a:t>…</a:t>
            </a:r>
          </a:p>
        </p:txBody>
      </p:sp>
      <p:sp>
        <p:nvSpPr>
          <p:cNvPr id="3" name="Content Placeholder 2">
            <a:extLst>
              <a:ext uri="{FF2B5EF4-FFF2-40B4-BE49-F238E27FC236}">
                <a16:creationId xmlns:a16="http://schemas.microsoft.com/office/drawing/2014/main" id="{832179A3-5D09-036B-37ED-324BDD3FDDA4}"/>
              </a:ext>
            </a:extLst>
          </p:cNvPr>
          <p:cNvSpPr>
            <a:spLocks noGrp="1"/>
          </p:cNvSpPr>
          <p:nvPr>
            <p:ph sz="half" idx="1"/>
          </p:nvPr>
        </p:nvSpPr>
        <p:spPr>
          <a:xfrm>
            <a:off x="678881" y="2261937"/>
            <a:ext cx="5340919" cy="3992397"/>
          </a:xfrm>
        </p:spPr>
        <p:txBody>
          <a:bodyPr lIns="0" tIns="0" rIns="0" bIns="0" numCol="2">
            <a:noAutofit/>
          </a:bodyPr>
          <a:lstStyle/>
          <a:p>
            <a:pPr marL="457200" lvl="1" indent="0">
              <a:lnSpc>
                <a:spcPct val="100000"/>
              </a:lnSpc>
              <a:spcBef>
                <a:spcPts val="200"/>
              </a:spcBef>
              <a:spcAft>
                <a:spcPts val="200"/>
              </a:spcAft>
              <a:buNone/>
            </a:pPr>
            <a:r>
              <a:rPr lang="en-US" sz="2200" b="1" dirty="0">
                <a:solidFill>
                  <a:schemeClr val="tx1"/>
                </a:solidFill>
              </a:rPr>
              <a:t>1. break:</a:t>
            </a:r>
          </a:p>
          <a:p>
            <a:pPr marL="457200" lvl="1" indent="0">
              <a:lnSpc>
                <a:spcPct val="100000"/>
              </a:lnSpc>
              <a:spcBef>
                <a:spcPts val="200"/>
              </a:spcBef>
              <a:spcAft>
                <a:spcPts val="200"/>
              </a:spcAft>
              <a:buNone/>
            </a:pPr>
            <a:r>
              <a:rPr lang="en-US" sz="2200" dirty="0"/>
              <a:t>for </a:t>
            </a:r>
            <a:r>
              <a:rPr lang="en-US" sz="2200" dirty="0" err="1"/>
              <a:t>i</a:t>
            </a:r>
            <a:r>
              <a:rPr lang="en-US" sz="2200" dirty="0"/>
              <a:t> in range(10):</a:t>
            </a:r>
          </a:p>
          <a:p>
            <a:pPr marL="457200" lvl="1" indent="0">
              <a:lnSpc>
                <a:spcPct val="100000"/>
              </a:lnSpc>
              <a:spcBef>
                <a:spcPts val="200"/>
              </a:spcBef>
              <a:spcAft>
                <a:spcPts val="200"/>
              </a:spcAft>
              <a:buNone/>
            </a:pPr>
            <a:r>
              <a:rPr lang="en-US" sz="2200" dirty="0"/>
              <a:t>    if </a:t>
            </a:r>
            <a:r>
              <a:rPr lang="en-US" sz="2200" dirty="0" err="1"/>
              <a:t>i</a:t>
            </a:r>
            <a:r>
              <a:rPr lang="en-US" sz="2200" dirty="0"/>
              <a:t> == 5:</a:t>
            </a:r>
          </a:p>
          <a:p>
            <a:pPr marL="457200" lvl="1" indent="0">
              <a:lnSpc>
                <a:spcPct val="100000"/>
              </a:lnSpc>
              <a:spcBef>
                <a:spcPts val="200"/>
              </a:spcBef>
              <a:spcAft>
                <a:spcPts val="200"/>
              </a:spcAft>
              <a:buNone/>
            </a:pPr>
            <a:r>
              <a:rPr lang="en-US" sz="2200" dirty="0"/>
              <a:t>        break</a:t>
            </a:r>
          </a:p>
          <a:p>
            <a:pPr marL="457200" lvl="1" indent="0">
              <a:lnSpc>
                <a:spcPct val="100000"/>
              </a:lnSpc>
              <a:spcBef>
                <a:spcPts val="200"/>
              </a:spcBef>
              <a:spcAft>
                <a:spcPts val="200"/>
              </a:spcAft>
              <a:buNone/>
            </a:pPr>
            <a:r>
              <a:rPr lang="en-US" sz="2200" dirty="0"/>
              <a:t>    print(</a:t>
            </a:r>
            <a:r>
              <a:rPr lang="en-US" sz="2200" dirty="0" err="1"/>
              <a:t>i</a:t>
            </a:r>
            <a:r>
              <a:rPr lang="en-US" sz="2200" dirty="0"/>
              <a:t>)</a:t>
            </a:r>
          </a:p>
          <a:p>
            <a:pPr marL="457200" lvl="1" indent="0">
              <a:lnSpc>
                <a:spcPct val="100000"/>
              </a:lnSpc>
              <a:spcBef>
                <a:spcPts val="200"/>
              </a:spcBef>
              <a:spcAft>
                <a:spcPts val="200"/>
              </a:spcAft>
              <a:buNone/>
            </a:pPr>
            <a:r>
              <a:rPr lang="en-US" sz="2200" b="1" dirty="0">
                <a:solidFill>
                  <a:schemeClr val="tx1"/>
                </a:solidFill>
              </a:rPr>
              <a:t>2. continue:</a:t>
            </a:r>
          </a:p>
          <a:p>
            <a:pPr marL="457200" lvl="1" indent="0">
              <a:lnSpc>
                <a:spcPct val="100000"/>
              </a:lnSpc>
              <a:spcBef>
                <a:spcPts val="200"/>
              </a:spcBef>
              <a:spcAft>
                <a:spcPts val="200"/>
              </a:spcAft>
              <a:buNone/>
            </a:pPr>
            <a:r>
              <a:rPr lang="en-US" sz="2200" dirty="0"/>
              <a:t>for </a:t>
            </a:r>
            <a:r>
              <a:rPr lang="en-US" sz="2200" dirty="0" err="1"/>
              <a:t>i</a:t>
            </a:r>
            <a:r>
              <a:rPr lang="en-US" sz="2200" dirty="0"/>
              <a:t> in range(5):</a:t>
            </a:r>
          </a:p>
          <a:p>
            <a:pPr marL="457200" lvl="1" indent="0">
              <a:lnSpc>
                <a:spcPct val="100000"/>
              </a:lnSpc>
              <a:spcBef>
                <a:spcPts val="200"/>
              </a:spcBef>
              <a:spcAft>
                <a:spcPts val="200"/>
              </a:spcAft>
              <a:buNone/>
            </a:pPr>
            <a:r>
              <a:rPr lang="en-US" sz="2200" dirty="0"/>
              <a:t>    if </a:t>
            </a:r>
            <a:r>
              <a:rPr lang="en-US" sz="2200" dirty="0" err="1"/>
              <a:t>i</a:t>
            </a:r>
            <a:r>
              <a:rPr lang="en-US" sz="2200" dirty="0"/>
              <a:t> == 2:</a:t>
            </a:r>
          </a:p>
          <a:p>
            <a:pPr marL="457200" lvl="1" indent="0">
              <a:lnSpc>
                <a:spcPct val="100000"/>
              </a:lnSpc>
              <a:spcBef>
                <a:spcPts val="200"/>
              </a:spcBef>
              <a:spcAft>
                <a:spcPts val="200"/>
              </a:spcAft>
              <a:buNone/>
            </a:pPr>
            <a:r>
              <a:rPr lang="en-US" sz="2200" dirty="0"/>
              <a:t>        continue</a:t>
            </a:r>
          </a:p>
          <a:p>
            <a:pPr marL="457200" lvl="1" indent="0">
              <a:lnSpc>
                <a:spcPct val="100000"/>
              </a:lnSpc>
              <a:spcBef>
                <a:spcPts val="200"/>
              </a:spcBef>
              <a:spcAft>
                <a:spcPts val="200"/>
              </a:spcAft>
              <a:buNone/>
            </a:pPr>
            <a:r>
              <a:rPr lang="en-US" sz="2200" dirty="0"/>
              <a:t>    print(</a:t>
            </a:r>
            <a:r>
              <a:rPr lang="en-US" sz="2200" dirty="0" err="1"/>
              <a:t>i</a:t>
            </a:r>
            <a:r>
              <a:rPr lang="en-US" sz="2200" dirty="0"/>
              <a:t>)</a:t>
            </a:r>
          </a:p>
          <a:p>
            <a:pPr marL="457200" lvl="1" indent="0">
              <a:lnSpc>
                <a:spcPct val="100000"/>
              </a:lnSpc>
              <a:spcBef>
                <a:spcPts val="200"/>
              </a:spcBef>
              <a:spcAft>
                <a:spcPts val="200"/>
              </a:spcAft>
              <a:buNone/>
            </a:pPr>
            <a:r>
              <a:rPr lang="en-US" sz="2200" b="1" dirty="0">
                <a:solidFill>
                  <a:schemeClr val="tx1"/>
                </a:solidFill>
              </a:rPr>
              <a:t>range():</a:t>
            </a:r>
          </a:p>
          <a:p>
            <a:pPr marL="457200" lvl="1" indent="0">
              <a:lnSpc>
                <a:spcPct val="100000"/>
              </a:lnSpc>
              <a:spcBef>
                <a:spcPts val="200"/>
              </a:spcBef>
              <a:spcAft>
                <a:spcPts val="200"/>
              </a:spcAft>
              <a:buNone/>
            </a:pPr>
            <a:r>
              <a:rPr lang="en-US" sz="2200" dirty="0"/>
              <a:t>for </a:t>
            </a:r>
            <a:r>
              <a:rPr lang="en-US" sz="2200" dirty="0" err="1"/>
              <a:t>i</a:t>
            </a:r>
            <a:r>
              <a:rPr lang="en-US" sz="2200" dirty="0"/>
              <a:t> in range(1, 10, 2):</a:t>
            </a:r>
          </a:p>
          <a:p>
            <a:pPr marL="457200" lvl="1" indent="0">
              <a:lnSpc>
                <a:spcPct val="100000"/>
              </a:lnSpc>
              <a:spcBef>
                <a:spcPts val="200"/>
              </a:spcBef>
              <a:spcAft>
                <a:spcPts val="200"/>
              </a:spcAft>
              <a:buNone/>
            </a:pPr>
            <a:r>
              <a:rPr lang="en-US" sz="2200" dirty="0"/>
              <a:t>    print(</a:t>
            </a:r>
            <a:r>
              <a:rPr lang="en-US" sz="2200" dirty="0" err="1"/>
              <a:t>i</a:t>
            </a:r>
            <a:r>
              <a:rPr lang="en-US" sz="2200" dirty="0"/>
              <a:t>)</a:t>
            </a:r>
          </a:p>
        </p:txBody>
      </p:sp>
      <p:sp>
        <p:nvSpPr>
          <p:cNvPr id="2" name="Content Placeholder 1">
            <a:extLst>
              <a:ext uri="{FF2B5EF4-FFF2-40B4-BE49-F238E27FC236}">
                <a16:creationId xmlns:a16="http://schemas.microsoft.com/office/drawing/2014/main" id="{6D1EF2E9-64E2-6F53-D8F5-023E167E72D0}"/>
              </a:ext>
            </a:extLst>
          </p:cNvPr>
          <p:cNvSpPr>
            <a:spLocks noGrp="1"/>
          </p:cNvSpPr>
          <p:nvPr>
            <p:ph sz="half" idx="2"/>
          </p:nvPr>
        </p:nvSpPr>
        <p:spPr>
          <a:xfrm>
            <a:off x="6735650" y="1659835"/>
            <a:ext cx="5340917" cy="4399442"/>
          </a:xfrm>
        </p:spPr>
        <p:txBody>
          <a:bodyPr lIns="0" tIns="0" rIns="0" bIns="0"/>
          <a:lstStyle/>
          <a:p>
            <a:pPr marL="0" indent="0">
              <a:buNone/>
            </a:pPr>
            <a:r>
              <a:rPr lang="en-IN" sz="2200" b="1" dirty="0">
                <a:solidFill>
                  <a:schemeClr val="tx1"/>
                </a:solidFill>
              </a:rPr>
              <a:t>Loop Control Statements</a:t>
            </a:r>
          </a:p>
          <a:p>
            <a:pPr marL="457200" lvl="1" indent="0">
              <a:buNone/>
            </a:pPr>
            <a:r>
              <a:rPr lang="en-US" sz="2200" dirty="0"/>
              <a:t>for </a:t>
            </a:r>
            <a:r>
              <a:rPr lang="en-US" sz="2200" dirty="0" err="1"/>
              <a:t>i</a:t>
            </a:r>
            <a:r>
              <a:rPr lang="en-US" sz="2200" dirty="0"/>
              <a:t> in range(3):</a:t>
            </a:r>
          </a:p>
          <a:p>
            <a:pPr marL="457200" lvl="1" indent="0">
              <a:buNone/>
            </a:pPr>
            <a:r>
              <a:rPr lang="en-US" sz="2200" dirty="0"/>
              <a:t>    for j in range(3):</a:t>
            </a:r>
          </a:p>
          <a:p>
            <a:pPr marL="457200" lvl="1" indent="0">
              <a:buNone/>
            </a:pPr>
            <a:r>
              <a:rPr lang="en-US" sz="2200" dirty="0"/>
              <a:t>        print(</a:t>
            </a:r>
            <a:r>
              <a:rPr lang="en-US" sz="2200" dirty="0" err="1"/>
              <a:t>i</a:t>
            </a:r>
            <a:r>
              <a:rPr lang="en-US" sz="2200" dirty="0"/>
              <a:t>, j)</a:t>
            </a:r>
          </a:p>
        </p:txBody>
      </p:sp>
      <p:sp>
        <p:nvSpPr>
          <p:cNvPr id="5" name="Content Placeholder 2">
            <a:extLst>
              <a:ext uri="{FF2B5EF4-FFF2-40B4-BE49-F238E27FC236}">
                <a16:creationId xmlns:a16="http://schemas.microsoft.com/office/drawing/2014/main" id="{41EDF24A-9391-612D-04FF-84E6D15575DC}"/>
              </a:ext>
            </a:extLst>
          </p:cNvPr>
          <p:cNvSpPr txBox="1">
            <a:spLocks/>
          </p:cNvSpPr>
          <p:nvPr/>
        </p:nvSpPr>
        <p:spPr>
          <a:xfrm>
            <a:off x="678880" y="1659835"/>
            <a:ext cx="5340917" cy="445692"/>
          </a:xfrm>
          <a:prstGeom prst="rect">
            <a:avLst/>
          </a:prstGeom>
        </p:spPr>
        <p:txBody>
          <a:bodyPr vert="horz" lIns="0" tIns="0" rIns="0" bIns="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200"/>
              </a:spcBef>
              <a:spcAft>
                <a:spcPts val="200"/>
              </a:spcAft>
              <a:buFont typeface="Arial" panose="020B0604020202020204" pitchFamily="34" charset="0"/>
              <a:buNone/>
            </a:pPr>
            <a:r>
              <a:rPr lang="en-US" sz="2200" b="1" dirty="0">
                <a:solidFill>
                  <a:schemeClr val="tx1"/>
                </a:solidFill>
              </a:rPr>
              <a:t>Loop Control Statements</a:t>
            </a:r>
            <a:endParaRPr lang="en-US" sz="2100" dirty="0"/>
          </a:p>
        </p:txBody>
      </p:sp>
    </p:spTree>
    <p:extLst>
      <p:ext uri="{BB962C8B-B14F-4D97-AF65-F5344CB8AC3E}">
        <p14:creationId xmlns:p14="http://schemas.microsoft.com/office/powerpoint/2010/main" val="1327033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Calibri"/>
                <a:cs typeface="Calibri"/>
              </a:rPr>
              <a:t>Practical Exercise: Loops</a:t>
            </a:r>
            <a:endParaRPr lang="en-US" dirty="0">
              <a:cs typeface="Calibri"/>
            </a:endParaRPr>
          </a:p>
        </p:txBody>
      </p:sp>
      <p:sp>
        <p:nvSpPr>
          <p:cNvPr id="9" name="Content Placeholder 8">
            <a:extLst>
              <a:ext uri="{FF2B5EF4-FFF2-40B4-BE49-F238E27FC236}">
                <a16:creationId xmlns:a16="http://schemas.microsoft.com/office/drawing/2014/main" id="{33844109-7AFC-B3AE-B6E1-229F52AC60CD}"/>
              </a:ext>
            </a:extLst>
          </p:cNvPr>
          <p:cNvSpPr>
            <a:spLocks noGrp="1"/>
          </p:cNvSpPr>
          <p:nvPr>
            <p:ph sz="half" idx="1"/>
          </p:nvPr>
        </p:nvSpPr>
        <p:spPr>
          <a:xfrm>
            <a:off x="678881" y="1659835"/>
            <a:ext cx="10825009" cy="4399442"/>
          </a:xfrm>
        </p:spPr>
        <p:txBody>
          <a:bodyPr vert="horz" lIns="91440" tIns="45720" rIns="91440" bIns="45720" rtlCol="0" anchor="t">
            <a:normAutofit lnSpcReduction="10000"/>
          </a:bodyPr>
          <a:lstStyle/>
          <a:p>
            <a:pPr marL="0" indent="0">
              <a:buNone/>
            </a:pPr>
            <a:r>
              <a:rPr lang="en-US" sz="2200" b="1" dirty="0">
                <a:latin typeface="Calibri"/>
                <a:cs typeface="Calibri"/>
              </a:rPr>
              <a:t>Question 1: Monthly Savings with Interest (Using a For Loop)</a:t>
            </a:r>
            <a:endParaRPr lang="en-US" sz="2200" dirty="0">
              <a:latin typeface="Calibri"/>
              <a:cs typeface="Calibri"/>
            </a:endParaRPr>
          </a:p>
          <a:p>
            <a:r>
              <a:rPr lang="en-US" sz="2200" dirty="0">
                <a:latin typeface="Calibri"/>
                <a:cs typeface="Calibri"/>
              </a:rPr>
              <a:t>Write a Python program that calculates the total savings after a certain number of months, considering a fixed monthly deposit and an annual interest rate. The user inputs the monthly deposit amount, annual interest rate, and the number of months. Use a for loop to update the savings each month with interest.</a:t>
            </a:r>
          </a:p>
          <a:p>
            <a:endParaRPr lang="en-US" sz="2200" dirty="0">
              <a:latin typeface="Calibri"/>
              <a:cs typeface="Calibri"/>
            </a:endParaRPr>
          </a:p>
          <a:p>
            <a:pPr marL="0" indent="0">
              <a:buNone/>
            </a:pPr>
            <a:r>
              <a:rPr lang="en-US" sz="2200" b="1" dirty="0">
                <a:latin typeface="Calibri"/>
                <a:cs typeface="Calibri"/>
              </a:rPr>
              <a:t>Question 2: Debt Repayment Plan (Using a While Loop)</a:t>
            </a:r>
            <a:endParaRPr lang="en-US" sz="2200" dirty="0">
              <a:latin typeface="Calibri"/>
              <a:cs typeface="Calibri"/>
            </a:endParaRPr>
          </a:p>
          <a:p>
            <a:r>
              <a:rPr lang="en-US" sz="2200" dirty="0">
                <a:latin typeface="Calibri"/>
                <a:cs typeface="Calibri"/>
              </a:rPr>
              <a:t>Create a Python program to simulate a debt repayment plan. The user inputs the initial debt amount, monthly payment, and annual interest rate. The program should use a while loop to calculate and display the number of months it takes to pay off the debt completely. Include interest accumulation in each iteration.</a:t>
            </a:r>
            <a:br>
              <a:rPr lang="en-US" sz="2200" dirty="0">
                <a:latin typeface="Calibri"/>
                <a:cs typeface="Calibri"/>
              </a:rPr>
            </a:br>
            <a:endParaRPr lang="en-US" sz="2200">
              <a:latin typeface="Calibri"/>
              <a:cs typeface="Calibri"/>
            </a:endParaRPr>
          </a:p>
          <a:p>
            <a:pPr marL="0" indent="0">
              <a:buNone/>
            </a:pPr>
            <a:r>
              <a:rPr lang="en-US" sz="1600" b="1" dirty="0">
                <a:solidFill>
                  <a:srgbClr val="FF0000"/>
                </a:solidFill>
                <a:latin typeface="Calibri"/>
                <a:cs typeface="Calibri"/>
              </a:rPr>
              <a:t>Note: Check Footnote for answers</a:t>
            </a:r>
          </a:p>
        </p:txBody>
      </p:sp>
    </p:spTree>
    <p:extLst>
      <p:ext uri="{BB962C8B-B14F-4D97-AF65-F5344CB8AC3E}">
        <p14:creationId xmlns:p14="http://schemas.microsoft.com/office/powerpoint/2010/main" val="14500549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 Functions in Python</a:t>
            </a:r>
          </a:p>
        </p:txBody>
      </p:sp>
      <p:sp>
        <p:nvSpPr>
          <p:cNvPr id="2" name="Content Placeholder 1">
            <a:extLst>
              <a:ext uri="{FF2B5EF4-FFF2-40B4-BE49-F238E27FC236}">
                <a16:creationId xmlns:a16="http://schemas.microsoft.com/office/drawing/2014/main" id="{E7D69B0B-D6A9-6FD1-53AA-3528A0C7D4D3}"/>
              </a:ext>
            </a:extLst>
          </p:cNvPr>
          <p:cNvSpPr>
            <a:spLocks noGrp="1"/>
          </p:cNvSpPr>
          <p:nvPr>
            <p:ph idx="1"/>
          </p:nvPr>
        </p:nvSpPr>
        <p:spPr/>
        <p:txBody>
          <a:bodyPr lIns="0" tIns="0" rIns="0" bIns="0">
            <a:noAutofit/>
          </a:bodyPr>
          <a:lstStyle/>
          <a:p>
            <a:pPr marL="0" indent="0">
              <a:lnSpc>
                <a:spcPct val="100000"/>
              </a:lnSpc>
              <a:spcBef>
                <a:spcPts val="200"/>
              </a:spcBef>
              <a:spcAft>
                <a:spcPts val="200"/>
              </a:spcAft>
              <a:buNone/>
            </a:pPr>
            <a:r>
              <a:rPr lang="en-US" sz="2200" dirty="0"/>
              <a:t>Functions allow you to encapsulate a block of code that performs a specific task, giving it a name, and then reuse that code by calling the function wherever you need it. </a:t>
            </a:r>
          </a:p>
          <a:p>
            <a:pPr marL="0" indent="0">
              <a:lnSpc>
                <a:spcPct val="100000"/>
              </a:lnSpc>
              <a:spcBef>
                <a:spcPts val="200"/>
              </a:spcBef>
              <a:spcAft>
                <a:spcPts val="200"/>
              </a:spcAft>
              <a:buNone/>
            </a:pPr>
            <a:r>
              <a:rPr lang="en-US" sz="2200" b="1" dirty="0">
                <a:solidFill>
                  <a:schemeClr val="tx1"/>
                </a:solidFill>
              </a:rPr>
              <a:t>Types</a:t>
            </a:r>
          </a:p>
          <a:p>
            <a:pPr marL="457200" indent="-457200">
              <a:lnSpc>
                <a:spcPct val="100000"/>
              </a:lnSpc>
              <a:spcBef>
                <a:spcPts val="200"/>
              </a:spcBef>
              <a:spcAft>
                <a:spcPts val="200"/>
              </a:spcAft>
              <a:buFont typeface="+mj-lt"/>
              <a:buAutoNum type="arabicPeriod"/>
            </a:pPr>
            <a:r>
              <a:rPr lang="en-US" sz="2200" b="1" dirty="0">
                <a:solidFill>
                  <a:schemeClr val="tx1"/>
                </a:solidFill>
              </a:rPr>
              <a:t>Built-in Functions: </a:t>
            </a:r>
            <a:r>
              <a:rPr lang="en-US" sz="2200" dirty="0"/>
              <a:t>These are functions that are part of Python's standard library and are available for use without the need for any import statements. Examples include print(), </a:t>
            </a:r>
            <a:r>
              <a:rPr lang="en-US" sz="2200" dirty="0" err="1"/>
              <a:t>len</a:t>
            </a:r>
            <a:r>
              <a:rPr lang="en-US" sz="2200" dirty="0"/>
              <a:t>(), range(), and type().</a:t>
            </a:r>
          </a:p>
          <a:p>
            <a:pPr marL="457200" indent="-457200">
              <a:lnSpc>
                <a:spcPct val="100000"/>
              </a:lnSpc>
              <a:spcBef>
                <a:spcPts val="200"/>
              </a:spcBef>
              <a:spcAft>
                <a:spcPts val="200"/>
              </a:spcAft>
              <a:buFont typeface="+mj-lt"/>
              <a:buAutoNum type="arabicPeriod"/>
            </a:pPr>
            <a:r>
              <a:rPr lang="en-US" sz="2200" b="1" dirty="0">
                <a:solidFill>
                  <a:schemeClr val="tx1"/>
                </a:solidFill>
              </a:rPr>
              <a:t>User-Defined Functions: </a:t>
            </a:r>
            <a:r>
              <a:rPr lang="en-US" sz="2200" dirty="0"/>
              <a:t>Functions that you create yourself are known as user-defined functions. You define these functions using the def keyword, as explained in the previous response.</a:t>
            </a:r>
          </a:p>
          <a:p>
            <a:pPr marL="457200" indent="-457200">
              <a:lnSpc>
                <a:spcPct val="100000"/>
              </a:lnSpc>
              <a:spcBef>
                <a:spcPts val="200"/>
              </a:spcBef>
              <a:spcAft>
                <a:spcPts val="200"/>
              </a:spcAft>
              <a:buFont typeface="+mj-lt"/>
              <a:buAutoNum type="arabicPeriod"/>
            </a:pPr>
            <a:r>
              <a:rPr lang="en-US" sz="2200" b="1" dirty="0">
                <a:solidFill>
                  <a:schemeClr val="tx1"/>
                </a:solidFill>
              </a:rPr>
              <a:t>Anonymous Functions (Lambda Functions): </a:t>
            </a:r>
            <a:r>
              <a:rPr lang="en-US" sz="2200" dirty="0"/>
              <a:t>Lambda functions are small, unnamed functions defined using the lambda keyword. They are often used for simple operations and are typically used as arguments to higher-order functions like map(), filter(), and reduce().</a:t>
            </a:r>
          </a:p>
        </p:txBody>
      </p:sp>
    </p:spTree>
    <p:extLst>
      <p:ext uri="{BB962C8B-B14F-4D97-AF65-F5344CB8AC3E}">
        <p14:creationId xmlns:p14="http://schemas.microsoft.com/office/powerpoint/2010/main" val="31388810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8D95E-E6D5-C672-0AC6-C24131738FE1}"/>
              </a:ext>
            </a:extLst>
          </p:cNvPr>
          <p:cNvSpPr>
            <a:spLocks noGrp="1"/>
          </p:cNvSpPr>
          <p:nvPr>
            <p:ph type="title"/>
          </p:nvPr>
        </p:nvSpPr>
        <p:spPr/>
        <p:txBody>
          <a:bodyPr/>
          <a:lstStyle/>
          <a:p>
            <a:r>
              <a:rPr lang="en-IN" dirty="0"/>
              <a:t> User Defined Functions</a:t>
            </a:r>
          </a:p>
        </p:txBody>
      </p:sp>
      <p:sp>
        <p:nvSpPr>
          <p:cNvPr id="3" name="Content Placeholder 2">
            <a:extLst>
              <a:ext uri="{FF2B5EF4-FFF2-40B4-BE49-F238E27FC236}">
                <a16:creationId xmlns:a16="http://schemas.microsoft.com/office/drawing/2014/main" id="{38BBCB08-BB82-8B4C-9F0F-4E6A15895034}"/>
              </a:ext>
            </a:extLst>
          </p:cNvPr>
          <p:cNvSpPr>
            <a:spLocks noGrp="1"/>
          </p:cNvSpPr>
          <p:nvPr>
            <p:ph idx="1"/>
          </p:nvPr>
        </p:nvSpPr>
        <p:spPr/>
        <p:txBody>
          <a:bodyPr lIns="0" tIns="0" rIns="0" bIns="0">
            <a:normAutofit/>
          </a:bodyPr>
          <a:lstStyle/>
          <a:p>
            <a:pPr marL="0" indent="0">
              <a:buNone/>
            </a:pPr>
            <a:r>
              <a:rPr lang="en-US" sz="2200" dirty="0"/>
              <a:t>Example of a user-defined function that calculates the square of a number:</a:t>
            </a:r>
          </a:p>
          <a:p>
            <a:pPr marL="0" indent="0">
              <a:buNone/>
            </a:pPr>
            <a:endParaRPr lang="en-US" sz="2200" dirty="0"/>
          </a:p>
          <a:p>
            <a:pPr marL="457200" lvl="1" indent="0">
              <a:buNone/>
            </a:pPr>
            <a:r>
              <a:rPr lang="en-US" b="1" dirty="0">
                <a:solidFill>
                  <a:schemeClr val="tx1"/>
                </a:solidFill>
              </a:rPr>
              <a:t>def square(x):</a:t>
            </a:r>
          </a:p>
          <a:p>
            <a:pPr marL="457200" lvl="1" indent="0">
              <a:buNone/>
            </a:pPr>
            <a:r>
              <a:rPr lang="en-US" sz="2200" dirty="0"/>
              <a:t>    """This function calculates the square of a number."""</a:t>
            </a:r>
          </a:p>
          <a:p>
            <a:pPr marL="457200" lvl="1" indent="0">
              <a:buNone/>
            </a:pPr>
            <a:r>
              <a:rPr lang="en-US" sz="2200" dirty="0"/>
              <a:t>    result = x ** 2</a:t>
            </a:r>
          </a:p>
          <a:p>
            <a:pPr marL="457200" lvl="1" indent="0">
              <a:buNone/>
            </a:pPr>
            <a:r>
              <a:rPr lang="en-US" sz="2200" dirty="0"/>
              <a:t>    return result</a:t>
            </a:r>
          </a:p>
          <a:p>
            <a:pPr marL="457200" lvl="1" indent="0">
              <a:buNone/>
            </a:pPr>
            <a:endParaRPr lang="en-US" sz="2200" dirty="0"/>
          </a:p>
          <a:p>
            <a:pPr marL="457200" lvl="1" indent="0">
              <a:buNone/>
            </a:pPr>
            <a:r>
              <a:rPr lang="en-US" b="1" dirty="0">
                <a:solidFill>
                  <a:schemeClr val="tx1"/>
                </a:solidFill>
              </a:rPr>
              <a:t># Calling the function</a:t>
            </a:r>
          </a:p>
          <a:p>
            <a:pPr marL="457200" lvl="1" indent="0">
              <a:buNone/>
            </a:pPr>
            <a:r>
              <a:rPr lang="en-US" sz="2200" dirty="0"/>
              <a:t>result = square(5)</a:t>
            </a:r>
          </a:p>
          <a:p>
            <a:pPr marL="457200" lvl="1" indent="0">
              <a:buNone/>
            </a:pPr>
            <a:r>
              <a:rPr lang="en-US" sz="2200" dirty="0">
                <a:latin typeface="Nunito" pitchFamily="2" charset="0"/>
                <a:sym typeface="Wingdings" panose="05000000000000000000" pitchFamily="2" charset="2"/>
              </a:rPr>
              <a:t></a:t>
            </a:r>
            <a:r>
              <a:rPr lang="en-US" sz="2200" dirty="0"/>
              <a:t> print(result)  # Output: 25</a:t>
            </a:r>
          </a:p>
        </p:txBody>
      </p:sp>
    </p:spTree>
    <p:extLst>
      <p:ext uri="{BB962C8B-B14F-4D97-AF65-F5344CB8AC3E}">
        <p14:creationId xmlns:p14="http://schemas.microsoft.com/office/powerpoint/2010/main" val="26288976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8D95E-E6D5-C672-0AC6-C24131738FE1}"/>
              </a:ext>
            </a:extLst>
          </p:cNvPr>
          <p:cNvSpPr>
            <a:spLocks noGrp="1"/>
          </p:cNvSpPr>
          <p:nvPr>
            <p:ph type="title"/>
          </p:nvPr>
        </p:nvSpPr>
        <p:spPr/>
        <p:txBody>
          <a:bodyPr/>
          <a:lstStyle/>
          <a:p>
            <a:r>
              <a:rPr lang="en-IN" dirty="0">
                <a:latin typeface="Calibri"/>
                <a:cs typeface="Calibri"/>
              </a:rPr>
              <a:t>Practical Exercise: Functions</a:t>
            </a:r>
            <a:endParaRPr lang="en-US" dirty="0"/>
          </a:p>
        </p:txBody>
      </p:sp>
      <p:sp>
        <p:nvSpPr>
          <p:cNvPr id="3" name="Content Placeholder 2">
            <a:extLst>
              <a:ext uri="{FF2B5EF4-FFF2-40B4-BE49-F238E27FC236}">
                <a16:creationId xmlns:a16="http://schemas.microsoft.com/office/drawing/2014/main" id="{38BBCB08-BB82-8B4C-9F0F-4E6A15895034}"/>
              </a:ext>
            </a:extLst>
          </p:cNvPr>
          <p:cNvSpPr>
            <a:spLocks noGrp="1"/>
          </p:cNvSpPr>
          <p:nvPr>
            <p:ph idx="1"/>
          </p:nvPr>
        </p:nvSpPr>
        <p:spPr/>
        <p:txBody>
          <a:bodyPr vert="horz" lIns="0" tIns="0" rIns="0" bIns="0" rtlCol="0" anchor="t">
            <a:noAutofit/>
          </a:bodyPr>
          <a:lstStyle/>
          <a:p>
            <a:pPr>
              <a:buNone/>
            </a:pPr>
            <a:r>
              <a:rPr lang="en-US" sz="1800" b="1" dirty="0">
                <a:latin typeface="Calibri"/>
                <a:cs typeface="Calibri"/>
              </a:rPr>
              <a:t>Question 1: Loan Amortization Schedule</a:t>
            </a:r>
            <a:endParaRPr lang="en-US" sz="1800" dirty="0">
              <a:latin typeface="Calibri"/>
              <a:cs typeface="Calibri"/>
            </a:endParaRPr>
          </a:p>
          <a:p>
            <a:pPr>
              <a:buNone/>
            </a:pPr>
            <a:r>
              <a:rPr lang="en-US" sz="1800" dirty="0">
                <a:solidFill>
                  <a:srgbClr val="374151"/>
                </a:solidFill>
                <a:latin typeface="Calibri"/>
                <a:cs typeface="Calibri"/>
              </a:rPr>
              <a:t>Write a Python function that generates a loan amortization schedule. The function should take parameters such as the loan amount, annual interest rate, and loan term in years. After implementing the function, use it to calculate and print the loan amortization schedule for a $100,000 loan with a 5% annual interest rate for 15 years.</a:t>
            </a:r>
            <a:endParaRPr lang="en-US" sz="1800" dirty="0">
              <a:latin typeface="Calibri"/>
              <a:cs typeface="Calibri"/>
            </a:endParaRPr>
          </a:p>
          <a:p>
            <a:pPr>
              <a:buNone/>
            </a:pPr>
            <a:r>
              <a:rPr lang="en-US" sz="1800" b="1" dirty="0">
                <a:latin typeface="Calibri"/>
                <a:cs typeface="Calibri"/>
              </a:rPr>
              <a:t>Question 2: Investment Returns</a:t>
            </a:r>
            <a:endParaRPr lang="en-US" sz="1800" dirty="0">
              <a:latin typeface="Calibri"/>
              <a:cs typeface="Calibri"/>
            </a:endParaRPr>
          </a:p>
          <a:p>
            <a:pPr>
              <a:buNone/>
            </a:pPr>
            <a:r>
              <a:rPr lang="en-US" sz="1800" dirty="0">
                <a:solidFill>
                  <a:srgbClr val="374151"/>
                </a:solidFill>
                <a:latin typeface="Calibri"/>
                <a:cs typeface="Calibri"/>
              </a:rPr>
              <a:t>Create a Python function that calculates the future value of an investment based on the initial investment amount, annual interest rate, and investment period in years. After defining the function, apply it to find the future value of a $5,000 investment with a 4% annual interest rate over a period of 10 years.</a:t>
            </a:r>
            <a:endParaRPr lang="en-US" sz="1800" dirty="0">
              <a:latin typeface="Calibri"/>
              <a:cs typeface="Calibri"/>
            </a:endParaRPr>
          </a:p>
          <a:p>
            <a:pPr>
              <a:buNone/>
            </a:pPr>
            <a:r>
              <a:rPr lang="en-US" sz="1800" b="1" dirty="0">
                <a:latin typeface="Calibri"/>
                <a:cs typeface="Calibri"/>
              </a:rPr>
              <a:t>Question 3: Budget Analysis</a:t>
            </a:r>
            <a:endParaRPr lang="en-US" sz="1800" dirty="0">
              <a:latin typeface="Calibri"/>
              <a:cs typeface="Calibri"/>
            </a:endParaRPr>
          </a:p>
          <a:p>
            <a:pPr>
              <a:buNone/>
            </a:pPr>
            <a:r>
              <a:rPr lang="en-US" sz="1800" dirty="0">
                <a:solidFill>
                  <a:srgbClr val="374151"/>
                </a:solidFill>
                <a:latin typeface="Calibri"/>
                <a:cs typeface="Calibri"/>
              </a:rPr>
              <a:t>Write a Python function that performs budget analysis by taking the user's budget and a list of expenses. The function should calculate whether the user is within their budget and return a summary. After creating the function, use it to analyze a budget of $1,000 with expenses of $300, $400, and $200, and print the analysis result.</a:t>
            </a:r>
            <a:endParaRPr lang="en-US" sz="1800" dirty="0">
              <a:latin typeface="Calibri"/>
              <a:cs typeface="Calibri"/>
            </a:endParaRPr>
          </a:p>
          <a:p>
            <a:pPr>
              <a:buNone/>
            </a:pPr>
            <a:endParaRPr lang="en-US" sz="1800" dirty="0">
              <a:solidFill>
                <a:srgbClr val="374151"/>
              </a:solidFill>
              <a:latin typeface="Calibri"/>
              <a:cs typeface="Calibri"/>
            </a:endParaRPr>
          </a:p>
          <a:p>
            <a:pPr>
              <a:buNone/>
            </a:pPr>
            <a:r>
              <a:rPr lang="en-US" sz="1600" b="1" dirty="0">
                <a:solidFill>
                  <a:srgbClr val="FF0000"/>
                </a:solidFill>
                <a:latin typeface="Calibri"/>
                <a:cs typeface="Calibri"/>
              </a:rPr>
              <a:t>Note: Check Footnote for answers</a:t>
            </a:r>
            <a:endParaRPr lang="en-US" sz="1600" dirty="0">
              <a:solidFill>
                <a:srgbClr val="FF0000"/>
              </a:solidFill>
              <a:latin typeface="Calibri"/>
              <a:cs typeface="Calibri"/>
            </a:endParaRPr>
          </a:p>
          <a:p>
            <a:pPr marL="0" indent="0">
              <a:buNone/>
            </a:pPr>
            <a:endParaRPr lang="en-US" sz="1800" dirty="0">
              <a:solidFill>
                <a:srgbClr val="181717"/>
              </a:solidFill>
              <a:latin typeface="Calibri"/>
              <a:cs typeface="Calibri"/>
            </a:endParaRPr>
          </a:p>
        </p:txBody>
      </p:sp>
    </p:spTree>
    <p:extLst>
      <p:ext uri="{BB962C8B-B14F-4D97-AF65-F5344CB8AC3E}">
        <p14:creationId xmlns:p14="http://schemas.microsoft.com/office/powerpoint/2010/main" val="18572832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a:latin typeface="Calibri" panose="020F0502020204030204" pitchFamily="34" charset="0"/>
              </a:rPr>
              <a:t>Thank You</a:t>
            </a:r>
            <a:endParaRPr lang="en-IN" sz="6600" b="1">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Application>Microsoft Office PowerPoint</Application>
  <PresentationFormat>Widescreen</PresentationFormat>
  <Slides>37</Slides>
  <Notes>23</Notes>
  <HiddenSlides>0</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BIA Template</vt:lpstr>
      <vt:lpstr>PowerPoint Presentation</vt:lpstr>
      <vt:lpstr>Trainer Guidelines for Conducting Class</vt:lpstr>
      <vt:lpstr>Overview of Python and its applications in finance</vt:lpstr>
      <vt:lpstr>Overview of Python and its applications in finance</vt:lpstr>
      <vt:lpstr>Agenda</vt:lpstr>
      <vt:lpstr>Python</vt:lpstr>
      <vt:lpstr>Google Colab</vt:lpstr>
      <vt:lpstr>Fundamental Elements in Python</vt:lpstr>
      <vt:lpstr>Variables in Python</vt:lpstr>
      <vt:lpstr>Cont…</vt:lpstr>
      <vt:lpstr>Operators in Python</vt:lpstr>
      <vt:lpstr>Operators in Python</vt:lpstr>
      <vt:lpstr>Data Types in Python</vt:lpstr>
      <vt:lpstr>Cont…</vt:lpstr>
      <vt:lpstr>Fundamental Data Types</vt:lpstr>
      <vt:lpstr>Strings in Python</vt:lpstr>
      <vt:lpstr>Strings in Python</vt:lpstr>
      <vt:lpstr>Cont...</vt:lpstr>
      <vt:lpstr>Lists in Python</vt:lpstr>
      <vt:lpstr>Lists in Python</vt:lpstr>
      <vt:lpstr>Cont…</vt:lpstr>
      <vt:lpstr>Tuples in Python</vt:lpstr>
      <vt:lpstr>Dictionary in Python</vt:lpstr>
      <vt:lpstr>Dictionary in Python</vt:lpstr>
      <vt:lpstr>Set in Python</vt:lpstr>
      <vt:lpstr> Input Function</vt:lpstr>
      <vt:lpstr> Conditional Statements</vt:lpstr>
      <vt:lpstr> Conditional Statements</vt:lpstr>
      <vt:lpstr> Hands on Exercise:</vt:lpstr>
      <vt:lpstr> Loops in Python</vt:lpstr>
      <vt:lpstr>Cont…</vt:lpstr>
      <vt:lpstr>Cont…</vt:lpstr>
      <vt:lpstr>Practical Exercise: Loops</vt:lpstr>
      <vt:lpstr> Functions in Python</vt:lpstr>
      <vt:lpstr> User Defined Functions</vt:lpstr>
      <vt:lpstr>Practical Exercise: Functions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revision>113</cp:revision>
  <dcterms:created xsi:type="dcterms:W3CDTF">2020-12-23T13:36:00Z</dcterms:created>
  <dcterms:modified xsi:type="dcterms:W3CDTF">2025-07-23T10:50:02Z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